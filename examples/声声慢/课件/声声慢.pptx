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docProps/custom.xml" ContentType="application/vnd.openxmlformats-officedocument.custom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slides/slide15.xml" ContentType="application/vnd.openxmlformats-officedocument.presentationml.slide+xml"/>
  <Override PartName="/ppt/slideMasters/slideMaster1.xml" ContentType="application/vnd.openxmlformats-officedocument.presentationml.slideMaster+xml"/>
  <Override PartName="/ppt/slides/slide12.xml" ContentType="application/vnd.openxmlformats-officedocument.presentationml.slide+xml"/>
  <Override PartName="/ppt/slides/slide3.xml" ContentType="application/vnd.openxmlformats-officedocument.presentationml.slide+xml"/>
  <Override PartName="/ppt/slides/slide1.xml" ContentType="application/vnd.openxmlformats-officedocument.presentationml.slide+xml"/>
  <Override PartName="/ppt/slides/slide7.xml" ContentType="application/vnd.openxmlformats-officedocument.presentationml.slide+xml"/>
  <Override PartName="/ppt/viewProps.xml" ContentType="application/vnd.openxmlformats-officedocument.presentationml.viewProp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tableStyles.xml" ContentType="application/vnd.openxmlformats-officedocument.presentationml.tableStyles+xml"/>
  <Override PartName="/ppt/slides/slide2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</Types>
</file>

<file path=_rels/.rels><?xml version="1.0" encoding="UTF-8" standalone="yes"?><Relationships xmlns="http://schemas.openxmlformats.org/package/2006/relationships"><Relationship Id="rId0" Type="http://schemas.openxmlformats.org/officeDocument/2006/relationships/officeDocument" Target="ppt/presentation.xml" /><Relationship Id="rId1" Type="http://schemas.openxmlformats.org/package/2006/relationships/metadata/core-properties" Target="docProps/core.xml" /><Relationship Id="rId3" Type="http://schemas.openxmlformats.org/officeDocument/2006/relationships/custom-properties" Target="docProps/custom.xml" /><Relationship Id="rId2" Type="http://schemas.openxmlformats.org/officeDocument/2006/relationships/extended-properties" Target="docProps/app.xml" /></Relationships>
</file>

<file path=ppt/presentation.xml><?xml version="1.0" encoding="utf-8"?>
<p:presentation xmlns:p="http://schemas.openxmlformats.org/presentationml/2006/main" xmlns:a="http://schemas.openxmlformats.org/drawingml/2006/main" xmlns:r="http://schemas.openxmlformats.org/officeDocument/2006/relationships" firstSlideNum="1">
  <p:sldMasterIdLst>
    <p:sldMasterId id="2147483648" r:id="rId0"/>
  </p:sldMasterIdLst>
  <p:notesMasterIdLst>
    <p:notesMasterId r:id="rId17"/>
  </p:notesMasterIdLst>
  <p:sldIdLst>
    <p:sldId id="256" r:id="rId1"/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uri="{E76CE94A-603C-4142-B9EB-6D1370010A27}"/>
    <p:ext uri="{D31A062A-798A-4329-ABDD-BBA856620510}"/>
    <p:ext uri="{FD5EFAAD-0ECE-453E-9831-46B23BE46B34}"/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 xmlns:a="http://schemas.openxmlformats.org/drawing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7" d="100"/>
          <a:sy n="127" d="100"/>
        </p:scale>
        <p:origin x="53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5" Type="http://schemas.openxmlformats.org/officeDocument/2006/relationships/slide" Target="slides/slide15.xml" /><Relationship Id="rId0" Type="http://schemas.openxmlformats.org/officeDocument/2006/relationships/slideMaster" Target="slideMasters/slideMaster1.xml" /><Relationship Id="rId12" Type="http://schemas.openxmlformats.org/officeDocument/2006/relationships/slide" Target="slides/slide12.xml" /><Relationship Id="rId3" Type="http://schemas.openxmlformats.org/officeDocument/2006/relationships/slide" Target="slides/slide3.xml" /><Relationship Id="rId1" Type="http://schemas.openxmlformats.org/officeDocument/2006/relationships/slide" Target="slides/slide1.xml" /><Relationship Id="rId20" Type="http://schemas.openxmlformats.org/officeDocument/2006/relationships/viewProps" Target="viewProps.xml" /><Relationship Id="rId10" Type="http://schemas.openxmlformats.org/officeDocument/2006/relationships/slide" Target="slides/slide10.xml" /><Relationship Id="rId7" Type="http://schemas.openxmlformats.org/officeDocument/2006/relationships/slide" Target="slides/slide7.xml" /><Relationship Id="rId11" Type="http://schemas.openxmlformats.org/officeDocument/2006/relationships/slide" Target="slides/slide11.xml" /><Relationship Id="rId13" Type="http://schemas.openxmlformats.org/officeDocument/2006/relationships/slide" Target="slides/slide13.xml" /><Relationship Id="rId18" Type="http://schemas.openxmlformats.org/officeDocument/2006/relationships/presProps" Target="presProps.xml" /><Relationship Id="rId14" Type="http://schemas.openxmlformats.org/officeDocument/2006/relationships/slide" Target="slides/slide14.xml" /><Relationship Id="rId16" Type="http://schemas.openxmlformats.org/officeDocument/2006/relationships/slide" Target="slides/slide16.xml" /><Relationship Id="rId17" Type="http://schemas.openxmlformats.org/officeDocument/2006/relationships/notesMaster" Target="notesMasters/notesMaster1.xml" /><Relationship Id="rId19" Type="http://schemas.openxmlformats.org/officeDocument/2006/relationships/tableStyles" Target="tableStyles.xml" /><Relationship Id="rId2" Type="http://schemas.openxmlformats.org/officeDocument/2006/relationships/slide" Target="slides/slide2.xml" /><Relationship Id="rId4" Type="http://schemas.openxmlformats.org/officeDocument/2006/relationships/slide" Target="slides/slide4.xml" /><Relationship Id="rId5" Type="http://schemas.openxmlformats.org/officeDocument/2006/relationships/slide" Target="slides/slide5.xml" /><Relationship Id="rId6" Type="http://schemas.openxmlformats.org/officeDocument/2006/relationships/slide" Target="slides/slide6.xml" /><Relationship Id="rId8" Type="http://schemas.openxmlformats.org/officeDocument/2006/relationships/slide" Target="slides/slide8.xml" /><Relationship Id="rId9" Type="http://schemas.openxmlformats.org/officeDocument/2006/relationships/slide" Target="slides/slide9.xml" /></Relationships>
</file>

<file path=ppt/notesMasters/_rels/notesMaster1.xml.rels><?xml version="1.0" encoding="UTF-8" standalone="yes"?><Relationships xmlns="http://schemas.openxmlformats.org/package/2006/relationships"><Relationship Id="rId0" Type="http://schemas.openxmlformats.org/officeDocument/2006/relationships/theme" Target="../theme/theme2.xml" /></Relationships>
</file>

<file path=ppt/notesMasters/notesMaster1.xml><?xml version="1.0" encoding="utf-8"?>
<p:notesMaster xmlns:p="http://schemas.openxmlformats.org/presentationml/2006/main" xmlns:a="http://schemas.openxmlformats.org/drawing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slideLayout1.xml><?xml version="1.0" encoding="utf-8"?>
<p:sldLayout xmlns:p="http://schemas.openxmlformats.org/presentationml/2006/main" xmlns:a="http://schemas.openxmlformats.org/drawing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theme" Target="../theme/theme1.xml" /></Relationships>
</file>

<file path=ppt/slideMasters/slideMaster1.xml><?xml version="1.0" encoding="utf-8"?>
<p:sldMaster xmlns:p="http://schemas.openxmlformats.org/presentationml/2006/main" xmlns:a="http://schemas.openxmlformats.org/drawing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0"/>
  </p:sldLayoutIdLst>
  <p:hf sldNum="0" hdr="0" ftr="0" dt="0"/>
  <p:txStyles>
    <p:titleStyle>
      <a:lvl1pPr algn="ctr" defTabSz="914400" rtl="0" eaLnBrk="1" latinLnBrk="0" hangingPunct="1">
        <a:spcBef>
          <a:spcPct val="1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2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3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4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5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6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7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8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9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10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1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12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13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14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15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16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 descr="&lt;Slide style={{ background: '#F5F1E6', padding: '48px 64px', fontFamily: '宋体' }}&gt;&#13;&#10;  &lt;Box style={{ height: 560, flexDirection: 'row', alignItems: 'center' }}&gt;&#13;&#10;    &lt;Box style={{ width: 6, height: 300, background: '#B4552D' }} /&gt;&#13;&#10;    &lt;Box style={{ marginLeft: 48, flexDirection: 'column' }}&gt;&#13;&#10;      &lt;Text style={{ fontSize: 96, fontWeight: 'bold', color: '#1F3A34', lineHeight: 1.1 }}&gt;声声慢&lt;/Text&gt;&#13;&#10;      &lt;Text style={{ fontSize: 34, color: '#1F3A34', marginTop: 20 }}&gt;李清照 · 寻寻觅觅&lt;/Text&gt;&#13;&#10;      &lt;Text style={{ fontSize: 28, color: '#6B6B6B', marginTop: 32 }}&gt;一节课，学会三种看法&lt;/Text&gt;&#13;&#10;    &lt;/Box&gt;&#13;&#10;  &lt;/Box&gt;&#13;&#10;  &lt;Box style={{ height: 40, borderTop: '1px solid rgba(31,58,52,0.2)', flexDirection: 'row', justifyContent: 'space-between', alignItems: 'center', paddingTop: 8 }}&gt;&#13;&#10;    &lt;Text style={{ fontSize: 24, color: '#6B6B6B' }}&gt;统编版必修上 · 第三单元&lt;/Text&gt;&#13;&#10;    &lt;Text style={{ fontSize: 24, color: '#B4552D' }}&gt;01/16&lt;/Text&gt;&#13;&#10;  &lt;/Box&gt;&#13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5F1E6"/>
          </a:solidFill>
          <a:ln/>
        </p:spPr>
        <p:txBody>
          <a:bodyPr/>
          <a:p/>
        </p:txBody>
      </p:sp>
      <p:sp>
        <p:nvSpPr>
          <p:cNvPr id="3" name=""/>
          <p:cNvSpPr/>
          <p:nvPr/>
        </p:nvSpPr>
        <p:spPr>
          <a:xfrm rot="0" flipH="0" flipV="0">
            <a:off x="609600" y="1695450"/>
            <a:ext cx="57150" cy="2857500"/>
          </a:xfrm>
          <a:prstGeom prst="rect">
            <a:avLst/>
          </a:prstGeom>
          <a:solidFill>
            <a:srgbClr val="B4552D"/>
          </a:solidFill>
          <a:ln/>
        </p:spPr>
        <p:txBody>
          <a:bodyPr/>
          <a:p/>
        </p:txBody>
      </p:sp>
      <p:sp>
        <p:nvSpPr>
          <p:cNvPr id="4" name="" descr="{&quot;isTemplate&quot;:true,&quot;type&quot;:&quot;text&quot;}"/>
          <p:cNvSpPr txBox="1"/>
          <p:nvPr/>
        </p:nvSpPr>
        <p:spPr>
          <a:xfrm rot="0" flipH="0" flipV="0">
            <a:off x="1123950" y="1914525"/>
            <a:ext cx="2743200" cy="1209675"/>
          </a:xfrm>
          <a:prstGeom prst="rect"/>
        </p:spPr>
        <p:txBody>
          <a:bodyPr wrap="none" lIns="0" tIns="0" rIns="0" bIns="0"/>
          <a:p>
            <a:pPr>
              <a:lnSpc>
                <a:spcPct val="110000"/>
              </a:lnSpc>
            </a:pPr>
            <a:r>
              <a:rPr lang="zh-CN" sz="7200" b="1">
                <a:solidFill>
                  <a:srgbClr val="1F3A34"/>
                </a:solidFill>
                <a:latin typeface="宋体"/>
                <a:ea typeface="宋体"/>
              </a:rPr>
              <a:t>声声慢</a:t>
            </a:r>
            <a:endParaRPr/>
          </a:p>
        </p:txBody>
      </p:sp>
      <p:sp>
        <p:nvSpPr>
          <p:cNvPr id="5" name="" descr="{&quot;isTemplate&quot;:true,&quot;type&quot;:&quot;text&quot;}"/>
          <p:cNvSpPr txBox="1"/>
          <p:nvPr/>
        </p:nvSpPr>
        <p:spPr>
          <a:xfrm rot="0" flipH="0" flipV="0">
            <a:off x="1123950" y="3314700"/>
            <a:ext cx="27432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>
                <a:solidFill>
                  <a:srgbClr val="1F3A34"/>
                </a:solidFill>
                <a:latin typeface="宋体"/>
                <a:ea typeface="宋体"/>
              </a:rPr>
              <a:t>李清照</a:t>
            </a:r>
            <a:r>
              <a:rPr lang="en-US" sz="2550">
                <a:solidFill>
                  <a:srgbClr val="1F3A34"/>
                </a:solidFill>
                <a:latin typeface="宋体"/>
                <a:ea typeface="宋体"/>
              </a:rPr>
              <a:t xml:space="preserve"> · </a:t>
            </a:r>
            <a:r>
              <a:rPr lang="zh-CN" sz="2550">
                <a:solidFill>
                  <a:srgbClr val="1F3A34"/>
                </a:solidFill>
                <a:latin typeface="宋体"/>
                <a:ea typeface="宋体"/>
              </a:rPr>
              <a:t>寻寻觅觅</a:t>
            </a:r>
            <a:endParaRPr/>
          </a:p>
        </p:txBody>
      </p:sp>
      <p:sp>
        <p:nvSpPr>
          <p:cNvPr id="6" name="" descr="{&quot;isTemplate&quot;:true,&quot;type&quot;:&quot;text&quot;}"/>
          <p:cNvSpPr txBox="1"/>
          <p:nvPr/>
        </p:nvSpPr>
        <p:spPr>
          <a:xfrm rot="0" flipH="0" flipV="0">
            <a:off x="1123950" y="4010025"/>
            <a:ext cx="2743200" cy="3238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100">
                <a:solidFill>
                  <a:srgbClr val="6B6B6B"/>
                </a:solidFill>
                <a:latin typeface="宋体"/>
                <a:ea typeface="宋体"/>
              </a:rPr>
              <a:t>一节课，学会三种看法</a:t>
            </a:r>
            <a:endParaRPr/>
          </a:p>
        </p:txBody>
      </p:sp>
      <p:sp>
        <p:nvSpPr>
          <p:cNvPr id="7" name=""/>
          <p:cNvSpPr/>
          <p:nvPr/>
        </p:nvSpPr>
        <p:spPr>
          <a:xfrm rot="0" flipH="0" flipV="0">
            <a:off x="609600" y="5791200"/>
            <a:ext cx="10972800" cy="381000"/>
          </a:xfrm>
          <a:custGeom>
            <a:pathLst>
              <a:path w="1152" h="40">
                <a:moveTo>
                  <a:pt x="0" y="0"/>
                </a:moveTo>
                <a:lnTo>
                  <a:pt x="1152" y="0"/>
                </a:lnTo>
                <a:lnTo>
                  <a:pt x="1152" y="1"/>
                </a:lnTo>
                <a:lnTo>
                  <a:pt x="0" y="1"/>
                </a:lnTo>
                <a:close/>
              </a:path>
            </a:pathLst>
          </a:custGeom>
          <a:solidFill>
            <a:srgbClr val="1F3A34">
              <a:alpha val="20000"/>
            </a:srgbClr>
          </a:solidFill>
          <a:ln/>
        </p:spPr>
        <p:txBody>
          <a:bodyPr/>
          <a:p/>
        </p:txBody>
      </p:sp>
      <p:sp>
        <p:nvSpPr>
          <p:cNvPr id="8" name="" descr="{&quot;isTemplate&quot;:true,&quot;type&quot;:&quot;text&quot;}"/>
          <p:cNvSpPr txBox="1"/>
          <p:nvPr/>
        </p:nvSpPr>
        <p:spPr>
          <a:xfrm rot="0" flipH="0" flipV="0">
            <a:off x="609600" y="5886450"/>
            <a:ext cx="251460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>
                <a:solidFill>
                  <a:srgbClr val="6B6B6B"/>
                </a:solidFill>
                <a:latin typeface="宋体"/>
                <a:ea typeface="宋体"/>
              </a:rPr>
              <a:t>统编版必修上</a:t>
            </a:r>
            <a:r>
              <a:rPr lang="en-US" sz="1800">
                <a:solidFill>
                  <a:srgbClr val="6B6B6B"/>
                </a:solidFill>
                <a:latin typeface="宋体"/>
                <a:ea typeface="宋体"/>
              </a:rPr>
              <a:t xml:space="preserve"> · </a:t>
            </a:r>
            <a:r>
              <a:rPr lang="zh-CN" sz="1800">
                <a:solidFill>
                  <a:srgbClr val="6B6B6B"/>
                </a:solidFill>
                <a:latin typeface="宋体"/>
                <a:ea typeface="宋体"/>
              </a:rPr>
              <a:t>第三单元</a:t>
            </a:r>
            <a:endParaRPr/>
          </a:p>
        </p:txBody>
      </p:sp>
      <p:sp>
        <p:nvSpPr>
          <p:cNvPr id="9" name="" descr="{&quot;isTemplate&quot;:true,&quot;type&quot;:&quot;text&quot;}"/>
          <p:cNvSpPr txBox="1"/>
          <p:nvPr/>
        </p:nvSpPr>
        <p:spPr>
          <a:xfrm rot="0" flipH="0" flipV="0">
            <a:off x="10991850" y="5886450"/>
            <a:ext cx="59055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800">
                <a:solidFill>
                  <a:srgbClr val="B4552D"/>
                </a:solidFill>
                <a:latin typeface="宋体"/>
                <a:ea typeface="宋体"/>
              </a:rPr>
              <a:t>01/16</a:t>
            </a:r>
            <a:endParaRPr/>
          </a:p>
        </p:txBody>
      </p:sp>
    </p:spTree>
  </p:cSld>
</p:sld>
</file>

<file path=ppt/slides/slide2.xml><?xml version="1.0" encoding="utf-8"?>
<p:sld xmlns:p="http://schemas.openxmlformats.org/presentationml/2006/main" xmlns:a="http://schemas.openxmlformats.org/drawingml/2006/main">
  <p:cSld>
    <p:spTree>
      <p:nvGrpSpPr>
        <p:cNvPr id="131" name="" descr="&lt;Slide style={{ background: '#F5F1E6', padding: '48px 64px', fontFamily: '宋体' }}&gt;&#13;&#10;  &lt;Box style={{ flexDirection: 'row', justifyContent: 'space-between', alignItems: 'flex-end', height: 72 }}&gt;&#13;&#10;    &lt;Text style={{ fontSize: 40, fontWeight: 'bold', color: '#1F3A34', lineHeight: 1.2 }}&gt;一次广播导赏&lt;/Text&gt;&#13;&#10;    &lt;Text style={{ fontSize: 24, color: '#6B6B6B' }}&gt;环节一 · 导入&lt;/Text&gt;&#13;&#10;  &lt;/Box&gt;&#13;&#10;  &lt;Box style={{ height: 472, marginTop: 20, flexDirection: 'column' }}&gt;&#13;&#10;  &lt;Box style={{ flexDirection: 'row', height: 472 }}&gt;&#13;&#10;    &lt;Box style={{ width: 620, paddingRight: 40, flexDirection: 'column', justifyContent: 'center' }}&gt;&#13;&#10;      &lt;Text style={{ fontSize: 28, color: '#1F3A34', lineHeight: 1.8 }}&gt;学校“词的声音”栏目要做一期朗读导赏。&lt;/Text&gt;&#13;&#10;      &lt;Text style={{ fontSize: 28, color: '#1F3A34', lineHeight: 1.8, marginTop: 24 }}&gt;导赏稿不能说“这首词很悲伤”，要说清：哪一句该怎么读，为什么这么读。&lt;/Text&gt;&#13;&#10;    &lt;/Box&gt;&#13;&#10;    &lt;Box style={{ flex: 1, background: 'rgba(31,58,52,0.06)', padding: 32, flexDirection: 'column', justifyContent: 'center' }}&gt;&#13;&#10;      &lt;Text style={{ fontSize: 28, fontWeight: 'bold', color: '#1F3A34' }}&gt;导赏稿要回答三件事&lt;/Text&gt;&#13;&#10;      &lt;Text style={{ fontSize: 28, color: '#1F3A34', lineHeight: 2, marginTop: 16 }}&gt;一、它深了几层&lt;/Text&gt;&#13;&#10;      &lt;Text style={{ fontSize: 28, color: '#1F3A34', lineHeight: 2 }}&gt;二、这个词前人怎么写&lt;/Text&gt;&#13;&#10;      &lt;Text style={{ fontSize: 28, color: '#1F3A34', lineHeight: 2 }}&gt;三、有人说它不好，怎么看&lt;/Text&gt;&#13;&#10;    &lt;/Box&gt;&#13;&#10;  &lt;/Box&gt;&#13;&#10;  &lt;/Box&gt;&#13;&#10;  &lt;Box style={{ height: 40, marginTop: 12, borderTop: '1px solid rgba(31,58,52,0.2)', flexDirection: 'row', justifyContent: 'space-between', alignItems: 'center', paddingTop: 8 }}&gt;&#13;&#10;    &lt;Text style={{ fontSize: 24, color: '#6B6B6B' }}&gt;《声声慢》· 李清照&lt;/Text&gt;&#13;&#10;    &lt;Text style={{ fontSize: 24, color: '#B4552D' }}&gt;02/16&lt;/Text&gt;&#13;&#10;  &lt;/Box&gt;&#13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5F1E6"/>
          </a:solidFill>
          <a:ln/>
        </p:spPr>
        <p:txBody>
          <a:bodyPr/>
          <a:p/>
        </p:txBody>
      </p:sp>
      <p:sp>
        <p:nvSpPr>
          <p:cNvPr id="133" name="" descr="{&quot;isTemplate&quot;:true,&quot;type&quot;:&quot;text&quot;}"/>
          <p:cNvSpPr txBox="1"/>
          <p:nvPr/>
        </p:nvSpPr>
        <p:spPr>
          <a:xfrm rot="0" flipH="0" flipV="0">
            <a:off x="609600" y="590550"/>
            <a:ext cx="2286000" cy="552450"/>
          </a:xfrm>
          <a:prstGeom prst="rect"/>
        </p:spPr>
        <p:txBody>
          <a:bodyPr wrap="none" lIns="0" tIns="0" rIns="0" bIns="0"/>
          <a:p>
            <a:pPr>
              <a:lnSpc>
                <a:spcPct val="120000"/>
              </a:lnSpc>
            </a:pPr>
            <a:r>
              <a:rPr lang="zh-CN" sz="3000" b="1">
                <a:solidFill>
                  <a:srgbClr val="1F3A34"/>
                </a:solidFill>
                <a:latin typeface="宋体"/>
                <a:ea typeface="宋体"/>
              </a:rPr>
              <a:t>一次广播导赏</a:t>
            </a:r>
            <a:endParaRPr/>
          </a:p>
        </p:txBody>
      </p:sp>
      <p:sp>
        <p:nvSpPr>
          <p:cNvPr id="134" name="" descr="{&quot;isTemplate&quot;:true,&quot;type&quot;:&quot;text&quot;}"/>
          <p:cNvSpPr txBox="1"/>
          <p:nvPr/>
        </p:nvSpPr>
        <p:spPr>
          <a:xfrm rot="0" flipH="0" flipV="0">
            <a:off x="10210800" y="866775"/>
            <a:ext cx="137160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>
                <a:solidFill>
                  <a:srgbClr val="6B6B6B"/>
                </a:solidFill>
                <a:latin typeface="宋体"/>
                <a:ea typeface="宋体"/>
              </a:rPr>
              <a:t>环节一</a:t>
            </a:r>
            <a:r>
              <a:rPr lang="en-US" sz="1800">
                <a:solidFill>
                  <a:srgbClr val="6B6B6B"/>
                </a:solidFill>
                <a:latin typeface="宋体"/>
                <a:ea typeface="宋体"/>
              </a:rPr>
              <a:t xml:space="preserve"> · </a:t>
            </a:r>
            <a:r>
              <a:rPr lang="zh-CN" sz="1800">
                <a:solidFill>
                  <a:srgbClr val="6B6B6B"/>
                </a:solidFill>
                <a:latin typeface="宋体"/>
                <a:ea typeface="宋体"/>
              </a:rPr>
              <a:t>导入</a:t>
            </a:r>
            <a:endParaRPr/>
          </a:p>
        </p:txBody>
      </p:sp>
      <p:sp>
        <p:nvSpPr>
          <p:cNvPr id="135" name="" descr="{&quot;isTemplate&quot;:true,&quot;type&quot;:&quot;text&quot;}"/>
          <p:cNvSpPr txBox="1"/>
          <p:nvPr/>
        </p:nvSpPr>
        <p:spPr>
          <a:xfrm rot="0" flipH="0" flipV="0">
            <a:off x="609600" y="2600325"/>
            <a:ext cx="5524500" cy="581025"/>
          </a:xfrm>
          <a:prstGeom prst="rect"/>
        </p:spPr>
        <p:txBody>
          <a:bodyPr wrap="none" lIns="0" tIns="0" rIns="0" bIns="0"/>
          <a:p>
            <a:pPr>
              <a:lnSpc>
                <a:spcPct val="180000"/>
              </a:lnSpc>
            </a:pPr>
            <a:r>
              <a:rPr lang="zh-CN" sz="2100">
                <a:solidFill>
                  <a:srgbClr val="1F3A34"/>
                </a:solidFill>
                <a:latin typeface="宋体"/>
                <a:ea typeface="宋体"/>
              </a:rPr>
              <a:t>学校“词的声音”栏目要做一期朗读导赏。</a:t>
            </a:r>
            <a:endParaRPr/>
          </a:p>
        </p:txBody>
      </p:sp>
      <p:sp>
        <p:nvSpPr>
          <p:cNvPr id="136" name="" descr="{&quot;isTemplate&quot;:true,&quot;type&quot;:&quot;text&quot;}"/>
          <p:cNvSpPr txBox="1"/>
          <p:nvPr/>
        </p:nvSpPr>
        <p:spPr>
          <a:xfrm rot="0" flipH="0" flipV="0">
            <a:off x="609600" y="3409950"/>
            <a:ext cx="5524500" cy="11525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80000"/>
              </a:lnSpc>
            </a:pPr>
            <a:r>
              <a:rPr lang="zh-CN" sz="2100">
                <a:solidFill>
                  <a:srgbClr val="1F3A34"/>
                </a:solidFill>
                <a:latin typeface="宋体"/>
                <a:ea typeface="宋体"/>
              </a:rPr>
              <a:t>导赏稿不能说“这首词很悲伤”，要说清：哪一句该怎么读，为什么这么读。</a:t>
            </a:r>
            <a:endParaRPr/>
          </a:p>
        </p:txBody>
      </p:sp>
      <p:sp>
        <p:nvSpPr>
          <p:cNvPr id="137" name=""/>
          <p:cNvSpPr/>
          <p:nvPr/>
        </p:nvSpPr>
        <p:spPr>
          <a:xfrm rot="0" flipH="0" flipV="0">
            <a:off x="6515100" y="1333500"/>
            <a:ext cx="5067300" cy="4495800"/>
          </a:xfrm>
          <a:prstGeom prst="rect">
            <a:avLst/>
          </a:prstGeom>
          <a:solidFill>
            <a:srgbClr val="1F3A34">
              <a:alpha val="6000"/>
            </a:srgbClr>
          </a:solidFill>
          <a:ln/>
        </p:spPr>
        <p:txBody>
          <a:bodyPr/>
          <a:p/>
        </p:txBody>
      </p:sp>
      <p:sp>
        <p:nvSpPr>
          <p:cNvPr id="138" name="" descr="{&quot;isTemplate&quot;:true,&quot;type&quot;:&quot;text&quot;}"/>
          <p:cNvSpPr txBox="1"/>
          <p:nvPr/>
        </p:nvSpPr>
        <p:spPr>
          <a:xfrm rot="0" flipH="0" flipV="0">
            <a:off x="6819900" y="2371725"/>
            <a:ext cx="4457700" cy="3238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100" b="1">
                <a:solidFill>
                  <a:srgbClr val="1F3A34"/>
                </a:solidFill>
                <a:latin typeface="宋体"/>
                <a:ea typeface="宋体"/>
              </a:rPr>
              <a:t>导赏稿要回答三件事</a:t>
            </a:r>
            <a:endParaRPr/>
          </a:p>
        </p:txBody>
      </p:sp>
      <p:sp>
        <p:nvSpPr>
          <p:cNvPr id="139" name="" descr="{&quot;isTemplate&quot;:true,&quot;type&quot;:&quot;text&quot;}"/>
          <p:cNvSpPr txBox="1"/>
          <p:nvPr/>
        </p:nvSpPr>
        <p:spPr>
          <a:xfrm rot="0" flipH="0" flipV="0">
            <a:off x="6819900" y="2847975"/>
            <a:ext cx="4457700" cy="647700"/>
          </a:xfrm>
          <a:prstGeom prst="rect"/>
        </p:spPr>
        <p:txBody>
          <a:bodyPr wrap="none" lIns="0" tIns="0" rIns="0" bIns="0"/>
          <a:p>
            <a:pPr>
              <a:lnSpc>
                <a:spcPct val="200000"/>
              </a:lnSpc>
            </a:pPr>
            <a:r>
              <a:rPr lang="zh-CN" sz="2100">
                <a:solidFill>
                  <a:srgbClr val="1F3A34"/>
                </a:solidFill>
                <a:latin typeface="宋体"/>
                <a:ea typeface="宋体"/>
              </a:rPr>
              <a:t>一、它深了几层</a:t>
            </a:r>
            <a:endParaRPr/>
          </a:p>
        </p:txBody>
      </p:sp>
      <p:sp>
        <p:nvSpPr>
          <p:cNvPr id="140" name="" descr="{&quot;isTemplate&quot;:true,&quot;type&quot;:&quot;text&quot;}"/>
          <p:cNvSpPr txBox="1"/>
          <p:nvPr/>
        </p:nvSpPr>
        <p:spPr>
          <a:xfrm rot="0" flipH="0" flipV="0">
            <a:off x="6819900" y="3495675"/>
            <a:ext cx="4457700" cy="647700"/>
          </a:xfrm>
          <a:prstGeom prst="rect"/>
        </p:spPr>
        <p:txBody>
          <a:bodyPr wrap="none" lIns="0" tIns="0" rIns="0" bIns="0"/>
          <a:p>
            <a:pPr>
              <a:lnSpc>
                <a:spcPct val="200000"/>
              </a:lnSpc>
            </a:pPr>
            <a:r>
              <a:rPr lang="zh-CN" sz="2100">
                <a:solidFill>
                  <a:srgbClr val="1F3A34"/>
                </a:solidFill>
                <a:latin typeface="宋体"/>
                <a:ea typeface="宋体"/>
              </a:rPr>
              <a:t>二、这个词前人怎么写</a:t>
            </a:r>
            <a:endParaRPr/>
          </a:p>
        </p:txBody>
      </p:sp>
      <p:sp>
        <p:nvSpPr>
          <p:cNvPr id="141" name="" descr="{&quot;isTemplate&quot;:true,&quot;type&quot;:&quot;text&quot;}"/>
          <p:cNvSpPr txBox="1"/>
          <p:nvPr/>
        </p:nvSpPr>
        <p:spPr>
          <a:xfrm rot="0" flipH="0" flipV="0">
            <a:off x="6819900" y="4143375"/>
            <a:ext cx="4457700" cy="647700"/>
          </a:xfrm>
          <a:prstGeom prst="rect"/>
        </p:spPr>
        <p:txBody>
          <a:bodyPr wrap="none" lIns="0" tIns="0" rIns="0" bIns="0"/>
          <a:p>
            <a:pPr>
              <a:lnSpc>
                <a:spcPct val="200000"/>
              </a:lnSpc>
            </a:pPr>
            <a:r>
              <a:rPr lang="zh-CN" sz="2100">
                <a:solidFill>
                  <a:srgbClr val="1F3A34"/>
                </a:solidFill>
                <a:latin typeface="宋体"/>
                <a:ea typeface="宋体"/>
              </a:rPr>
              <a:t>三、有人说它不好，怎么看</a:t>
            </a:r>
            <a:endParaRPr/>
          </a:p>
        </p:txBody>
      </p:sp>
      <p:sp>
        <p:nvSpPr>
          <p:cNvPr id="142" name=""/>
          <p:cNvSpPr/>
          <p:nvPr/>
        </p:nvSpPr>
        <p:spPr>
          <a:xfrm rot="0" flipH="0" flipV="0">
            <a:off x="609600" y="5943600"/>
            <a:ext cx="10972800" cy="381000"/>
          </a:xfrm>
          <a:custGeom>
            <a:pathLst>
              <a:path w="1152" h="40">
                <a:moveTo>
                  <a:pt x="0" y="0"/>
                </a:moveTo>
                <a:lnTo>
                  <a:pt x="1152" y="0"/>
                </a:lnTo>
                <a:lnTo>
                  <a:pt x="1152" y="1"/>
                </a:lnTo>
                <a:lnTo>
                  <a:pt x="0" y="1"/>
                </a:lnTo>
                <a:close/>
              </a:path>
            </a:pathLst>
          </a:custGeom>
          <a:solidFill>
            <a:srgbClr val="1F3A34">
              <a:alpha val="20000"/>
            </a:srgbClr>
          </a:solidFill>
          <a:ln/>
        </p:spPr>
        <p:txBody>
          <a:bodyPr/>
          <a:p/>
        </p:txBody>
      </p:sp>
      <p:sp>
        <p:nvSpPr>
          <p:cNvPr id="143" name="" descr="{&quot;isTemplate&quot;:true,&quot;type&quot;:&quot;text&quot;}"/>
          <p:cNvSpPr txBox="1"/>
          <p:nvPr/>
        </p:nvSpPr>
        <p:spPr>
          <a:xfrm rot="0" flipH="0" flipV="0">
            <a:off x="609600" y="6038850"/>
            <a:ext cx="198120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>
                <a:solidFill>
                  <a:srgbClr val="6B6B6B"/>
                </a:solidFill>
                <a:latin typeface="宋体"/>
                <a:ea typeface="宋体"/>
              </a:rPr>
              <a:t>《声声慢》·</a:t>
            </a:r>
            <a:r>
              <a:rPr lang="en-US" sz="1800">
                <a:solidFill>
                  <a:srgbClr val="6B6B6B"/>
                </a:solidFill>
                <a:latin typeface="宋体"/>
                <a:ea typeface="宋体"/>
              </a:rPr>
              <a:t xml:space="preserve"> </a:t>
            </a:r>
            <a:r>
              <a:rPr lang="zh-CN" sz="1800">
                <a:solidFill>
                  <a:srgbClr val="6B6B6B"/>
                </a:solidFill>
                <a:latin typeface="宋体"/>
                <a:ea typeface="宋体"/>
              </a:rPr>
              <a:t>李清照</a:t>
            </a:r>
            <a:endParaRPr/>
          </a:p>
        </p:txBody>
      </p:sp>
      <p:sp>
        <p:nvSpPr>
          <p:cNvPr id="144" name="" descr="{&quot;isTemplate&quot;:true,&quot;type&quot;:&quot;text&quot;}"/>
          <p:cNvSpPr txBox="1"/>
          <p:nvPr/>
        </p:nvSpPr>
        <p:spPr>
          <a:xfrm rot="0" flipH="0" flipV="0">
            <a:off x="10991850" y="6038850"/>
            <a:ext cx="59055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800">
                <a:solidFill>
                  <a:srgbClr val="B4552D"/>
                </a:solidFill>
                <a:latin typeface="宋体"/>
                <a:ea typeface="宋体"/>
              </a:rPr>
              <a:t>02/16</a:t>
            </a:r>
            <a:endParaRPr/>
          </a:p>
        </p:txBody>
      </p:sp>
    </p:spTree>
  </p:cSld>
</p:sld>
</file>

<file path=ppt/slides/slide3.xml><?xml version="1.0" encoding="utf-8"?>
<p:sld xmlns:p="http://schemas.openxmlformats.org/presentationml/2006/main" xmlns:a="http://schemas.openxmlformats.org/drawingml/2006/main">
  <p:cSld>
    <p:spTree>
      <p:nvGrpSpPr>
        <p:cNvPr id="145" name="" descr="&lt;Slide style={{ background: '#F5F1E6', padding: '48px 64px', fontFamily: '宋体' }}&gt;&#13;&#10;  &lt;Box style={{ flexDirection: 'row', justifyContent: 'space-between', alignItems: 'flex-end', height: 72 }}&gt;&#13;&#10;    &lt;Text style={{ fontSize: 40, fontWeight: 'bold', color: '#1F3A34', lineHeight: 1.2 }}&gt;十四个字，好在哪&lt;/Text&gt;&#13;&#10;    &lt;Text style={{ fontSize: 24, color: '#6B6B6B' }}&gt;环节一 · 诊断&lt;/Text&gt;&#13;&#10;  &lt;/Box&gt;&#13;&#10;  &lt;Box style={{ height: 472, marginTop: 20, flexDirection: 'column' }}&gt;&#13;&#10;  &lt;Box style={{ height: 472, justifyContent: 'center', flexDirection: 'column' }}&gt;&#13;&#10;    &lt;Box style={{ padding: '32px 40px', background: 'rgba(31,58,52,0.05)' }}&gt;&#13;&#10;      &lt;Text style={{ fontSize: 34, color: '#1F3A34', lineHeight: 1.9, letterSpacing: 2 }}&gt;寻寻觅觅，冷冷清清，凄凄惨惨戚戚。&lt;/Text&gt;&#13;&#10;    &lt;/Box&gt;&#13;&#10;    &lt;Box style={{ marginTop: 32, borderLeft: '4px solid #B4552D', paddingLeft: 24 }}&gt;&#13;&#10;      &lt;Text style={{ fontSize: 28, color: '#1F3A34' }}&gt;这十四个字，好在哪？写一句你的答案。&lt;/Text&gt;&#13;&#10;      &lt;Text style={{ fontSize: 24, color: '#6B6B6B', marginTop: 12 }}&gt;答案会被原样抄在黑板上，这节课结束时再回头看。&lt;/Text&gt;&#13;&#10;    &lt;/Box&gt;&#13;&#10;  &lt;/Box&gt;&#13;&#10;  &lt;/Box&gt;&#13;&#10;  &lt;Box style={{ height: 40, marginTop: 12, borderTop: '1px solid rgba(31,58,52,0.2)', flexDirection: 'row', justifyContent: 'space-between', alignItems: 'center', paddingTop: 8 }}&gt;&#13;&#10;    &lt;Text style={{ fontSize: 24, color: '#6B6B6B' }}&gt;《声声慢》· 李清照&lt;/Text&gt;&#13;&#10;    &lt;Text style={{ fontSize: 24, color: '#B4552D' }}&gt;03/16&lt;/Text&gt;&#13;&#10;  &lt;/Box&gt;&#13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5F1E6"/>
          </a:solidFill>
          <a:ln/>
        </p:spPr>
        <p:txBody>
          <a:bodyPr/>
          <a:p/>
        </p:txBody>
      </p:sp>
      <p:sp>
        <p:nvSpPr>
          <p:cNvPr id="147" name="" descr="{&quot;isTemplate&quot;:true,&quot;type&quot;:&quot;text&quot;}"/>
          <p:cNvSpPr txBox="1"/>
          <p:nvPr/>
        </p:nvSpPr>
        <p:spPr>
          <a:xfrm rot="0" flipH="0" flipV="0">
            <a:off x="609600" y="590550"/>
            <a:ext cx="3048000" cy="552450"/>
          </a:xfrm>
          <a:prstGeom prst="rect"/>
        </p:spPr>
        <p:txBody>
          <a:bodyPr wrap="none" lIns="0" tIns="0" rIns="0" bIns="0"/>
          <a:p>
            <a:pPr>
              <a:lnSpc>
                <a:spcPct val="120000"/>
              </a:lnSpc>
            </a:pPr>
            <a:r>
              <a:rPr lang="zh-CN" sz="3000" b="1">
                <a:solidFill>
                  <a:srgbClr val="1F3A34"/>
                </a:solidFill>
                <a:latin typeface="宋体"/>
                <a:ea typeface="宋体"/>
              </a:rPr>
              <a:t>十四个字，好在哪</a:t>
            </a:r>
            <a:endParaRPr/>
          </a:p>
        </p:txBody>
      </p:sp>
      <p:sp>
        <p:nvSpPr>
          <p:cNvPr id="148" name="" descr="{&quot;isTemplate&quot;:true,&quot;type&quot;:&quot;text&quot;}"/>
          <p:cNvSpPr txBox="1"/>
          <p:nvPr/>
        </p:nvSpPr>
        <p:spPr>
          <a:xfrm rot="0" flipH="0" flipV="0">
            <a:off x="10210800" y="866775"/>
            <a:ext cx="137160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>
                <a:solidFill>
                  <a:srgbClr val="6B6B6B"/>
                </a:solidFill>
                <a:latin typeface="宋体"/>
                <a:ea typeface="宋体"/>
              </a:rPr>
              <a:t>环节一</a:t>
            </a:r>
            <a:r>
              <a:rPr lang="en-US" sz="1800">
                <a:solidFill>
                  <a:srgbClr val="6B6B6B"/>
                </a:solidFill>
                <a:latin typeface="宋体"/>
                <a:ea typeface="宋体"/>
              </a:rPr>
              <a:t xml:space="preserve"> · </a:t>
            </a:r>
            <a:r>
              <a:rPr lang="zh-CN" sz="1800">
                <a:solidFill>
                  <a:srgbClr val="6B6B6B"/>
                </a:solidFill>
                <a:latin typeface="宋体"/>
                <a:ea typeface="宋体"/>
              </a:rPr>
              <a:t>诊断</a:t>
            </a:r>
            <a:endParaRPr/>
          </a:p>
        </p:txBody>
      </p:sp>
      <p:sp>
        <p:nvSpPr>
          <p:cNvPr id="149" name=""/>
          <p:cNvSpPr/>
          <p:nvPr/>
        </p:nvSpPr>
        <p:spPr>
          <a:xfrm rot="0" flipH="0" flipV="0">
            <a:off x="609600" y="2400300"/>
            <a:ext cx="10972800" cy="1352550"/>
          </a:xfrm>
          <a:prstGeom prst="rect">
            <a:avLst/>
          </a:prstGeom>
          <a:solidFill>
            <a:srgbClr val="1F3A34">
              <a:alpha val="5000"/>
            </a:srgbClr>
          </a:solidFill>
          <a:ln/>
        </p:spPr>
        <p:txBody>
          <a:bodyPr/>
          <a:p/>
        </p:txBody>
      </p:sp>
      <p:sp>
        <p:nvSpPr>
          <p:cNvPr id="150" name="" descr="{&quot;isTemplate&quot;:true,&quot;type&quot;:&quot;text&quot;}"/>
          <p:cNvSpPr txBox="1"/>
          <p:nvPr/>
        </p:nvSpPr>
        <p:spPr>
          <a:xfrm rot="0" flipH="0" flipV="0">
            <a:off x="990600" y="2705100"/>
            <a:ext cx="10210800" cy="742950"/>
          </a:xfrm>
          <a:prstGeom prst="rect"/>
        </p:spPr>
        <p:txBody>
          <a:bodyPr wrap="none" lIns="0" tIns="0" rIns="0" bIns="0"/>
          <a:p>
            <a:pPr>
              <a:lnSpc>
                <a:spcPct val="190000"/>
              </a:lnSpc>
            </a:pPr>
            <a:r>
              <a:rPr lang="zh-CN" sz="2550" spc="150">
                <a:solidFill>
                  <a:srgbClr val="1F3A34"/>
                </a:solidFill>
                <a:latin typeface="宋体"/>
                <a:ea typeface="宋体"/>
              </a:rPr>
              <a:t>寻寻觅觅，冷冷清清，凄凄惨惨戚戚。</a:t>
            </a:r>
            <a:endParaRPr/>
          </a:p>
        </p:txBody>
      </p:sp>
      <p:sp>
        <p:nvSpPr>
          <p:cNvPr id="151" name=""/>
          <p:cNvSpPr/>
          <p:nvPr/>
        </p:nvSpPr>
        <p:spPr>
          <a:xfrm rot="0" flipH="0" flipV="0">
            <a:off x="609600" y="4057650"/>
            <a:ext cx="11010900" cy="714375"/>
          </a:xfrm>
          <a:custGeom>
            <a:pathLst>
              <a:path w="1156" h="75">
                <a:moveTo>
                  <a:pt x="0" y="0"/>
                </a:moveTo>
                <a:lnTo>
                  <a:pt x="4" y="0"/>
                </a:lnTo>
                <a:lnTo>
                  <a:pt x="4" y="75"/>
                </a:lnTo>
                <a:lnTo>
                  <a:pt x="0" y="75"/>
                </a:lnTo>
                <a:close/>
              </a:path>
            </a:pathLst>
          </a:custGeom>
          <a:solidFill>
            <a:srgbClr val="B4552D"/>
          </a:solidFill>
          <a:ln/>
        </p:spPr>
        <p:txBody>
          <a:bodyPr/>
          <a:p/>
        </p:txBody>
      </p:sp>
      <p:sp>
        <p:nvSpPr>
          <p:cNvPr id="152" name="" descr="{&quot;isTemplate&quot;:true,&quot;type&quot;:&quot;text&quot;}"/>
          <p:cNvSpPr txBox="1"/>
          <p:nvPr/>
        </p:nvSpPr>
        <p:spPr>
          <a:xfrm rot="0" flipH="0" flipV="0">
            <a:off x="876300" y="4057650"/>
            <a:ext cx="10706100" cy="3238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100">
                <a:solidFill>
                  <a:srgbClr val="1F3A34"/>
                </a:solidFill>
                <a:latin typeface="宋体"/>
                <a:ea typeface="宋体"/>
              </a:rPr>
              <a:t>这十四个字，好在哪？写一句你的答案。</a:t>
            </a:r>
            <a:endParaRPr/>
          </a:p>
        </p:txBody>
      </p:sp>
      <p:sp>
        <p:nvSpPr>
          <p:cNvPr id="153" name="" descr="{&quot;isTemplate&quot;:true,&quot;type&quot;:&quot;text&quot;}"/>
          <p:cNvSpPr txBox="1"/>
          <p:nvPr/>
        </p:nvSpPr>
        <p:spPr>
          <a:xfrm rot="0" flipH="0" flipV="0">
            <a:off x="876300" y="4495800"/>
            <a:ext cx="1070610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>
                <a:solidFill>
                  <a:srgbClr val="6B6B6B"/>
                </a:solidFill>
                <a:latin typeface="宋体"/>
                <a:ea typeface="宋体"/>
              </a:rPr>
              <a:t>答案会被原样抄在黑板上，这节课结束时再回头看。</a:t>
            </a:r>
            <a:endParaRPr/>
          </a:p>
        </p:txBody>
      </p:sp>
      <p:sp>
        <p:nvSpPr>
          <p:cNvPr id="154" name=""/>
          <p:cNvSpPr/>
          <p:nvPr/>
        </p:nvSpPr>
        <p:spPr>
          <a:xfrm rot="0" flipH="0" flipV="0">
            <a:off x="609600" y="5943600"/>
            <a:ext cx="10972800" cy="381000"/>
          </a:xfrm>
          <a:custGeom>
            <a:pathLst>
              <a:path w="1152" h="40">
                <a:moveTo>
                  <a:pt x="0" y="0"/>
                </a:moveTo>
                <a:lnTo>
                  <a:pt x="1152" y="0"/>
                </a:lnTo>
                <a:lnTo>
                  <a:pt x="1152" y="1"/>
                </a:lnTo>
                <a:lnTo>
                  <a:pt x="0" y="1"/>
                </a:lnTo>
                <a:close/>
              </a:path>
            </a:pathLst>
          </a:custGeom>
          <a:solidFill>
            <a:srgbClr val="1F3A34">
              <a:alpha val="20000"/>
            </a:srgbClr>
          </a:solidFill>
          <a:ln/>
        </p:spPr>
        <p:txBody>
          <a:bodyPr/>
          <a:p/>
        </p:txBody>
      </p:sp>
      <p:sp>
        <p:nvSpPr>
          <p:cNvPr id="155" name="" descr="{&quot;isTemplate&quot;:true,&quot;type&quot;:&quot;text&quot;}"/>
          <p:cNvSpPr txBox="1"/>
          <p:nvPr/>
        </p:nvSpPr>
        <p:spPr>
          <a:xfrm rot="0" flipH="0" flipV="0">
            <a:off x="609600" y="6038850"/>
            <a:ext cx="198120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>
                <a:solidFill>
                  <a:srgbClr val="6B6B6B"/>
                </a:solidFill>
                <a:latin typeface="宋体"/>
                <a:ea typeface="宋体"/>
              </a:rPr>
              <a:t>《声声慢》·</a:t>
            </a:r>
            <a:r>
              <a:rPr lang="en-US" sz="1800">
                <a:solidFill>
                  <a:srgbClr val="6B6B6B"/>
                </a:solidFill>
                <a:latin typeface="宋体"/>
                <a:ea typeface="宋体"/>
              </a:rPr>
              <a:t xml:space="preserve"> </a:t>
            </a:r>
            <a:r>
              <a:rPr lang="zh-CN" sz="1800">
                <a:solidFill>
                  <a:srgbClr val="6B6B6B"/>
                </a:solidFill>
                <a:latin typeface="宋体"/>
                <a:ea typeface="宋体"/>
              </a:rPr>
              <a:t>李清照</a:t>
            </a:r>
            <a:endParaRPr/>
          </a:p>
        </p:txBody>
      </p:sp>
      <p:sp>
        <p:nvSpPr>
          <p:cNvPr id="156" name="" descr="{&quot;isTemplate&quot;:true,&quot;type&quot;:&quot;text&quot;}"/>
          <p:cNvSpPr txBox="1"/>
          <p:nvPr/>
        </p:nvSpPr>
        <p:spPr>
          <a:xfrm rot="0" flipH="0" flipV="0">
            <a:off x="10991850" y="6038850"/>
            <a:ext cx="59055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800">
                <a:solidFill>
                  <a:srgbClr val="B4552D"/>
                </a:solidFill>
                <a:latin typeface="宋体"/>
                <a:ea typeface="宋体"/>
              </a:rPr>
              <a:t>03/16</a:t>
            </a:r>
            <a:endParaRPr/>
          </a:p>
        </p:txBody>
      </p:sp>
    </p:spTree>
  </p:cSld>
</p:sld>
</file>

<file path=ppt/slides/slide4.xml><?xml version="1.0" encoding="utf-8"?>
<p:sld xmlns:p="http://schemas.openxmlformats.org/presentationml/2006/main" xmlns:a="http://schemas.openxmlformats.org/drawingml/2006/main">
  <p:cSld>
    <p:spTree>
      <p:nvGrpSpPr>
        <p:cNvPr id="157" name="" descr="&lt;Slide style={{ background: '#F5F1E6', padding: '48px 64px', fontFamily: '宋体' }}&gt;&#13;&#10;  &lt;Box style={{ flexDirection: 'row', justifyContent: 'space-between', alignItems: 'flex-end', height: 72 }}&gt;&#13;&#10;    &lt;Text style={{ fontSize: 44, fontWeight: 'bold', color: '#1F3A34', lineHeight: 1.2 }}&gt;一个“愁”字，够不够用&lt;/Text&gt;&#13;&#10;    &lt;Text style={{ fontSize: 24, color: '#6B6B6B' }}&gt;主问题&lt;/Text&gt;&#13;&#10;  &lt;/Box&gt;&#13;&#10;  &lt;Box style={{ height: 472, marginTop: 20, flexDirection: 'column' }}&gt;&#13;&#10;  &lt;Box style={{ height: 472, justifyContent: 'center', flexDirection: 'column' }}&gt;&#13;&#10;    &lt;Text style={{ fontSize: 44, fontWeight: 'bold', color: '#1F3A34', lineHeight: 1.5 }}&gt;全词只写一个“愁”，&lt;/Text&gt;&#13;&#10;    &lt;Text style={{ fontSize: 44, fontWeight: 'bold', color: '#1F3A34', lineHeight: 1.5 }}&gt;为什么结尾说“怎一个愁字了得”？&lt;/Text&gt;&#13;&#10;    &lt;Text style={{ fontSize: 24, color: '#6B6B6B', marginTop: 40 }}&gt;这个问题，全课只答一次。&lt;/Text&gt;&#13;&#10;  &lt;/Box&gt;&#13;&#10;  &lt;/Box&gt;&#13;&#10;  &lt;Box style={{ height: 40, marginTop: 12, borderTop: '1px solid rgba(31,58,52,0.2)', flexDirection: 'row', justifyContent: 'space-between', alignItems: 'center', paddingTop: 8 }}&gt;&#13;&#10;    &lt;Text style={{ fontSize: 24, color: '#6B6B6B' }}&gt;《声声慢》· 李清照&lt;/Text&gt;&#13;&#10;    &lt;Text style={{ fontSize: 24, color: '#B4552D' }}&gt;04/16&lt;/Text&gt;&#13;&#10;  &lt;/Box&gt;&#13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5F1E6"/>
          </a:solidFill>
          <a:ln/>
        </p:spPr>
        <p:txBody>
          <a:bodyPr/>
          <a:p/>
        </p:txBody>
      </p:sp>
      <p:sp>
        <p:nvSpPr>
          <p:cNvPr id="159" name="" descr="{&quot;isTemplate&quot;:true,&quot;type&quot;:&quot;text&quot;}"/>
          <p:cNvSpPr txBox="1"/>
          <p:nvPr/>
        </p:nvSpPr>
        <p:spPr>
          <a:xfrm rot="0" flipH="0" flipV="0">
            <a:off x="609600" y="533400"/>
            <a:ext cx="4191000" cy="609600"/>
          </a:xfrm>
          <a:prstGeom prst="rect"/>
        </p:spPr>
        <p:txBody>
          <a:bodyPr wrap="none" lIns="0" tIns="0" rIns="0" bIns="0"/>
          <a:p>
            <a:pPr>
              <a:lnSpc>
                <a:spcPct val="120000"/>
              </a:lnSpc>
            </a:pPr>
            <a:r>
              <a:rPr lang="zh-CN" sz="3300" b="1">
                <a:solidFill>
                  <a:srgbClr val="1F3A34"/>
                </a:solidFill>
                <a:latin typeface="宋体"/>
                <a:ea typeface="宋体"/>
              </a:rPr>
              <a:t>一个“愁”字，够不够用</a:t>
            </a:r>
            <a:endParaRPr/>
          </a:p>
        </p:txBody>
      </p:sp>
      <p:sp>
        <p:nvSpPr>
          <p:cNvPr id="160" name="" descr="{&quot;isTemplate&quot;:true,&quot;type&quot;:&quot;text&quot;}"/>
          <p:cNvSpPr txBox="1"/>
          <p:nvPr/>
        </p:nvSpPr>
        <p:spPr>
          <a:xfrm rot="0" flipH="0" flipV="0">
            <a:off x="10896600" y="866775"/>
            <a:ext cx="68580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>
                <a:solidFill>
                  <a:srgbClr val="6B6B6B"/>
                </a:solidFill>
                <a:latin typeface="宋体"/>
                <a:ea typeface="宋体"/>
              </a:rPr>
              <a:t>主问题</a:t>
            </a:r>
            <a:endParaRPr/>
          </a:p>
        </p:txBody>
      </p:sp>
      <p:sp>
        <p:nvSpPr>
          <p:cNvPr id="161" name="" descr="{&quot;isTemplate&quot;:true,&quot;type&quot;:&quot;text&quot;}"/>
          <p:cNvSpPr txBox="1"/>
          <p:nvPr/>
        </p:nvSpPr>
        <p:spPr>
          <a:xfrm rot="0" flipH="0" flipV="0">
            <a:off x="609600" y="2495550"/>
            <a:ext cx="10972800" cy="76200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3300" b="1">
                <a:solidFill>
                  <a:srgbClr val="1F3A34"/>
                </a:solidFill>
                <a:latin typeface="宋体"/>
                <a:ea typeface="宋体"/>
              </a:rPr>
              <a:t>全词只写一个“愁”，</a:t>
            </a:r>
            <a:endParaRPr/>
          </a:p>
        </p:txBody>
      </p:sp>
      <p:sp>
        <p:nvSpPr>
          <p:cNvPr id="162" name="" descr="{&quot;isTemplate&quot;:true,&quot;type&quot;:&quot;text&quot;}"/>
          <p:cNvSpPr txBox="1"/>
          <p:nvPr/>
        </p:nvSpPr>
        <p:spPr>
          <a:xfrm rot="0" flipH="0" flipV="0">
            <a:off x="609600" y="3257550"/>
            <a:ext cx="10972800" cy="76200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3300" b="1">
                <a:solidFill>
                  <a:srgbClr val="1F3A34"/>
                </a:solidFill>
                <a:latin typeface="宋体"/>
                <a:ea typeface="宋体"/>
              </a:rPr>
              <a:t>为什么结尾说“怎一个愁字了得”？</a:t>
            </a:r>
            <a:endParaRPr/>
          </a:p>
        </p:txBody>
      </p:sp>
      <p:sp>
        <p:nvSpPr>
          <p:cNvPr id="163" name="" descr="{&quot;isTemplate&quot;:true,&quot;type&quot;:&quot;text&quot;}"/>
          <p:cNvSpPr txBox="1"/>
          <p:nvPr/>
        </p:nvSpPr>
        <p:spPr>
          <a:xfrm rot="0" flipH="0" flipV="0">
            <a:off x="609600" y="4400550"/>
            <a:ext cx="1097280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>
                <a:solidFill>
                  <a:srgbClr val="6B6B6B"/>
                </a:solidFill>
                <a:latin typeface="宋体"/>
                <a:ea typeface="宋体"/>
              </a:rPr>
              <a:t>这个问题，全课只答一次。</a:t>
            </a:r>
            <a:endParaRPr/>
          </a:p>
        </p:txBody>
      </p:sp>
      <p:sp>
        <p:nvSpPr>
          <p:cNvPr id="164" name=""/>
          <p:cNvSpPr/>
          <p:nvPr/>
        </p:nvSpPr>
        <p:spPr>
          <a:xfrm rot="0" flipH="0" flipV="0">
            <a:off x="609600" y="5943600"/>
            <a:ext cx="10972800" cy="381000"/>
          </a:xfrm>
          <a:custGeom>
            <a:pathLst>
              <a:path w="1152" h="40">
                <a:moveTo>
                  <a:pt x="0" y="0"/>
                </a:moveTo>
                <a:lnTo>
                  <a:pt x="1152" y="0"/>
                </a:lnTo>
                <a:lnTo>
                  <a:pt x="1152" y="1"/>
                </a:lnTo>
                <a:lnTo>
                  <a:pt x="0" y="1"/>
                </a:lnTo>
                <a:close/>
              </a:path>
            </a:pathLst>
          </a:custGeom>
          <a:solidFill>
            <a:srgbClr val="1F3A34">
              <a:alpha val="20000"/>
            </a:srgbClr>
          </a:solidFill>
          <a:ln/>
        </p:spPr>
        <p:txBody>
          <a:bodyPr/>
          <a:p/>
        </p:txBody>
      </p:sp>
      <p:sp>
        <p:nvSpPr>
          <p:cNvPr id="165" name="" descr="{&quot;isTemplate&quot;:true,&quot;type&quot;:&quot;text&quot;}"/>
          <p:cNvSpPr txBox="1"/>
          <p:nvPr/>
        </p:nvSpPr>
        <p:spPr>
          <a:xfrm rot="0" flipH="0" flipV="0">
            <a:off x="609600" y="6038850"/>
            <a:ext cx="198120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>
                <a:solidFill>
                  <a:srgbClr val="6B6B6B"/>
                </a:solidFill>
                <a:latin typeface="宋体"/>
                <a:ea typeface="宋体"/>
              </a:rPr>
              <a:t>《声声慢》·</a:t>
            </a:r>
            <a:r>
              <a:rPr lang="en-US" sz="1800">
                <a:solidFill>
                  <a:srgbClr val="6B6B6B"/>
                </a:solidFill>
                <a:latin typeface="宋体"/>
                <a:ea typeface="宋体"/>
              </a:rPr>
              <a:t xml:space="preserve"> </a:t>
            </a:r>
            <a:r>
              <a:rPr lang="zh-CN" sz="1800">
                <a:solidFill>
                  <a:srgbClr val="6B6B6B"/>
                </a:solidFill>
                <a:latin typeface="宋体"/>
                <a:ea typeface="宋体"/>
              </a:rPr>
              <a:t>李清照</a:t>
            </a:r>
            <a:endParaRPr/>
          </a:p>
        </p:txBody>
      </p:sp>
      <p:sp>
        <p:nvSpPr>
          <p:cNvPr id="166" name="" descr="{&quot;isTemplate&quot;:true,&quot;type&quot;:&quot;text&quot;}"/>
          <p:cNvSpPr txBox="1"/>
          <p:nvPr/>
        </p:nvSpPr>
        <p:spPr>
          <a:xfrm rot="0" flipH="0" flipV="0">
            <a:off x="10991850" y="6038850"/>
            <a:ext cx="59055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800">
                <a:solidFill>
                  <a:srgbClr val="B4552D"/>
                </a:solidFill>
                <a:latin typeface="宋体"/>
                <a:ea typeface="宋体"/>
              </a:rPr>
              <a:t>04/16</a:t>
            </a:r>
            <a:endParaRPr/>
          </a:p>
        </p:txBody>
      </p:sp>
    </p:spTree>
  </p:cSld>
</p:sld>
</file>

<file path=ppt/slides/slide5.xml><?xml version="1.0" encoding="utf-8"?>
<p:sld xmlns:p="http://schemas.openxmlformats.org/presentationml/2006/main" xmlns:a="http://schemas.openxmlformats.org/drawingml/2006/main">
  <p:cSld>
    <p:spTree>
      <p:nvGrpSpPr>
        <p:cNvPr id="167" name="" descr="&lt;Slide style={{ background: '#F5F1E6', padding: '48px 64px', fontFamily: '宋体' }}&gt;&#13;&#10;  &lt;Box style={{ flexDirection: 'row', justifyContent: 'space-between', alignItems: 'flex-end', height: 72 }}&gt;&#13;&#10;    &lt;Text style={{ fontSize: 40, fontWeight: 'bold', color: '#1F3A34', lineHeight: 1.2 }}&gt;任务一：十四字怎么走&lt;/Text&gt;&#13;&#10;    &lt;Text style={{ fontSize: 24, color: '#6B6B6B' }}&gt;环节二 · 任务一&lt;/Text&gt;&#13;&#10;  &lt;/Box&gt;&#13;&#10;  &lt;Box style={{ height: 472, marginTop: 20, flexDirection: 'column' }}&gt;&#13;&#10;  &lt;Box style={{ marginTop: 40, padding: '36px 40px', background: 'rgba(31,58,52,0.05)' }}&gt;&#13;&#10;    &lt;Text style={{ fontSize: 34, color: '#1F3A34', lineHeight: 2.1, letterSpacing: 2 }}&gt;寻寻觅觅，冷冷清清，凄凄惨惨戚戚。&lt;/Text&gt;&#13;&#10;  &lt;/Box&gt;&#13;&#10;  &lt;Box style={{ marginTop: 32 }}&gt;&#13;&#10;    &lt;Text style={{ fontSize: 28, color: '#1F3A34' }}&gt;先读一遍，数一数你在哪里停过。&lt;/Text&gt;&#13;&#10;  &lt;/Box&gt;&#13;&#10;  &lt;/Box&gt;&#13;&#10;  &lt;Box style={{ height: 40, marginTop: 12, borderTop: '1px solid rgba(31,58,52,0.2)', flexDirection: 'row', justifyContent: 'space-between', alignItems: 'center', paddingTop: 8 }}&gt;&#13;&#10;    &lt;Text style={{ fontSize: 24, color: '#6B6B6B' }}&gt;《声声慢》· 李清照&lt;/Text&gt;&#13;&#10;    &lt;Text style={{ fontSize: 24, color: '#B4552D' }}&gt;05/16&lt;/Text&gt;&#13;&#10;  &lt;/Box&gt;&#13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5F1E6"/>
          </a:solidFill>
          <a:ln/>
        </p:spPr>
        <p:txBody>
          <a:bodyPr/>
          <a:p/>
        </p:txBody>
      </p:sp>
      <p:sp>
        <p:nvSpPr>
          <p:cNvPr id="169" name="" descr="{&quot;isTemplate&quot;:true,&quot;type&quot;:&quot;text&quot;}"/>
          <p:cNvSpPr txBox="1"/>
          <p:nvPr/>
        </p:nvSpPr>
        <p:spPr>
          <a:xfrm rot="0" flipH="0" flipV="0">
            <a:off x="609600" y="590550"/>
            <a:ext cx="3810000" cy="552450"/>
          </a:xfrm>
          <a:prstGeom prst="rect"/>
        </p:spPr>
        <p:txBody>
          <a:bodyPr wrap="none" lIns="0" tIns="0" rIns="0" bIns="0"/>
          <a:p>
            <a:pPr>
              <a:lnSpc>
                <a:spcPct val="120000"/>
              </a:lnSpc>
            </a:pPr>
            <a:r>
              <a:rPr lang="zh-CN" sz="3000" b="1">
                <a:solidFill>
                  <a:srgbClr val="1F3A34"/>
                </a:solidFill>
                <a:latin typeface="宋体"/>
                <a:ea typeface="宋体"/>
              </a:rPr>
              <a:t>任务一：十四字怎么走</a:t>
            </a:r>
            <a:endParaRPr/>
          </a:p>
        </p:txBody>
      </p:sp>
      <p:sp>
        <p:nvSpPr>
          <p:cNvPr id="170" name="" descr="{&quot;isTemplate&quot;:true,&quot;type&quot;:&quot;text&quot;}"/>
          <p:cNvSpPr txBox="1"/>
          <p:nvPr/>
        </p:nvSpPr>
        <p:spPr>
          <a:xfrm rot="0" flipH="0" flipV="0">
            <a:off x="9982200" y="866775"/>
            <a:ext cx="160020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>
                <a:solidFill>
                  <a:srgbClr val="6B6B6B"/>
                </a:solidFill>
                <a:latin typeface="宋体"/>
                <a:ea typeface="宋体"/>
              </a:rPr>
              <a:t>环节二</a:t>
            </a:r>
            <a:r>
              <a:rPr lang="en-US" sz="1800">
                <a:solidFill>
                  <a:srgbClr val="6B6B6B"/>
                </a:solidFill>
                <a:latin typeface="宋体"/>
                <a:ea typeface="宋体"/>
              </a:rPr>
              <a:t xml:space="preserve"> · </a:t>
            </a:r>
            <a:r>
              <a:rPr lang="zh-CN" sz="1800">
                <a:solidFill>
                  <a:srgbClr val="6B6B6B"/>
                </a:solidFill>
                <a:latin typeface="宋体"/>
                <a:ea typeface="宋体"/>
              </a:rPr>
              <a:t>任务一</a:t>
            </a:r>
            <a:endParaRPr/>
          </a:p>
        </p:txBody>
      </p:sp>
      <p:sp>
        <p:nvSpPr>
          <p:cNvPr id="171" name=""/>
          <p:cNvSpPr/>
          <p:nvPr/>
        </p:nvSpPr>
        <p:spPr>
          <a:xfrm rot="0" flipH="0" flipV="0">
            <a:off x="609600" y="1714500"/>
            <a:ext cx="10972800" cy="1504950"/>
          </a:xfrm>
          <a:prstGeom prst="rect">
            <a:avLst/>
          </a:prstGeom>
          <a:solidFill>
            <a:srgbClr val="1F3A34">
              <a:alpha val="5000"/>
            </a:srgbClr>
          </a:solidFill>
          <a:ln/>
        </p:spPr>
        <p:txBody>
          <a:bodyPr/>
          <a:p/>
        </p:txBody>
      </p:sp>
      <p:sp>
        <p:nvSpPr>
          <p:cNvPr id="172" name="" descr="{&quot;isTemplate&quot;:true,&quot;type&quot;:&quot;text&quot;}"/>
          <p:cNvSpPr txBox="1"/>
          <p:nvPr/>
        </p:nvSpPr>
        <p:spPr>
          <a:xfrm rot="0" flipH="0" flipV="0">
            <a:off x="990600" y="2057400"/>
            <a:ext cx="10210800" cy="819150"/>
          </a:xfrm>
          <a:prstGeom prst="rect"/>
        </p:spPr>
        <p:txBody>
          <a:bodyPr wrap="none" lIns="0" tIns="0" rIns="0" bIns="0"/>
          <a:p>
            <a:pPr>
              <a:lnSpc>
                <a:spcPct val="210000"/>
              </a:lnSpc>
            </a:pPr>
            <a:r>
              <a:rPr lang="zh-CN" sz="2550" spc="150">
                <a:solidFill>
                  <a:srgbClr val="1F3A34"/>
                </a:solidFill>
                <a:latin typeface="宋体"/>
                <a:ea typeface="宋体"/>
              </a:rPr>
              <a:t>寻寻觅觅，冷冷清清，凄凄惨惨戚戚。</a:t>
            </a:r>
            <a:endParaRPr/>
          </a:p>
        </p:txBody>
      </p:sp>
      <p:sp>
        <p:nvSpPr>
          <p:cNvPr id="173" name="" descr="{&quot;isTemplate&quot;:true,&quot;type&quot;:&quot;text&quot;}"/>
          <p:cNvSpPr txBox="1"/>
          <p:nvPr/>
        </p:nvSpPr>
        <p:spPr>
          <a:xfrm rot="0" flipH="0" flipV="0">
            <a:off x="609600" y="3524250"/>
            <a:ext cx="10972800" cy="3238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100">
                <a:solidFill>
                  <a:srgbClr val="1F3A34"/>
                </a:solidFill>
                <a:latin typeface="宋体"/>
                <a:ea typeface="宋体"/>
              </a:rPr>
              <a:t>先读一遍，数一数你在哪里停过。</a:t>
            </a:r>
            <a:endParaRPr/>
          </a:p>
        </p:txBody>
      </p:sp>
      <p:sp>
        <p:nvSpPr>
          <p:cNvPr id="174" name=""/>
          <p:cNvSpPr/>
          <p:nvPr/>
        </p:nvSpPr>
        <p:spPr>
          <a:xfrm rot="0" flipH="0" flipV="0">
            <a:off x="609600" y="5943600"/>
            <a:ext cx="10972800" cy="381000"/>
          </a:xfrm>
          <a:custGeom>
            <a:pathLst>
              <a:path w="1152" h="40">
                <a:moveTo>
                  <a:pt x="0" y="0"/>
                </a:moveTo>
                <a:lnTo>
                  <a:pt x="1152" y="0"/>
                </a:lnTo>
                <a:lnTo>
                  <a:pt x="1152" y="1"/>
                </a:lnTo>
                <a:lnTo>
                  <a:pt x="0" y="1"/>
                </a:lnTo>
                <a:close/>
              </a:path>
            </a:pathLst>
          </a:custGeom>
          <a:solidFill>
            <a:srgbClr val="1F3A34">
              <a:alpha val="20000"/>
            </a:srgbClr>
          </a:solidFill>
          <a:ln/>
        </p:spPr>
        <p:txBody>
          <a:bodyPr/>
          <a:p/>
        </p:txBody>
      </p:sp>
      <p:sp>
        <p:nvSpPr>
          <p:cNvPr id="175" name="" descr="{&quot;isTemplate&quot;:true,&quot;type&quot;:&quot;text&quot;}"/>
          <p:cNvSpPr txBox="1"/>
          <p:nvPr/>
        </p:nvSpPr>
        <p:spPr>
          <a:xfrm rot="0" flipH="0" flipV="0">
            <a:off x="609600" y="6038850"/>
            <a:ext cx="198120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>
                <a:solidFill>
                  <a:srgbClr val="6B6B6B"/>
                </a:solidFill>
                <a:latin typeface="宋体"/>
                <a:ea typeface="宋体"/>
              </a:rPr>
              <a:t>《声声慢》·</a:t>
            </a:r>
            <a:r>
              <a:rPr lang="en-US" sz="1800">
                <a:solidFill>
                  <a:srgbClr val="6B6B6B"/>
                </a:solidFill>
                <a:latin typeface="宋体"/>
                <a:ea typeface="宋体"/>
              </a:rPr>
              <a:t xml:space="preserve"> </a:t>
            </a:r>
            <a:r>
              <a:rPr lang="zh-CN" sz="1800">
                <a:solidFill>
                  <a:srgbClr val="6B6B6B"/>
                </a:solidFill>
                <a:latin typeface="宋体"/>
                <a:ea typeface="宋体"/>
              </a:rPr>
              <a:t>李清照</a:t>
            </a:r>
            <a:endParaRPr/>
          </a:p>
        </p:txBody>
      </p:sp>
      <p:sp>
        <p:nvSpPr>
          <p:cNvPr id="176" name="" descr="{&quot;isTemplate&quot;:true,&quot;type&quot;:&quot;text&quot;}"/>
          <p:cNvSpPr txBox="1"/>
          <p:nvPr/>
        </p:nvSpPr>
        <p:spPr>
          <a:xfrm rot="0" flipH="0" flipV="0">
            <a:off x="10991850" y="6038850"/>
            <a:ext cx="59055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800">
                <a:solidFill>
                  <a:srgbClr val="B4552D"/>
                </a:solidFill>
                <a:latin typeface="宋体"/>
                <a:ea typeface="宋体"/>
              </a:rPr>
              <a:t>05/16</a:t>
            </a:r>
            <a:endParaRPr/>
          </a:p>
        </p:txBody>
      </p:sp>
    </p:spTree>
  </p:cSld>
</p:sld>
</file>

<file path=ppt/slides/slide6.xml><?xml version="1.0" encoding="utf-8"?>
<p:sld xmlns:p="http://schemas.openxmlformats.org/presentationml/2006/main" xmlns:a="http://schemas.openxmlformats.org/drawingml/2006/main">
  <p:cSld>
    <p:spTree>
      <p:nvGrpSpPr>
        <p:cNvPr id="177" name="" descr="&lt;Slide style={{ background: '#F5F1E6', padding: '48px 64px', fontFamily: '宋体' }}&gt;&#13;&#10;  &lt;Box style={{ flexDirection: 'row', justifyContent: 'space-between', alignItems: 'flex-end', height: 72 }}&gt;&#13;&#10;    &lt;Text style={{ fontSize: 40, fontWeight: 'bold', color: '#1F3A34', lineHeight: 1.2 }}&gt;由外，还是由内&lt;/Text&gt;&#13;&#10;    &lt;Text style={{ fontSize: 24, color: '#6B6B6B' }}&gt;环节二 · 任务一&lt;/Text&gt;&#13;&#10;  &lt;/Box&gt;&#13;&#10;  &lt;Box style={{ height: 472, marginTop: 20, flexDirection: 'column' }}&gt;&#13;&#10;  &lt;Box style={{ flexDirection: 'row', height: 472 }}&gt;&#13;&#10;    &lt;Box style={{ width: 420, paddingRight: 40, flexDirection: 'column', justifyContent: 'center' }}&gt;&#13;&#10;      &lt;Text style={{ fontSize: 28, color: '#1F3A34', lineHeight: 1.9 }}&gt;这十四个字，是从&lt;/Text&gt;&#13;&#10;      &lt;Text style={{ fontSize: 28, fontWeight: 'bold', color: '#B4552D', lineHeight: 1.9 }}&gt;外面&lt;/Text&gt;&#13;&#10;      &lt;Text style={{ fontSize: 28, color: '#1F3A34', lineHeight: 1.9 }}&gt;走到了&lt;/Text&gt;&#13;&#10;      &lt;Text style={{ fontSize: 28, fontWeight: 'bold', color: '#B4552D', lineHeight: 1.9 }}&gt;心里&lt;/Text&gt;&#13;&#10;      &lt;Text style={{ fontSize: 28, color: '#1F3A34', lineHeight: 1.9 }}&gt;吗？在哪一个字上拐的弯？&lt;/Text&gt;&#13;&#10;    &lt;/Box&gt;&#13;&#10;    &lt;Box style={{ flex: 1, flexDirection: 'column', justifyContent: 'center' }}&gt;&#13;&#10;      &lt;Box style={{ flexDirection: 'row', gap: 10 }}&gt;&#13;&#10;        &lt;Box style={{ width: 58, height: 150, border: '1px solid rgba(31,58,52,0.35)', alignItems: 'center', justifyContent: 'flex-start', paddingTop: 12 }}&gt;&#13;&#10;          &lt;Text style={{ fontSize: 28, color: '#1F3A34' }}&gt;寻&lt;/Text&gt;&#13;&#10;        &lt;/Box&gt;&lt;Box style={{ width: 58, height: 150, border: '1px solid rgba(31,58,52,0.35)', alignItems: 'center', justifyContent: 'flex-start', paddingTop: 12 }}&gt;&#13;&#10;          &lt;Text style={{ fontSize: 28, color: '#1F3A34' }}&gt;寻&lt;/Text&gt;&#13;&#10;        &lt;/Box&gt;&lt;Box style={{ width: 58, height: 150, border: '1px solid rgba(31,58,52,0.35)', alignItems: 'center', justifyContent: 'flex-start', paddingTop: 12 }}&gt;&#13;&#10;          &lt;Text style={{ fontSize: 28, color: '#1F3A34' }}&gt;觅&lt;/Text&gt;&#13;&#10;        &lt;/Box&gt;&lt;Box style={{ width: 58, height: 150, border: '1px solid rgba(31,58,52,0.35)', alignItems: 'center', justifyContent: 'flex-start', paddingTop: 12 }}&gt;&#13;&#10;          &lt;Text style={{ fontSize: 28, color: '#1F3A34' }}&gt;觅&lt;/Text&gt;&#13;&#10;        &lt;/Box&gt;&lt;Box style={{ width: 58, height: 150, border: '1px solid rgba(31,58,52,0.35)', alignItems: 'center', justifyContent: 'flex-start', paddingTop: 12 }}&gt;&#13;&#10;          &lt;Text style={{ fontSize: 28, color: '#1F3A34' }}&gt;冷&lt;/Text&gt;&#13;&#10;        &lt;/Box&gt;&lt;Box style={{ width: 58, height: 150, border: '1px solid rgba(31,58,52,0.35)', alignItems: 'center', justifyContent: 'flex-start', paddingTop: 12 }}&gt;&#13;&#10;          &lt;Text style={{ fontSize: 28, color: '#1F3A34' }}&gt;冷&lt;/Text&gt;&#13;&#10;        &lt;/Box&gt;&lt;Box style={{ width: 58, height: 150, border: '1px solid rgba(31,58,52,0.35)', alignItems: 'center', justifyContent: 'flex-start', paddingTop: 12 }}&gt;&#13;&#10;          &lt;Text style={{ fontSize: 28, color: '#1F3A34' }}&gt;清&lt;/Text&gt;&#13;&#10;        &lt;/Box&gt;&lt;Box style={{ width: 58, height: 150, border: '1px solid rgba(31,58,52,0.35)', alignItems: 'center', justifyContent: 'flex-start', paddingTop: 12 }}&gt;&#13;&#10;          &lt;Text style={{ fontSize: 28, color: '#1F3A34' }}&gt;清&lt;/Text&gt;&#13;&#10;        &lt;/Box&gt;&#13;&#10;      &lt;/Box&gt;&#13;&#10;      &lt;Box style={{ flexDirection: 'row', gap: 10, marginTop: 14 }}&gt;&#13;&#10;        &lt;Box style={{ width: 58, height: 150, border: '1px solid rgba(31,58,52,0.35)', alignItems: 'center', justifyContent: 'flex-start', paddingTop: 12 }}&gt;&#13;&#10;          &lt;Text style={{ fontSize: 28, color: '#1F3A34' }}&gt;凄&lt;/Text&gt;&#13;&#10;        &lt;/Box&gt;&lt;Box style={{ width: 58, height: 150, border: '1px solid rgba(31,58,52,0.35)', alignItems: 'center', justifyContent: 'flex-start', paddingTop: 12 }}&gt;&#13;&#10;          &lt;Text style={{ fontSize: 28, color: '#1F3A34' }}&gt;凄&lt;/Text&gt;&#13;&#10;        &lt;/Box&gt;&lt;Box style={{ width: 58, height: 150, border: '1px solid rgba(31,58,52,0.35)', alignItems: 'center', justifyContent: 'flex-start', paddingTop: 12 }}&gt;&#13;&#10;          &lt;Text style={{ fontSize: 28, color: '#1F3A34' }}&gt;惨&lt;/Text&gt;&#13;&#10;        &lt;/Box&gt;&lt;Box style={{ width: 58, height: 150, border: '1px solid rgba(31,58,52,0.35)', alignItems: 'center', justifyContent: 'flex-start', paddingTop: 12 }}&gt;&#13;&#10;          &lt;Text style={{ fontSize: 28, color: '#1F3A34' }}&gt;惨&lt;/Text&gt;&#13;&#10;        &lt;/Box&gt;&lt;Box style={{ width: 58, height: 150, border: '1px solid rgba(31,58,52,0.35)', alignItems: 'center', justifyContent: 'flex-start', paddingTop: 12 }}&gt;&#13;&#10;          &lt;Text style={{ fontSize: 28, color: '#1F3A34' }}&gt;戚&lt;/Text&gt;&#13;&#10;        &lt;/Box&gt;&lt;Box style={{ width: 58, height: 150, border: '1px solid rgba(31,58,52,0.35)', alignItems: 'center', justifyContent: 'flex-start', paddingTop: 12 }}&gt;&#13;&#10;          &lt;Text style={{ fontSize: 28, color: '#1F3A34' }}&gt;戚&lt;/Text&gt;&#13;&#10;        &lt;/Box&gt;&#13;&#10;      &lt;/Box&gt;&#13;&#10;      &lt;Text style={{ fontSize: 24, color: '#6B6B6B', marginTop: 20 }}&gt;在拐弯的那个字下面画一道线。&lt;/Text&gt;&#13;&#10;    &lt;/Box&gt;&#13;&#10;  &lt;/Box&gt;&#13;&#10;  &lt;/Box&gt;&#13;&#10;  &lt;Box style={{ height: 40, marginTop: 12, borderTop: '1px solid rgba(31,58,52,0.2)', flexDirection: 'row', justifyContent: 'space-between', alignItems: 'center', paddingTop: 8 }}&gt;&#13;&#10;    &lt;Text style={{ fontSize: 24, color: '#6B6B6B' }}&gt;《声声慢》· 李清照&lt;/Text&gt;&#13;&#10;    &lt;Text style={{ fontSize: 24, color: '#B4552D' }}&gt;06/16&lt;/Text&gt;&#13;&#10;  &lt;/Box&gt;&#13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5F1E6"/>
          </a:solidFill>
          <a:ln/>
        </p:spPr>
        <p:txBody>
          <a:bodyPr/>
          <a:p/>
        </p:txBody>
      </p:sp>
      <p:sp>
        <p:nvSpPr>
          <p:cNvPr id="179" name="" descr="{&quot;isTemplate&quot;:true,&quot;type&quot;:&quot;text&quot;}"/>
          <p:cNvSpPr txBox="1"/>
          <p:nvPr/>
        </p:nvSpPr>
        <p:spPr>
          <a:xfrm rot="0" flipH="0" flipV="0">
            <a:off x="609600" y="590550"/>
            <a:ext cx="2667000" cy="552450"/>
          </a:xfrm>
          <a:prstGeom prst="rect"/>
        </p:spPr>
        <p:txBody>
          <a:bodyPr wrap="none" lIns="0" tIns="0" rIns="0" bIns="0"/>
          <a:p>
            <a:pPr>
              <a:lnSpc>
                <a:spcPct val="120000"/>
              </a:lnSpc>
            </a:pPr>
            <a:r>
              <a:rPr lang="zh-CN" sz="3000" b="1">
                <a:solidFill>
                  <a:srgbClr val="1F3A34"/>
                </a:solidFill>
                <a:latin typeface="宋体"/>
                <a:ea typeface="宋体"/>
              </a:rPr>
              <a:t>由外，还是由内</a:t>
            </a:r>
            <a:endParaRPr/>
          </a:p>
        </p:txBody>
      </p:sp>
      <p:sp>
        <p:nvSpPr>
          <p:cNvPr id="180" name="" descr="{&quot;isTemplate&quot;:true,&quot;type&quot;:&quot;text&quot;}"/>
          <p:cNvSpPr txBox="1"/>
          <p:nvPr/>
        </p:nvSpPr>
        <p:spPr>
          <a:xfrm rot="0" flipH="0" flipV="0">
            <a:off x="9982200" y="866775"/>
            <a:ext cx="160020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>
                <a:solidFill>
                  <a:srgbClr val="6B6B6B"/>
                </a:solidFill>
                <a:latin typeface="宋体"/>
                <a:ea typeface="宋体"/>
              </a:rPr>
              <a:t>环节二</a:t>
            </a:r>
            <a:r>
              <a:rPr lang="en-US" sz="1800">
                <a:solidFill>
                  <a:srgbClr val="6B6B6B"/>
                </a:solidFill>
                <a:latin typeface="宋体"/>
                <a:ea typeface="宋体"/>
              </a:rPr>
              <a:t xml:space="preserve"> · </a:t>
            </a:r>
            <a:r>
              <a:rPr lang="zh-CN" sz="1800">
                <a:solidFill>
                  <a:srgbClr val="6B6B6B"/>
                </a:solidFill>
                <a:latin typeface="宋体"/>
                <a:ea typeface="宋体"/>
              </a:rPr>
              <a:t>任务一</a:t>
            </a:r>
            <a:endParaRPr/>
          </a:p>
        </p:txBody>
      </p:sp>
      <p:sp>
        <p:nvSpPr>
          <p:cNvPr id="181" name="" descr="{&quot;isTemplate&quot;:true,&quot;type&quot;:&quot;text&quot;}"/>
          <p:cNvSpPr txBox="1"/>
          <p:nvPr/>
        </p:nvSpPr>
        <p:spPr>
          <a:xfrm rot="0" flipH="0" flipV="0">
            <a:off x="609600" y="2057400"/>
            <a:ext cx="3619500" cy="609600"/>
          </a:xfrm>
          <a:prstGeom prst="rect"/>
        </p:spPr>
        <p:txBody>
          <a:bodyPr wrap="none" lIns="0" tIns="0" rIns="0" bIns="0"/>
          <a:p>
            <a:pPr>
              <a:lnSpc>
                <a:spcPct val="190000"/>
              </a:lnSpc>
            </a:pPr>
            <a:r>
              <a:rPr lang="zh-CN" sz="2100">
                <a:solidFill>
                  <a:srgbClr val="1F3A34"/>
                </a:solidFill>
                <a:latin typeface="宋体"/>
                <a:ea typeface="宋体"/>
              </a:rPr>
              <a:t>这十四个字，是从</a:t>
            </a:r>
            <a:endParaRPr/>
          </a:p>
        </p:txBody>
      </p:sp>
      <p:sp>
        <p:nvSpPr>
          <p:cNvPr id="182" name="" descr="{&quot;isTemplate&quot;:true,&quot;type&quot;:&quot;text&quot;}"/>
          <p:cNvSpPr txBox="1"/>
          <p:nvPr/>
        </p:nvSpPr>
        <p:spPr>
          <a:xfrm rot="0" flipH="0" flipV="0">
            <a:off x="609600" y="2667000"/>
            <a:ext cx="3619500" cy="609600"/>
          </a:xfrm>
          <a:prstGeom prst="rect"/>
        </p:spPr>
        <p:txBody>
          <a:bodyPr wrap="none" lIns="0" tIns="0" rIns="0" bIns="0"/>
          <a:p>
            <a:pPr>
              <a:lnSpc>
                <a:spcPct val="190000"/>
              </a:lnSpc>
            </a:pPr>
            <a:r>
              <a:rPr lang="zh-CN" sz="2100" b="1">
                <a:solidFill>
                  <a:srgbClr val="B4552D"/>
                </a:solidFill>
                <a:latin typeface="宋体"/>
                <a:ea typeface="宋体"/>
              </a:rPr>
              <a:t>外面</a:t>
            </a:r>
            <a:endParaRPr/>
          </a:p>
        </p:txBody>
      </p:sp>
      <p:sp>
        <p:nvSpPr>
          <p:cNvPr id="183" name="" descr="{&quot;isTemplate&quot;:true,&quot;type&quot;:&quot;text&quot;}"/>
          <p:cNvSpPr txBox="1"/>
          <p:nvPr/>
        </p:nvSpPr>
        <p:spPr>
          <a:xfrm rot="0" flipH="0" flipV="0">
            <a:off x="609600" y="3276600"/>
            <a:ext cx="3619500" cy="609600"/>
          </a:xfrm>
          <a:prstGeom prst="rect"/>
        </p:spPr>
        <p:txBody>
          <a:bodyPr wrap="none" lIns="0" tIns="0" rIns="0" bIns="0"/>
          <a:p>
            <a:pPr>
              <a:lnSpc>
                <a:spcPct val="190000"/>
              </a:lnSpc>
            </a:pPr>
            <a:r>
              <a:rPr lang="zh-CN" sz="2100">
                <a:solidFill>
                  <a:srgbClr val="1F3A34"/>
                </a:solidFill>
                <a:latin typeface="宋体"/>
                <a:ea typeface="宋体"/>
              </a:rPr>
              <a:t>走到了</a:t>
            </a:r>
            <a:endParaRPr/>
          </a:p>
        </p:txBody>
      </p:sp>
      <p:sp>
        <p:nvSpPr>
          <p:cNvPr id="184" name="" descr="{&quot;isTemplate&quot;:true,&quot;type&quot;:&quot;text&quot;}"/>
          <p:cNvSpPr txBox="1"/>
          <p:nvPr/>
        </p:nvSpPr>
        <p:spPr>
          <a:xfrm rot="0" flipH="0" flipV="0">
            <a:off x="609600" y="3886200"/>
            <a:ext cx="3619500" cy="609600"/>
          </a:xfrm>
          <a:prstGeom prst="rect"/>
        </p:spPr>
        <p:txBody>
          <a:bodyPr wrap="none" lIns="0" tIns="0" rIns="0" bIns="0"/>
          <a:p>
            <a:pPr>
              <a:lnSpc>
                <a:spcPct val="190000"/>
              </a:lnSpc>
            </a:pPr>
            <a:r>
              <a:rPr lang="zh-CN" sz="2100" b="1">
                <a:solidFill>
                  <a:srgbClr val="B4552D"/>
                </a:solidFill>
                <a:latin typeface="宋体"/>
                <a:ea typeface="宋体"/>
              </a:rPr>
              <a:t>心里</a:t>
            </a:r>
            <a:endParaRPr/>
          </a:p>
        </p:txBody>
      </p:sp>
      <p:sp>
        <p:nvSpPr>
          <p:cNvPr id="185" name="" descr="{&quot;isTemplate&quot;:true,&quot;type&quot;:&quot;text&quot;}"/>
          <p:cNvSpPr txBox="1"/>
          <p:nvPr/>
        </p:nvSpPr>
        <p:spPr>
          <a:xfrm rot="0" flipH="0" flipV="0">
            <a:off x="609600" y="4495800"/>
            <a:ext cx="3619500" cy="609600"/>
          </a:xfrm>
          <a:prstGeom prst="rect"/>
        </p:spPr>
        <p:txBody>
          <a:bodyPr wrap="none" lIns="0" tIns="0" rIns="0" bIns="0"/>
          <a:p>
            <a:pPr>
              <a:lnSpc>
                <a:spcPct val="190000"/>
              </a:lnSpc>
            </a:pPr>
            <a:r>
              <a:rPr lang="zh-CN" sz="2100">
                <a:solidFill>
                  <a:srgbClr val="1F3A34"/>
                </a:solidFill>
                <a:latin typeface="宋体"/>
                <a:ea typeface="宋体"/>
              </a:rPr>
              <a:t>吗？在哪一个字上拐的弯？</a:t>
            </a:r>
            <a:endParaRPr/>
          </a:p>
        </p:txBody>
      </p:sp>
      <p:sp>
        <p:nvSpPr>
          <p:cNvPr id="186" name=""/>
          <p:cNvSpPr/>
          <p:nvPr/>
        </p:nvSpPr>
        <p:spPr>
          <a:xfrm rot="0" flipH="0" flipV="0">
            <a:off x="4610100" y="1857375"/>
            <a:ext cx="552450" cy="1428750"/>
          </a:xfrm>
          <a:prstGeom prst="rect">
            <a:avLst/>
          </a:prstGeom>
          <a:ln w="12700">
            <a:solidFill>
              <a:srgbClr val="1F3A34">
                <a:alpha val="3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87" name="" descr="{&quot;isTemplate&quot;:true,&quot;type&quot;:&quot;text&quot;}"/>
          <p:cNvSpPr txBox="1"/>
          <p:nvPr/>
        </p:nvSpPr>
        <p:spPr>
          <a:xfrm rot="0" flipH="0" flipV="0">
            <a:off x="4752975" y="1971675"/>
            <a:ext cx="266700" cy="3238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100">
                <a:solidFill>
                  <a:srgbClr val="1F3A34"/>
                </a:solidFill>
                <a:latin typeface="宋体"/>
                <a:ea typeface="宋体"/>
              </a:rPr>
              <a:t>寻</a:t>
            </a:r>
            <a:endParaRPr/>
          </a:p>
        </p:txBody>
      </p:sp>
      <p:sp>
        <p:nvSpPr>
          <p:cNvPr id="188" name=""/>
          <p:cNvSpPr/>
          <p:nvPr/>
        </p:nvSpPr>
        <p:spPr>
          <a:xfrm rot="0" flipH="0" flipV="0">
            <a:off x="5257800" y="1857375"/>
            <a:ext cx="552450" cy="1428750"/>
          </a:xfrm>
          <a:prstGeom prst="rect">
            <a:avLst/>
          </a:prstGeom>
          <a:ln w="12700">
            <a:solidFill>
              <a:srgbClr val="1F3A34">
                <a:alpha val="3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89" name="" descr="{&quot;isTemplate&quot;:true,&quot;type&quot;:&quot;text&quot;}"/>
          <p:cNvSpPr txBox="1"/>
          <p:nvPr/>
        </p:nvSpPr>
        <p:spPr>
          <a:xfrm rot="0" flipH="0" flipV="0">
            <a:off x="5400675" y="1971675"/>
            <a:ext cx="266700" cy="3238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100">
                <a:solidFill>
                  <a:srgbClr val="1F3A34"/>
                </a:solidFill>
                <a:latin typeface="宋体"/>
                <a:ea typeface="宋体"/>
              </a:rPr>
              <a:t>寻</a:t>
            </a:r>
            <a:endParaRPr/>
          </a:p>
        </p:txBody>
      </p:sp>
      <p:sp>
        <p:nvSpPr>
          <p:cNvPr id="190" name=""/>
          <p:cNvSpPr/>
          <p:nvPr/>
        </p:nvSpPr>
        <p:spPr>
          <a:xfrm rot="0" flipH="0" flipV="0">
            <a:off x="5905500" y="1857375"/>
            <a:ext cx="552450" cy="1428750"/>
          </a:xfrm>
          <a:prstGeom prst="rect">
            <a:avLst/>
          </a:prstGeom>
          <a:ln w="12700">
            <a:solidFill>
              <a:srgbClr val="1F3A34">
                <a:alpha val="3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91" name="" descr="{&quot;isTemplate&quot;:true,&quot;type&quot;:&quot;text&quot;}"/>
          <p:cNvSpPr txBox="1"/>
          <p:nvPr/>
        </p:nvSpPr>
        <p:spPr>
          <a:xfrm rot="0" flipH="0" flipV="0">
            <a:off x="6048375" y="1971675"/>
            <a:ext cx="266700" cy="3238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100">
                <a:solidFill>
                  <a:srgbClr val="1F3A34"/>
                </a:solidFill>
                <a:latin typeface="宋体"/>
                <a:ea typeface="宋体"/>
              </a:rPr>
              <a:t>觅</a:t>
            </a:r>
            <a:endParaRPr/>
          </a:p>
        </p:txBody>
      </p:sp>
      <p:sp>
        <p:nvSpPr>
          <p:cNvPr id="192" name=""/>
          <p:cNvSpPr/>
          <p:nvPr/>
        </p:nvSpPr>
        <p:spPr>
          <a:xfrm rot="0" flipH="0" flipV="0">
            <a:off x="6553200" y="1857375"/>
            <a:ext cx="552450" cy="1428750"/>
          </a:xfrm>
          <a:prstGeom prst="rect">
            <a:avLst/>
          </a:prstGeom>
          <a:ln w="12700">
            <a:solidFill>
              <a:srgbClr val="1F3A34">
                <a:alpha val="3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93" name="" descr="{&quot;isTemplate&quot;:true,&quot;type&quot;:&quot;text&quot;}"/>
          <p:cNvSpPr txBox="1"/>
          <p:nvPr/>
        </p:nvSpPr>
        <p:spPr>
          <a:xfrm rot="0" flipH="0" flipV="0">
            <a:off x="6696075" y="1971675"/>
            <a:ext cx="266700" cy="3238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100">
                <a:solidFill>
                  <a:srgbClr val="1F3A34"/>
                </a:solidFill>
                <a:latin typeface="宋体"/>
                <a:ea typeface="宋体"/>
              </a:rPr>
              <a:t>觅</a:t>
            </a:r>
            <a:endParaRPr/>
          </a:p>
        </p:txBody>
      </p:sp>
      <p:sp>
        <p:nvSpPr>
          <p:cNvPr id="194" name=""/>
          <p:cNvSpPr/>
          <p:nvPr/>
        </p:nvSpPr>
        <p:spPr>
          <a:xfrm rot="0" flipH="0" flipV="0">
            <a:off x="7200900" y="1857375"/>
            <a:ext cx="552450" cy="1428750"/>
          </a:xfrm>
          <a:prstGeom prst="rect">
            <a:avLst/>
          </a:prstGeom>
          <a:ln w="12700">
            <a:solidFill>
              <a:srgbClr val="1F3A34">
                <a:alpha val="3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95" name="" descr="{&quot;isTemplate&quot;:true,&quot;type&quot;:&quot;text&quot;}"/>
          <p:cNvSpPr txBox="1"/>
          <p:nvPr/>
        </p:nvSpPr>
        <p:spPr>
          <a:xfrm rot="0" flipH="0" flipV="0">
            <a:off x="7343775" y="1971675"/>
            <a:ext cx="266700" cy="3238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100">
                <a:solidFill>
                  <a:srgbClr val="1F3A34"/>
                </a:solidFill>
                <a:latin typeface="宋体"/>
                <a:ea typeface="宋体"/>
              </a:rPr>
              <a:t>冷</a:t>
            </a:r>
            <a:endParaRPr/>
          </a:p>
        </p:txBody>
      </p:sp>
      <p:sp>
        <p:nvSpPr>
          <p:cNvPr id="196" name=""/>
          <p:cNvSpPr/>
          <p:nvPr/>
        </p:nvSpPr>
        <p:spPr>
          <a:xfrm rot="0" flipH="0" flipV="0">
            <a:off x="7848600" y="1857375"/>
            <a:ext cx="552450" cy="1428750"/>
          </a:xfrm>
          <a:prstGeom prst="rect">
            <a:avLst/>
          </a:prstGeom>
          <a:ln w="12700">
            <a:solidFill>
              <a:srgbClr val="1F3A34">
                <a:alpha val="3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97" name="" descr="{&quot;isTemplate&quot;:true,&quot;type&quot;:&quot;text&quot;}"/>
          <p:cNvSpPr txBox="1"/>
          <p:nvPr/>
        </p:nvSpPr>
        <p:spPr>
          <a:xfrm rot="0" flipH="0" flipV="0">
            <a:off x="7991475" y="1971675"/>
            <a:ext cx="266700" cy="3238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100">
                <a:solidFill>
                  <a:srgbClr val="1F3A34"/>
                </a:solidFill>
                <a:latin typeface="宋体"/>
                <a:ea typeface="宋体"/>
              </a:rPr>
              <a:t>冷</a:t>
            </a:r>
            <a:endParaRPr/>
          </a:p>
        </p:txBody>
      </p:sp>
      <p:sp>
        <p:nvSpPr>
          <p:cNvPr id="198" name=""/>
          <p:cNvSpPr/>
          <p:nvPr/>
        </p:nvSpPr>
        <p:spPr>
          <a:xfrm rot="0" flipH="0" flipV="0">
            <a:off x="8496300" y="1857375"/>
            <a:ext cx="552450" cy="1428750"/>
          </a:xfrm>
          <a:prstGeom prst="rect">
            <a:avLst/>
          </a:prstGeom>
          <a:ln w="12700">
            <a:solidFill>
              <a:srgbClr val="1F3A34">
                <a:alpha val="3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99" name="" descr="{&quot;isTemplate&quot;:true,&quot;type&quot;:&quot;text&quot;}"/>
          <p:cNvSpPr txBox="1"/>
          <p:nvPr/>
        </p:nvSpPr>
        <p:spPr>
          <a:xfrm rot="0" flipH="0" flipV="0">
            <a:off x="8639175" y="1971675"/>
            <a:ext cx="266700" cy="3238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100">
                <a:solidFill>
                  <a:srgbClr val="1F3A34"/>
                </a:solidFill>
                <a:latin typeface="宋体"/>
                <a:ea typeface="宋体"/>
              </a:rPr>
              <a:t>清</a:t>
            </a:r>
            <a:endParaRPr/>
          </a:p>
        </p:txBody>
      </p:sp>
      <p:sp>
        <p:nvSpPr>
          <p:cNvPr id="200" name=""/>
          <p:cNvSpPr/>
          <p:nvPr/>
        </p:nvSpPr>
        <p:spPr>
          <a:xfrm rot="0" flipH="0" flipV="0">
            <a:off x="9144000" y="1857375"/>
            <a:ext cx="552450" cy="1428750"/>
          </a:xfrm>
          <a:prstGeom prst="rect">
            <a:avLst/>
          </a:prstGeom>
          <a:ln w="12700">
            <a:solidFill>
              <a:srgbClr val="1F3A34">
                <a:alpha val="3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01" name="" descr="{&quot;isTemplate&quot;:true,&quot;type&quot;:&quot;text&quot;}"/>
          <p:cNvSpPr txBox="1"/>
          <p:nvPr/>
        </p:nvSpPr>
        <p:spPr>
          <a:xfrm rot="0" flipH="0" flipV="0">
            <a:off x="9286875" y="1971675"/>
            <a:ext cx="266700" cy="3238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100">
                <a:solidFill>
                  <a:srgbClr val="1F3A34"/>
                </a:solidFill>
                <a:latin typeface="宋体"/>
                <a:ea typeface="宋体"/>
              </a:rPr>
              <a:t>清</a:t>
            </a:r>
            <a:endParaRPr/>
          </a:p>
        </p:txBody>
      </p:sp>
      <p:sp>
        <p:nvSpPr>
          <p:cNvPr id="202" name=""/>
          <p:cNvSpPr/>
          <p:nvPr/>
        </p:nvSpPr>
        <p:spPr>
          <a:xfrm rot="0" flipH="0" flipV="0">
            <a:off x="4610100" y="3419475"/>
            <a:ext cx="552450" cy="1428750"/>
          </a:xfrm>
          <a:prstGeom prst="rect">
            <a:avLst/>
          </a:prstGeom>
          <a:ln w="12700">
            <a:solidFill>
              <a:srgbClr val="1F3A34">
                <a:alpha val="3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03" name="" descr="{&quot;isTemplate&quot;:true,&quot;type&quot;:&quot;text&quot;}"/>
          <p:cNvSpPr txBox="1"/>
          <p:nvPr/>
        </p:nvSpPr>
        <p:spPr>
          <a:xfrm rot="0" flipH="0" flipV="0">
            <a:off x="4752975" y="3533775"/>
            <a:ext cx="266700" cy="3238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100">
                <a:solidFill>
                  <a:srgbClr val="1F3A34"/>
                </a:solidFill>
                <a:latin typeface="宋体"/>
                <a:ea typeface="宋体"/>
              </a:rPr>
              <a:t>凄</a:t>
            </a:r>
            <a:endParaRPr/>
          </a:p>
        </p:txBody>
      </p:sp>
      <p:sp>
        <p:nvSpPr>
          <p:cNvPr id="204" name=""/>
          <p:cNvSpPr/>
          <p:nvPr/>
        </p:nvSpPr>
        <p:spPr>
          <a:xfrm rot="0" flipH="0" flipV="0">
            <a:off x="5257800" y="3419475"/>
            <a:ext cx="552450" cy="1428750"/>
          </a:xfrm>
          <a:prstGeom prst="rect">
            <a:avLst/>
          </a:prstGeom>
          <a:ln w="12700">
            <a:solidFill>
              <a:srgbClr val="1F3A34">
                <a:alpha val="3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05" name="" descr="{&quot;isTemplate&quot;:true,&quot;type&quot;:&quot;text&quot;}"/>
          <p:cNvSpPr txBox="1"/>
          <p:nvPr/>
        </p:nvSpPr>
        <p:spPr>
          <a:xfrm rot="0" flipH="0" flipV="0">
            <a:off x="5400675" y="3533775"/>
            <a:ext cx="266700" cy="3238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100">
                <a:solidFill>
                  <a:srgbClr val="1F3A34"/>
                </a:solidFill>
                <a:latin typeface="宋体"/>
                <a:ea typeface="宋体"/>
              </a:rPr>
              <a:t>凄</a:t>
            </a:r>
            <a:endParaRPr/>
          </a:p>
        </p:txBody>
      </p:sp>
      <p:sp>
        <p:nvSpPr>
          <p:cNvPr id="206" name=""/>
          <p:cNvSpPr/>
          <p:nvPr/>
        </p:nvSpPr>
        <p:spPr>
          <a:xfrm rot="0" flipH="0" flipV="0">
            <a:off x="5905500" y="3419475"/>
            <a:ext cx="552450" cy="1428750"/>
          </a:xfrm>
          <a:prstGeom prst="rect">
            <a:avLst/>
          </a:prstGeom>
          <a:ln w="12700">
            <a:solidFill>
              <a:srgbClr val="1F3A34">
                <a:alpha val="3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07" name="" descr="{&quot;isTemplate&quot;:true,&quot;type&quot;:&quot;text&quot;}"/>
          <p:cNvSpPr txBox="1"/>
          <p:nvPr/>
        </p:nvSpPr>
        <p:spPr>
          <a:xfrm rot="0" flipH="0" flipV="0">
            <a:off x="6048375" y="3533775"/>
            <a:ext cx="266700" cy="3238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100">
                <a:solidFill>
                  <a:srgbClr val="1F3A34"/>
                </a:solidFill>
                <a:latin typeface="宋体"/>
                <a:ea typeface="宋体"/>
              </a:rPr>
              <a:t>惨</a:t>
            </a:r>
            <a:endParaRPr/>
          </a:p>
        </p:txBody>
      </p:sp>
      <p:sp>
        <p:nvSpPr>
          <p:cNvPr id="208" name=""/>
          <p:cNvSpPr/>
          <p:nvPr/>
        </p:nvSpPr>
        <p:spPr>
          <a:xfrm rot="0" flipH="0" flipV="0">
            <a:off x="6553200" y="3419475"/>
            <a:ext cx="552450" cy="1428750"/>
          </a:xfrm>
          <a:prstGeom prst="rect">
            <a:avLst/>
          </a:prstGeom>
          <a:ln w="12700">
            <a:solidFill>
              <a:srgbClr val="1F3A34">
                <a:alpha val="3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09" name="" descr="{&quot;isTemplate&quot;:true,&quot;type&quot;:&quot;text&quot;}"/>
          <p:cNvSpPr txBox="1"/>
          <p:nvPr/>
        </p:nvSpPr>
        <p:spPr>
          <a:xfrm rot="0" flipH="0" flipV="0">
            <a:off x="6696075" y="3533775"/>
            <a:ext cx="266700" cy="3238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100">
                <a:solidFill>
                  <a:srgbClr val="1F3A34"/>
                </a:solidFill>
                <a:latin typeface="宋体"/>
                <a:ea typeface="宋体"/>
              </a:rPr>
              <a:t>惨</a:t>
            </a:r>
            <a:endParaRPr/>
          </a:p>
        </p:txBody>
      </p:sp>
      <p:sp>
        <p:nvSpPr>
          <p:cNvPr id="210" name=""/>
          <p:cNvSpPr/>
          <p:nvPr/>
        </p:nvSpPr>
        <p:spPr>
          <a:xfrm rot="0" flipH="0" flipV="0">
            <a:off x="7200900" y="3419475"/>
            <a:ext cx="552450" cy="1428750"/>
          </a:xfrm>
          <a:prstGeom prst="rect">
            <a:avLst/>
          </a:prstGeom>
          <a:ln w="12700">
            <a:solidFill>
              <a:srgbClr val="1F3A34">
                <a:alpha val="3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11" name="" descr="{&quot;isTemplate&quot;:true,&quot;type&quot;:&quot;text&quot;}"/>
          <p:cNvSpPr txBox="1"/>
          <p:nvPr/>
        </p:nvSpPr>
        <p:spPr>
          <a:xfrm rot="0" flipH="0" flipV="0">
            <a:off x="7343775" y="3533775"/>
            <a:ext cx="266700" cy="3238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100">
                <a:solidFill>
                  <a:srgbClr val="1F3A34"/>
                </a:solidFill>
                <a:latin typeface="宋体"/>
                <a:ea typeface="宋体"/>
              </a:rPr>
              <a:t>戚</a:t>
            </a:r>
            <a:endParaRPr/>
          </a:p>
        </p:txBody>
      </p:sp>
      <p:sp>
        <p:nvSpPr>
          <p:cNvPr id="212" name=""/>
          <p:cNvSpPr/>
          <p:nvPr/>
        </p:nvSpPr>
        <p:spPr>
          <a:xfrm rot="0" flipH="0" flipV="0">
            <a:off x="7848600" y="3419475"/>
            <a:ext cx="552450" cy="1428750"/>
          </a:xfrm>
          <a:prstGeom prst="rect">
            <a:avLst/>
          </a:prstGeom>
          <a:ln w="12700">
            <a:solidFill>
              <a:srgbClr val="1F3A34">
                <a:alpha val="3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13" name="" descr="{&quot;isTemplate&quot;:true,&quot;type&quot;:&quot;text&quot;}"/>
          <p:cNvSpPr txBox="1"/>
          <p:nvPr/>
        </p:nvSpPr>
        <p:spPr>
          <a:xfrm rot="0" flipH="0" flipV="0">
            <a:off x="7991475" y="3533775"/>
            <a:ext cx="266700" cy="3238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100">
                <a:solidFill>
                  <a:srgbClr val="1F3A34"/>
                </a:solidFill>
                <a:latin typeface="宋体"/>
                <a:ea typeface="宋体"/>
              </a:rPr>
              <a:t>戚</a:t>
            </a:r>
            <a:endParaRPr/>
          </a:p>
        </p:txBody>
      </p:sp>
      <p:sp>
        <p:nvSpPr>
          <p:cNvPr id="214" name="" descr="{&quot;isTemplate&quot;:true,&quot;type&quot;:&quot;text&quot;}"/>
          <p:cNvSpPr txBox="1"/>
          <p:nvPr/>
        </p:nvSpPr>
        <p:spPr>
          <a:xfrm rot="0" flipH="0" flipV="0">
            <a:off x="4610100" y="5038725"/>
            <a:ext cx="697230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>
                <a:solidFill>
                  <a:srgbClr val="6B6B6B"/>
                </a:solidFill>
                <a:latin typeface="宋体"/>
                <a:ea typeface="宋体"/>
              </a:rPr>
              <a:t>在拐弯的那个字下面画一道线。</a:t>
            </a:r>
            <a:endParaRPr/>
          </a:p>
        </p:txBody>
      </p:sp>
      <p:sp>
        <p:nvSpPr>
          <p:cNvPr id="215" name=""/>
          <p:cNvSpPr/>
          <p:nvPr/>
        </p:nvSpPr>
        <p:spPr>
          <a:xfrm rot="0" flipH="0" flipV="0">
            <a:off x="609600" y="5943600"/>
            <a:ext cx="10972800" cy="381000"/>
          </a:xfrm>
          <a:custGeom>
            <a:pathLst>
              <a:path w="1152" h="40">
                <a:moveTo>
                  <a:pt x="0" y="0"/>
                </a:moveTo>
                <a:lnTo>
                  <a:pt x="1152" y="0"/>
                </a:lnTo>
                <a:lnTo>
                  <a:pt x="1152" y="1"/>
                </a:lnTo>
                <a:lnTo>
                  <a:pt x="0" y="1"/>
                </a:lnTo>
                <a:close/>
              </a:path>
            </a:pathLst>
          </a:custGeom>
          <a:solidFill>
            <a:srgbClr val="1F3A34">
              <a:alpha val="20000"/>
            </a:srgbClr>
          </a:solidFill>
          <a:ln/>
        </p:spPr>
        <p:txBody>
          <a:bodyPr/>
          <a:p/>
        </p:txBody>
      </p:sp>
      <p:sp>
        <p:nvSpPr>
          <p:cNvPr id="216" name="" descr="{&quot;isTemplate&quot;:true,&quot;type&quot;:&quot;text&quot;}"/>
          <p:cNvSpPr txBox="1"/>
          <p:nvPr/>
        </p:nvSpPr>
        <p:spPr>
          <a:xfrm rot="0" flipH="0" flipV="0">
            <a:off x="609600" y="6038850"/>
            <a:ext cx="198120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>
                <a:solidFill>
                  <a:srgbClr val="6B6B6B"/>
                </a:solidFill>
                <a:latin typeface="宋体"/>
                <a:ea typeface="宋体"/>
              </a:rPr>
              <a:t>《声声慢》·</a:t>
            </a:r>
            <a:r>
              <a:rPr lang="en-US" sz="1800">
                <a:solidFill>
                  <a:srgbClr val="6B6B6B"/>
                </a:solidFill>
                <a:latin typeface="宋体"/>
                <a:ea typeface="宋体"/>
              </a:rPr>
              <a:t xml:space="preserve"> </a:t>
            </a:r>
            <a:r>
              <a:rPr lang="zh-CN" sz="1800">
                <a:solidFill>
                  <a:srgbClr val="6B6B6B"/>
                </a:solidFill>
                <a:latin typeface="宋体"/>
                <a:ea typeface="宋体"/>
              </a:rPr>
              <a:t>李清照</a:t>
            </a:r>
            <a:endParaRPr/>
          </a:p>
        </p:txBody>
      </p:sp>
      <p:sp>
        <p:nvSpPr>
          <p:cNvPr id="217" name="" descr="{&quot;isTemplate&quot;:true,&quot;type&quot;:&quot;text&quot;}"/>
          <p:cNvSpPr txBox="1"/>
          <p:nvPr/>
        </p:nvSpPr>
        <p:spPr>
          <a:xfrm rot="0" flipH="0" flipV="0">
            <a:off x="10991850" y="6038850"/>
            <a:ext cx="59055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800">
                <a:solidFill>
                  <a:srgbClr val="B4552D"/>
                </a:solidFill>
                <a:latin typeface="宋体"/>
                <a:ea typeface="宋体"/>
              </a:rPr>
              <a:t>06/16</a:t>
            </a:r>
            <a:endParaRPr/>
          </a:p>
        </p:txBody>
      </p:sp>
    </p:spTree>
  </p:cSld>
</p:sld>
</file>

<file path=ppt/slides/slide7.xml><?xml version="1.0" encoding="utf-8"?>
<p:sld xmlns:p="http://schemas.openxmlformats.org/presentationml/2006/main" xmlns:a="http://schemas.openxmlformats.org/drawingml/2006/main">
  <p:cSld>
    <p:spTree>
      <p:nvGrpSpPr>
        <p:cNvPr id="218" name="" descr="&lt;Slide style={{ background: '#F5F1E6', padding: '48px 64px', fontFamily: '宋体' }}&gt;&#13;&#10;  &lt;Box style={{ flexDirection: 'row', justifyContent: 'space-between', alignItems: 'flex-end', height: 72 }}&gt;&#13;&#10;    &lt;Text style={{ fontSize: 40, fontWeight: 'bold', color: '#1F3A34', lineHeight: 1.2 }}&gt;冷冷与清清，能不能换&lt;/Text&gt;&#13;&#10;    &lt;Text style={{ fontSize: 24, color: '#6B6B6B' }}&gt;环节二 · 任务一&lt;/Text&gt;&#13;&#10;  &lt;/Box&gt;&#13;&#10;  &lt;Box style={{ height: 472, marginTop: 20, flexDirection: 'column' }}&gt;&#13;&#10;  &lt;Box style={{ height: 472, flexDirection: 'column', justifyContent: 'center', gap: 20 }}&gt;&#13;&#10;    &lt;Box style={{ height: 110, background: 'rgba(31,58,52,0.06)', justifyContent: 'center', paddingLeft: 28 }}&gt;&#13;&#10;      &lt;Text style={{ fontSize: 28, color: '#1F3A34' }}&gt;寻寻（不信）→ 觅觅（细察）→ 确认“真个去矣”&lt;/Text&gt;&#13;&#10;    &lt;/Box&gt;&#13;&#10;    &lt;Box style={{ height: 110, background: 'rgba(31,58,52,0.09)', justifyContent: 'center', paddingLeft: 28 }}&gt;&#13;&#10;      &lt;Text style={{ fontSize: 28, fontWeight: 'bold', color: '#1F3A34' }}&gt;冷冷（外）　→　清清（内）&lt;/Text&gt;&#13;&#10;    &lt;/Box&gt;&#13;&#10;    &lt;Box style={{ height: 110, background: 'rgba(180,85,45,0.12)', justifyContent: 'center', paddingLeft: 28 }}&gt;&#13;&#10;      &lt;Text style={{ fontSize: 28, color: '#B4552D' }}&gt;凄凄 → 惨惨 → 戚戚：凝于心 → 不堪任 → 肠痛心碎&lt;/Text&gt;&#13;&#10;    &lt;/Box&gt;&#13;&#10;    &lt;Text style={{ fontSize: 24, color: '#6B6B6B' }}&gt;把“冷冷”挪到“清清”下面：由外入内这一层就断了。&lt;/Text&gt;&#13;&#10;  &lt;/Box&gt;&#13;&#10;  &lt;/Box&gt;&#13;&#10;  &lt;Box style={{ height: 40, marginTop: 12, borderTop: '1px solid rgba(31,58,52,0.2)', flexDirection: 'row', justifyContent: 'space-between', alignItems: 'center', paddingTop: 8 }}&gt;&#13;&#10;    &lt;Text style={{ fontSize: 24, color: '#6B6B6B' }}&gt;《声声慢》· 李清照&lt;/Text&gt;&#13;&#10;    &lt;Text style={{ fontSize: 24, color: '#B4552D' }}&gt;07/16&lt;/Text&gt;&#13;&#10;  &lt;/Box&gt;&#13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5F1E6"/>
          </a:solidFill>
          <a:ln/>
        </p:spPr>
        <p:txBody>
          <a:bodyPr/>
          <a:p/>
        </p:txBody>
      </p:sp>
      <p:sp>
        <p:nvSpPr>
          <p:cNvPr id="220" name="" descr="{&quot;isTemplate&quot;:true,&quot;type&quot;:&quot;text&quot;}"/>
          <p:cNvSpPr txBox="1"/>
          <p:nvPr/>
        </p:nvSpPr>
        <p:spPr>
          <a:xfrm rot="0" flipH="0" flipV="0">
            <a:off x="609600" y="590550"/>
            <a:ext cx="3810000" cy="552450"/>
          </a:xfrm>
          <a:prstGeom prst="rect"/>
        </p:spPr>
        <p:txBody>
          <a:bodyPr wrap="none" lIns="0" tIns="0" rIns="0" bIns="0"/>
          <a:p>
            <a:pPr>
              <a:lnSpc>
                <a:spcPct val="120000"/>
              </a:lnSpc>
            </a:pPr>
            <a:r>
              <a:rPr lang="zh-CN" sz="3000" b="1">
                <a:solidFill>
                  <a:srgbClr val="1F3A34"/>
                </a:solidFill>
                <a:latin typeface="宋体"/>
                <a:ea typeface="宋体"/>
              </a:rPr>
              <a:t>冷冷与清清，能不能换</a:t>
            </a:r>
            <a:endParaRPr/>
          </a:p>
        </p:txBody>
      </p:sp>
      <p:sp>
        <p:nvSpPr>
          <p:cNvPr id="221" name="" descr="{&quot;isTemplate&quot;:true,&quot;type&quot;:&quot;text&quot;}"/>
          <p:cNvSpPr txBox="1"/>
          <p:nvPr/>
        </p:nvSpPr>
        <p:spPr>
          <a:xfrm rot="0" flipH="0" flipV="0">
            <a:off x="9982200" y="866775"/>
            <a:ext cx="160020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>
                <a:solidFill>
                  <a:srgbClr val="6B6B6B"/>
                </a:solidFill>
                <a:latin typeface="宋体"/>
                <a:ea typeface="宋体"/>
              </a:rPr>
              <a:t>环节二</a:t>
            </a:r>
            <a:r>
              <a:rPr lang="en-US" sz="1800">
                <a:solidFill>
                  <a:srgbClr val="6B6B6B"/>
                </a:solidFill>
                <a:latin typeface="宋体"/>
                <a:ea typeface="宋体"/>
              </a:rPr>
              <a:t xml:space="preserve"> · </a:t>
            </a:r>
            <a:r>
              <a:rPr lang="zh-CN" sz="1800">
                <a:solidFill>
                  <a:srgbClr val="6B6B6B"/>
                </a:solidFill>
                <a:latin typeface="宋体"/>
                <a:ea typeface="宋体"/>
              </a:rPr>
              <a:t>任务一</a:t>
            </a:r>
            <a:endParaRPr/>
          </a:p>
        </p:txBody>
      </p:sp>
      <p:sp>
        <p:nvSpPr>
          <p:cNvPr id="222" name=""/>
          <p:cNvSpPr/>
          <p:nvPr/>
        </p:nvSpPr>
        <p:spPr>
          <a:xfrm rot="0" flipH="0" flipV="0">
            <a:off x="609600" y="1590675"/>
            <a:ext cx="10972800" cy="1047750"/>
          </a:xfrm>
          <a:prstGeom prst="rect">
            <a:avLst/>
          </a:prstGeom>
          <a:solidFill>
            <a:srgbClr val="1F3A34">
              <a:alpha val="6000"/>
            </a:srgbClr>
          </a:solidFill>
          <a:ln/>
        </p:spPr>
        <p:txBody>
          <a:bodyPr/>
          <a:p/>
        </p:txBody>
      </p:sp>
      <p:sp>
        <p:nvSpPr>
          <p:cNvPr id="223" name="" descr="{&quot;isTemplate&quot;:true,&quot;type&quot;:&quot;text&quot;}"/>
          <p:cNvSpPr txBox="1"/>
          <p:nvPr/>
        </p:nvSpPr>
        <p:spPr>
          <a:xfrm rot="0" flipH="0" flipV="0">
            <a:off x="876300" y="1952625"/>
            <a:ext cx="10706100" cy="3238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100">
                <a:solidFill>
                  <a:srgbClr val="1F3A34"/>
                </a:solidFill>
                <a:latin typeface="宋体"/>
                <a:ea typeface="宋体"/>
              </a:rPr>
              <a:t>寻寻（不信）→</a:t>
            </a:r>
            <a:r>
              <a:rPr lang="en-US" sz="2100">
                <a:solidFill>
                  <a:srgbClr val="1F3A34"/>
                </a:solidFill>
                <a:latin typeface="宋体"/>
                <a:ea typeface="宋体"/>
              </a:rPr>
              <a:t xml:space="preserve"> </a:t>
            </a:r>
            <a:r>
              <a:rPr lang="zh-CN" sz="2100">
                <a:solidFill>
                  <a:srgbClr val="1F3A34"/>
                </a:solidFill>
                <a:latin typeface="宋体"/>
                <a:ea typeface="宋体"/>
              </a:rPr>
              <a:t>觅觅（细察）→</a:t>
            </a:r>
            <a:r>
              <a:rPr lang="en-US" sz="2100">
                <a:solidFill>
                  <a:srgbClr val="1F3A34"/>
                </a:solidFill>
                <a:latin typeface="宋体"/>
                <a:ea typeface="宋体"/>
              </a:rPr>
              <a:t xml:space="preserve"> </a:t>
            </a:r>
            <a:r>
              <a:rPr lang="zh-CN" sz="2100">
                <a:solidFill>
                  <a:srgbClr val="1F3A34"/>
                </a:solidFill>
                <a:latin typeface="宋体"/>
                <a:ea typeface="宋体"/>
              </a:rPr>
              <a:t>确认“真个去矣”</a:t>
            </a:r>
            <a:endParaRPr/>
          </a:p>
        </p:txBody>
      </p:sp>
      <p:sp>
        <p:nvSpPr>
          <p:cNvPr id="224" name=""/>
          <p:cNvSpPr/>
          <p:nvPr/>
        </p:nvSpPr>
        <p:spPr>
          <a:xfrm rot="0" flipH="0" flipV="0">
            <a:off x="609600" y="2828925"/>
            <a:ext cx="10972800" cy="1047750"/>
          </a:xfrm>
          <a:prstGeom prst="rect">
            <a:avLst/>
          </a:prstGeom>
          <a:solidFill>
            <a:srgbClr val="1F3A34">
              <a:alpha val="9000"/>
            </a:srgbClr>
          </a:solidFill>
          <a:ln/>
        </p:spPr>
        <p:txBody>
          <a:bodyPr/>
          <a:p/>
        </p:txBody>
      </p:sp>
      <p:sp>
        <p:nvSpPr>
          <p:cNvPr id="225" name="" descr="{&quot;isTemplate&quot;:true,&quot;type&quot;:&quot;text&quot;}"/>
          <p:cNvSpPr txBox="1"/>
          <p:nvPr/>
        </p:nvSpPr>
        <p:spPr>
          <a:xfrm rot="0" flipH="0" flipV="0">
            <a:off x="876300" y="3190875"/>
            <a:ext cx="10706100" cy="3238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100" b="1">
                <a:solidFill>
                  <a:srgbClr val="1F3A34"/>
                </a:solidFill>
                <a:latin typeface="宋体"/>
                <a:ea typeface="宋体"/>
              </a:rPr>
              <a:t>冷冷（外）　→　清清（内）</a:t>
            </a:r>
            <a:endParaRPr/>
          </a:p>
        </p:txBody>
      </p:sp>
      <p:sp>
        <p:nvSpPr>
          <p:cNvPr id="226" name=""/>
          <p:cNvSpPr/>
          <p:nvPr/>
        </p:nvSpPr>
        <p:spPr>
          <a:xfrm rot="0" flipH="0" flipV="0">
            <a:off x="609600" y="4067175"/>
            <a:ext cx="10972800" cy="1047750"/>
          </a:xfrm>
          <a:prstGeom prst="rect">
            <a:avLst/>
          </a:prstGeom>
          <a:solidFill>
            <a:srgbClr val="B4552D">
              <a:alpha val="12000"/>
            </a:srgbClr>
          </a:solidFill>
          <a:ln/>
        </p:spPr>
        <p:txBody>
          <a:bodyPr/>
          <a:p/>
        </p:txBody>
      </p:sp>
      <p:sp>
        <p:nvSpPr>
          <p:cNvPr id="227" name="" descr="{&quot;isTemplate&quot;:true,&quot;type&quot;:&quot;text&quot;}"/>
          <p:cNvSpPr txBox="1"/>
          <p:nvPr/>
        </p:nvSpPr>
        <p:spPr>
          <a:xfrm rot="0" flipH="0" flipV="0">
            <a:off x="876300" y="4429125"/>
            <a:ext cx="10706100" cy="3238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100">
                <a:solidFill>
                  <a:srgbClr val="B4552D"/>
                </a:solidFill>
                <a:latin typeface="宋体"/>
                <a:ea typeface="宋体"/>
              </a:rPr>
              <a:t>凄凄</a:t>
            </a:r>
            <a:r>
              <a:rPr lang="en-US" sz="2100">
                <a:solidFill>
                  <a:srgbClr val="B4552D"/>
                </a:solidFill>
                <a:latin typeface="宋体"/>
                <a:ea typeface="宋体"/>
              </a:rPr>
              <a:t xml:space="preserve"> → </a:t>
            </a:r>
            <a:r>
              <a:rPr lang="zh-CN" sz="2100">
                <a:solidFill>
                  <a:srgbClr val="B4552D"/>
                </a:solidFill>
                <a:latin typeface="宋体"/>
                <a:ea typeface="宋体"/>
              </a:rPr>
              <a:t>惨惨</a:t>
            </a:r>
            <a:r>
              <a:rPr lang="en-US" sz="2100">
                <a:solidFill>
                  <a:srgbClr val="B4552D"/>
                </a:solidFill>
                <a:latin typeface="宋体"/>
                <a:ea typeface="宋体"/>
              </a:rPr>
              <a:t xml:space="preserve"> → </a:t>
            </a:r>
            <a:r>
              <a:rPr lang="zh-CN" sz="2100">
                <a:solidFill>
                  <a:srgbClr val="B4552D"/>
                </a:solidFill>
                <a:latin typeface="宋体"/>
                <a:ea typeface="宋体"/>
              </a:rPr>
              <a:t>戚戚：凝于心</a:t>
            </a:r>
            <a:r>
              <a:rPr lang="en-US" sz="2100">
                <a:solidFill>
                  <a:srgbClr val="B4552D"/>
                </a:solidFill>
                <a:latin typeface="宋体"/>
                <a:ea typeface="宋体"/>
              </a:rPr>
              <a:t xml:space="preserve"> → </a:t>
            </a:r>
            <a:r>
              <a:rPr lang="zh-CN" sz="2100">
                <a:solidFill>
                  <a:srgbClr val="B4552D"/>
                </a:solidFill>
                <a:latin typeface="宋体"/>
                <a:ea typeface="宋体"/>
              </a:rPr>
              <a:t>不堪任</a:t>
            </a:r>
            <a:r>
              <a:rPr lang="en-US" sz="2100">
                <a:solidFill>
                  <a:srgbClr val="B4552D"/>
                </a:solidFill>
                <a:latin typeface="宋体"/>
                <a:ea typeface="宋体"/>
              </a:rPr>
              <a:t xml:space="preserve"> → </a:t>
            </a:r>
            <a:r>
              <a:rPr lang="zh-CN" sz="2100">
                <a:solidFill>
                  <a:srgbClr val="B4552D"/>
                </a:solidFill>
                <a:latin typeface="宋体"/>
                <a:ea typeface="宋体"/>
              </a:rPr>
              <a:t>肠痛心碎</a:t>
            </a:r>
            <a:endParaRPr/>
          </a:p>
        </p:txBody>
      </p:sp>
      <p:sp>
        <p:nvSpPr>
          <p:cNvPr id="228" name="" descr="{&quot;isTemplate&quot;:true,&quot;type&quot;:&quot;text&quot;}"/>
          <p:cNvSpPr txBox="1"/>
          <p:nvPr/>
        </p:nvSpPr>
        <p:spPr>
          <a:xfrm rot="0" flipH="0" flipV="0">
            <a:off x="609600" y="5305425"/>
            <a:ext cx="1097280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>
                <a:solidFill>
                  <a:srgbClr val="6B6B6B"/>
                </a:solidFill>
                <a:latin typeface="宋体"/>
                <a:ea typeface="宋体"/>
              </a:rPr>
              <a:t>把“冷冷”挪到“清清”下面：由外入内这一层就断了。</a:t>
            </a:r>
            <a:endParaRPr/>
          </a:p>
        </p:txBody>
      </p:sp>
      <p:sp>
        <p:nvSpPr>
          <p:cNvPr id="229" name=""/>
          <p:cNvSpPr/>
          <p:nvPr/>
        </p:nvSpPr>
        <p:spPr>
          <a:xfrm rot="0" flipH="0" flipV="0">
            <a:off x="609600" y="5943600"/>
            <a:ext cx="10972800" cy="381000"/>
          </a:xfrm>
          <a:custGeom>
            <a:pathLst>
              <a:path w="1152" h="40">
                <a:moveTo>
                  <a:pt x="0" y="0"/>
                </a:moveTo>
                <a:lnTo>
                  <a:pt x="1152" y="0"/>
                </a:lnTo>
                <a:lnTo>
                  <a:pt x="1152" y="1"/>
                </a:lnTo>
                <a:lnTo>
                  <a:pt x="0" y="1"/>
                </a:lnTo>
                <a:close/>
              </a:path>
            </a:pathLst>
          </a:custGeom>
          <a:solidFill>
            <a:srgbClr val="1F3A34">
              <a:alpha val="20000"/>
            </a:srgbClr>
          </a:solidFill>
          <a:ln/>
        </p:spPr>
        <p:txBody>
          <a:bodyPr/>
          <a:p/>
        </p:txBody>
      </p:sp>
      <p:sp>
        <p:nvSpPr>
          <p:cNvPr id="230" name="" descr="{&quot;isTemplate&quot;:true,&quot;type&quot;:&quot;text&quot;}"/>
          <p:cNvSpPr txBox="1"/>
          <p:nvPr/>
        </p:nvSpPr>
        <p:spPr>
          <a:xfrm rot="0" flipH="0" flipV="0">
            <a:off x="609600" y="6038850"/>
            <a:ext cx="198120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>
                <a:solidFill>
                  <a:srgbClr val="6B6B6B"/>
                </a:solidFill>
                <a:latin typeface="宋体"/>
                <a:ea typeface="宋体"/>
              </a:rPr>
              <a:t>《声声慢》·</a:t>
            </a:r>
            <a:r>
              <a:rPr lang="en-US" sz="1800">
                <a:solidFill>
                  <a:srgbClr val="6B6B6B"/>
                </a:solidFill>
                <a:latin typeface="宋体"/>
                <a:ea typeface="宋体"/>
              </a:rPr>
              <a:t xml:space="preserve"> </a:t>
            </a:r>
            <a:r>
              <a:rPr lang="zh-CN" sz="1800">
                <a:solidFill>
                  <a:srgbClr val="6B6B6B"/>
                </a:solidFill>
                <a:latin typeface="宋体"/>
                <a:ea typeface="宋体"/>
              </a:rPr>
              <a:t>李清照</a:t>
            </a:r>
            <a:endParaRPr/>
          </a:p>
        </p:txBody>
      </p:sp>
      <p:sp>
        <p:nvSpPr>
          <p:cNvPr id="231" name="" descr="{&quot;isTemplate&quot;:true,&quot;type&quot;:&quot;text&quot;}"/>
          <p:cNvSpPr txBox="1"/>
          <p:nvPr/>
        </p:nvSpPr>
        <p:spPr>
          <a:xfrm rot="0" flipH="0" flipV="0">
            <a:off x="10991850" y="6038850"/>
            <a:ext cx="59055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800">
                <a:solidFill>
                  <a:srgbClr val="B4552D"/>
                </a:solidFill>
                <a:latin typeface="宋体"/>
                <a:ea typeface="宋体"/>
              </a:rPr>
              <a:t>07/16</a:t>
            </a:r>
            <a:endParaRPr/>
          </a:p>
        </p:txBody>
      </p:sp>
    </p:spTree>
  </p:cSld>
</p:sld>
</file>

<file path=ppt/slides/slide8.xml><?xml version="1.0" encoding="utf-8"?>
<p:sld xmlns:p="http://schemas.openxmlformats.org/presentationml/2006/main" xmlns:a="http://schemas.openxmlformats.org/drawingml/2006/main">
  <p:cSld>
    <p:spTree>
      <p:nvGrpSpPr>
        <p:cNvPr id="232" name="" descr="&lt;Slide style={{ background: '#F5F1E6', padding: '48px 64px', fontFamily: '宋体' }}&gt;&#13;&#10;  &lt;Box style={{ flexDirection: 'row', justifyContent: 'space-between', alignItems: 'flex-end', height: 72 }}&gt;&#13;&#10;    &lt;Text style={{ fontSize: 40, fontWeight: 'bold', color: '#1F3A34', lineHeight: 1.2 }}&gt;六样东西&lt;/Text&gt;&#13;&#10;    &lt;Text style={{ fontSize: 24, color: '#6B6B6B' }}&gt;环节三 · 任务二&lt;/Text&gt;&#13;&#10;  &lt;/Box&gt;&#13;&#10;  &lt;Box style={{ height: 472, marginTop: 20, flexDirection: 'column' }}&gt;&#13;&#10;  &lt;Box style={{ height: 472, flexDirection: 'column', justifyContent: 'center' }}&gt;&#13;&#10;    &lt;Text style={{ fontSize: 28, color: '#6B6B6B' }}&gt;词里有六样东西——&lt;/Text&gt;&#13;&#10;    &lt;Box style={{ flexDirection: 'row', gap: 20, marginTop: 24, height: 150 }}&gt;&#13;&#10;      &lt;Box style={{ flex: 1, background: 'rgba(31,58,52,0.06)', alignItems: 'center', justifyContent: 'center' }}&gt;&lt;Text style={{ fontSize: 40, fontWeight: 'bold', color: '#1F3A34' }}&gt;淡酒&lt;/Text&gt;&lt;/Box&gt;&#13;&#10;      &lt;Box style={{ flex: 1, background: 'rgba(31,58,52,0.06)', alignItems: 'center', justifyContent: 'center' }}&gt;&lt;Text style={{ fontSize: 40, fontWeight: 'bold', color: '#1F3A34' }}&gt;晚风&lt;/Text&gt;&lt;/Box&gt;&#13;&#10;      &lt;Box style={{ flex: 1, background: 'rgba(180,85,45,0.10)', alignItems: 'center', justifyContent: 'center' }}&gt;&lt;Text style={{ fontSize: 40, fontWeight: 'bold', color: '#B4552D' }}&gt;过雁&lt;/Text&gt;&lt;/Box&gt;&#13;&#10;    &lt;/Box&gt;&#13;&#10;    &lt;Box style={{ flexDirection: 'row', gap: 20, marginTop: 20, height: 150 }}&gt;&#13;&#10;      &lt;Box style={{ flex: 1, background: 'rgba(31,58,52,0.06)', alignItems: 'center', justifyContent: 'center' }}&gt;&lt;Text style={{ fontSize: 40, fontWeight: 'bold', color: '#1F3A34' }}&gt;黄花&lt;/Text&gt;&lt;/Box&gt;&#13;&#10;      &lt;Box style={{ flex: 1, background: 'rgba(180,85,45,0.10)', alignItems: 'center', justifyContent: 'center' }}&gt;&lt;Text style={{ fontSize: 40, fontWeight: 'bold', color: '#B4552D' }}&gt;梧桐&lt;/Text&gt;&lt;/Box&gt;&#13;&#10;      &lt;Box style={{ flex: 1, background: 'rgba(31,58,52,0.06)', alignItems: 'center', justifyContent: 'center' }}&gt;&lt;Text style={{ fontSize: 40, fontWeight: 'bold', color: '#1F3A34' }}&gt;细雨&lt;/Text&gt;&lt;/Box&gt;&#13;&#10;    &lt;/Box&gt;&#13;&#10;    &lt;Text style={{ fontSize: 28, color: '#1F3A34', marginTop: 24 }}&gt;选两个：别人写过它们吗？&lt;/Text&gt;&#13;&#10;  &lt;/Box&gt;&#13;&#10;  &lt;/Box&gt;&#13;&#10;  &lt;Box style={{ height: 40, marginTop: 12, borderTop: '1px solid rgba(31,58,52,0.2)', flexDirection: 'row', justifyContent: 'space-between', alignItems: 'center', paddingTop: 8 }}&gt;&#13;&#10;    &lt;Text style={{ fontSize: 24, color: '#6B6B6B' }}&gt;《声声慢》· 李清照&lt;/Text&gt;&#13;&#10;    &lt;Text style={{ fontSize: 24, color: '#B4552D' }}&gt;08/16&lt;/Text&gt;&#13;&#10;  &lt;/Box&gt;&#13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5F1E6"/>
          </a:solidFill>
          <a:ln/>
        </p:spPr>
        <p:txBody>
          <a:bodyPr/>
          <a:p/>
        </p:txBody>
      </p:sp>
      <p:sp>
        <p:nvSpPr>
          <p:cNvPr id="234" name="" descr="{&quot;isTemplate&quot;:true,&quot;type&quot;:&quot;text&quot;}"/>
          <p:cNvSpPr txBox="1"/>
          <p:nvPr/>
        </p:nvSpPr>
        <p:spPr>
          <a:xfrm rot="0" flipH="0" flipV="0">
            <a:off x="609600" y="590550"/>
            <a:ext cx="1524000" cy="552450"/>
          </a:xfrm>
          <a:prstGeom prst="rect"/>
        </p:spPr>
        <p:txBody>
          <a:bodyPr wrap="none" lIns="0" tIns="0" rIns="0" bIns="0"/>
          <a:p>
            <a:pPr>
              <a:lnSpc>
                <a:spcPct val="120000"/>
              </a:lnSpc>
            </a:pPr>
            <a:r>
              <a:rPr lang="zh-CN" sz="3000" b="1">
                <a:solidFill>
                  <a:srgbClr val="1F3A34"/>
                </a:solidFill>
                <a:latin typeface="宋体"/>
                <a:ea typeface="宋体"/>
              </a:rPr>
              <a:t>六样东西</a:t>
            </a:r>
            <a:endParaRPr/>
          </a:p>
        </p:txBody>
      </p:sp>
      <p:sp>
        <p:nvSpPr>
          <p:cNvPr id="235" name="" descr="{&quot;isTemplate&quot;:true,&quot;type&quot;:&quot;text&quot;}"/>
          <p:cNvSpPr txBox="1"/>
          <p:nvPr/>
        </p:nvSpPr>
        <p:spPr>
          <a:xfrm rot="0" flipH="0" flipV="0">
            <a:off x="9982200" y="866775"/>
            <a:ext cx="160020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>
                <a:solidFill>
                  <a:srgbClr val="6B6B6B"/>
                </a:solidFill>
                <a:latin typeface="宋体"/>
                <a:ea typeface="宋体"/>
              </a:rPr>
              <a:t>环节三</a:t>
            </a:r>
            <a:r>
              <a:rPr lang="en-US" sz="1800">
                <a:solidFill>
                  <a:srgbClr val="6B6B6B"/>
                </a:solidFill>
                <a:latin typeface="宋体"/>
                <a:ea typeface="宋体"/>
              </a:rPr>
              <a:t xml:space="preserve"> · </a:t>
            </a:r>
            <a:r>
              <a:rPr lang="zh-CN" sz="1800">
                <a:solidFill>
                  <a:srgbClr val="6B6B6B"/>
                </a:solidFill>
                <a:latin typeface="宋体"/>
                <a:ea typeface="宋体"/>
              </a:rPr>
              <a:t>任务二</a:t>
            </a:r>
            <a:endParaRPr/>
          </a:p>
        </p:txBody>
      </p:sp>
      <p:sp>
        <p:nvSpPr>
          <p:cNvPr id="236" name="" descr="{&quot;isTemplate&quot;:true,&quot;type&quot;:&quot;text&quot;}"/>
          <p:cNvSpPr txBox="1"/>
          <p:nvPr/>
        </p:nvSpPr>
        <p:spPr>
          <a:xfrm rot="0" flipH="0" flipV="0">
            <a:off x="609600" y="1504950"/>
            <a:ext cx="10972800" cy="3238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100">
                <a:solidFill>
                  <a:srgbClr val="6B6B6B"/>
                </a:solidFill>
                <a:latin typeface="宋体"/>
                <a:ea typeface="宋体"/>
              </a:rPr>
              <a:t>词里有六样东西——</a:t>
            </a:r>
            <a:endParaRPr/>
          </a:p>
        </p:txBody>
      </p:sp>
      <p:sp>
        <p:nvSpPr>
          <p:cNvPr id="237" name=""/>
          <p:cNvSpPr/>
          <p:nvPr/>
        </p:nvSpPr>
        <p:spPr>
          <a:xfrm rot="0" flipH="0" flipV="0">
            <a:off x="609600" y="2057400"/>
            <a:ext cx="3533775" cy="1428750"/>
          </a:xfrm>
          <a:prstGeom prst="rect">
            <a:avLst/>
          </a:prstGeom>
          <a:solidFill>
            <a:srgbClr val="1F3A34">
              <a:alpha val="6000"/>
            </a:srgbClr>
          </a:solidFill>
          <a:ln/>
        </p:spPr>
        <p:txBody>
          <a:bodyPr/>
          <a:p/>
        </p:txBody>
      </p:sp>
      <p:sp>
        <p:nvSpPr>
          <p:cNvPr id="238" name="" descr="{&quot;isTemplate&quot;:true,&quot;type&quot;:&quot;text&quot;}"/>
          <p:cNvSpPr txBox="1"/>
          <p:nvPr/>
        </p:nvSpPr>
        <p:spPr>
          <a:xfrm rot="0" flipH="0" flipV="0">
            <a:off x="2000250" y="2543175"/>
            <a:ext cx="762000" cy="4572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3000" b="1">
                <a:solidFill>
                  <a:srgbClr val="1F3A34"/>
                </a:solidFill>
                <a:latin typeface="宋体"/>
                <a:ea typeface="宋体"/>
              </a:rPr>
              <a:t>淡酒</a:t>
            </a:r>
            <a:endParaRPr/>
          </a:p>
        </p:txBody>
      </p:sp>
      <p:sp>
        <p:nvSpPr>
          <p:cNvPr id="239" name=""/>
          <p:cNvSpPr/>
          <p:nvPr/>
        </p:nvSpPr>
        <p:spPr>
          <a:xfrm rot="0" flipH="0" flipV="0">
            <a:off x="4333875" y="2057400"/>
            <a:ext cx="3524250" cy="1428750"/>
          </a:xfrm>
          <a:prstGeom prst="rect">
            <a:avLst/>
          </a:prstGeom>
          <a:solidFill>
            <a:srgbClr val="1F3A34">
              <a:alpha val="6000"/>
            </a:srgbClr>
          </a:solidFill>
          <a:ln/>
        </p:spPr>
        <p:txBody>
          <a:bodyPr/>
          <a:p/>
        </p:txBody>
      </p:sp>
      <p:sp>
        <p:nvSpPr>
          <p:cNvPr id="240" name="" descr="{&quot;isTemplate&quot;:true,&quot;type&quot;:&quot;text&quot;}"/>
          <p:cNvSpPr txBox="1"/>
          <p:nvPr/>
        </p:nvSpPr>
        <p:spPr>
          <a:xfrm rot="0" flipH="0" flipV="0">
            <a:off x="5715000" y="2543175"/>
            <a:ext cx="762000" cy="4572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3000" b="1">
                <a:solidFill>
                  <a:srgbClr val="1F3A34"/>
                </a:solidFill>
                <a:latin typeface="宋体"/>
                <a:ea typeface="宋体"/>
              </a:rPr>
              <a:t>晚风</a:t>
            </a:r>
            <a:endParaRPr/>
          </a:p>
        </p:txBody>
      </p:sp>
      <p:sp>
        <p:nvSpPr>
          <p:cNvPr id="241" name=""/>
          <p:cNvSpPr/>
          <p:nvPr/>
        </p:nvSpPr>
        <p:spPr>
          <a:xfrm rot="0" flipH="0" flipV="0">
            <a:off x="8048625" y="2057400"/>
            <a:ext cx="3533775" cy="1428750"/>
          </a:xfrm>
          <a:prstGeom prst="rect">
            <a:avLst/>
          </a:prstGeom>
          <a:solidFill>
            <a:srgbClr val="B4552D">
              <a:alpha val="10000"/>
            </a:srgbClr>
          </a:solidFill>
          <a:ln/>
        </p:spPr>
        <p:txBody>
          <a:bodyPr/>
          <a:p/>
        </p:txBody>
      </p:sp>
      <p:sp>
        <p:nvSpPr>
          <p:cNvPr id="242" name="" descr="{&quot;isTemplate&quot;:true,&quot;type&quot;:&quot;text&quot;}"/>
          <p:cNvSpPr txBox="1"/>
          <p:nvPr/>
        </p:nvSpPr>
        <p:spPr>
          <a:xfrm rot="0" flipH="0" flipV="0">
            <a:off x="9439275" y="2543175"/>
            <a:ext cx="762000" cy="4572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3000" b="1">
                <a:solidFill>
                  <a:srgbClr val="B4552D"/>
                </a:solidFill>
                <a:latin typeface="宋体"/>
                <a:ea typeface="宋体"/>
              </a:rPr>
              <a:t>过雁</a:t>
            </a:r>
            <a:endParaRPr/>
          </a:p>
        </p:txBody>
      </p:sp>
      <p:sp>
        <p:nvSpPr>
          <p:cNvPr id="243" name=""/>
          <p:cNvSpPr/>
          <p:nvPr/>
        </p:nvSpPr>
        <p:spPr>
          <a:xfrm rot="0" flipH="0" flipV="0">
            <a:off x="609600" y="3676650"/>
            <a:ext cx="3533775" cy="1428750"/>
          </a:xfrm>
          <a:prstGeom prst="rect">
            <a:avLst/>
          </a:prstGeom>
          <a:solidFill>
            <a:srgbClr val="1F3A34">
              <a:alpha val="6000"/>
            </a:srgbClr>
          </a:solidFill>
          <a:ln/>
        </p:spPr>
        <p:txBody>
          <a:bodyPr/>
          <a:p/>
        </p:txBody>
      </p:sp>
      <p:sp>
        <p:nvSpPr>
          <p:cNvPr id="244" name="" descr="{&quot;isTemplate&quot;:true,&quot;type&quot;:&quot;text&quot;}"/>
          <p:cNvSpPr txBox="1"/>
          <p:nvPr/>
        </p:nvSpPr>
        <p:spPr>
          <a:xfrm rot="0" flipH="0" flipV="0">
            <a:off x="2000250" y="4162425"/>
            <a:ext cx="762000" cy="4572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3000" b="1">
                <a:solidFill>
                  <a:srgbClr val="1F3A34"/>
                </a:solidFill>
                <a:latin typeface="宋体"/>
                <a:ea typeface="宋体"/>
              </a:rPr>
              <a:t>黄花</a:t>
            </a:r>
            <a:endParaRPr/>
          </a:p>
        </p:txBody>
      </p:sp>
      <p:sp>
        <p:nvSpPr>
          <p:cNvPr id="245" name=""/>
          <p:cNvSpPr/>
          <p:nvPr/>
        </p:nvSpPr>
        <p:spPr>
          <a:xfrm rot="0" flipH="0" flipV="0">
            <a:off x="4333875" y="3676650"/>
            <a:ext cx="3524250" cy="1428750"/>
          </a:xfrm>
          <a:prstGeom prst="rect">
            <a:avLst/>
          </a:prstGeom>
          <a:solidFill>
            <a:srgbClr val="B4552D">
              <a:alpha val="10000"/>
            </a:srgbClr>
          </a:solidFill>
          <a:ln/>
        </p:spPr>
        <p:txBody>
          <a:bodyPr/>
          <a:p/>
        </p:txBody>
      </p:sp>
      <p:sp>
        <p:nvSpPr>
          <p:cNvPr id="246" name="" descr="{&quot;isTemplate&quot;:true,&quot;type&quot;:&quot;text&quot;}"/>
          <p:cNvSpPr txBox="1"/>
          <p:nvPr/>
        </p:nvSpPr>
        <p:spPr>
          <a:xfrm rot="0" flipH="0" flipV="0">
            <a:off x="5715000" y="4162425"/>
            <a:ext cx="762000" cy="4572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3000" b="1">
                <a:solidFill>
                  <a:srgbClr val="B4552D"/>
                </a:solidFill>
                <a:latin typeface="宋体"/>
                <a:ea typeface="宋体"/>
              </a:rPr>
              <a:t>梧桐</a:t>
            </a:r>
            <a:endParaRPr/>
          </a:p>
        </p:txBody>
      </p:sp>
      <p:sp>
        <p:nvSpPr>
          <p:cNvPr id="247" name=""/>
          <p:cNvSpPr/>
          <p:nvPr/>
        </p:nvSpPr>
        <p:spPr>
          <a:xfrm rot="0" flipH="0" flipV="0">
            <a:off x="8048625" y="3676650"/>
            <a:ext cx="3533775" cy="1428750"/>
          </a:xfrm>
          <a:prstGeom prst="rect">
            <a:avLst/>
          </a:prstGeom>
          <a:solidFill>
            <a:srgbClr val="1F3A34">
              <a:alpha val="6000"/>
            </a:srgbClr>
          </a:solidFill>
          <a:ln/>
        </p:spPr>
        <p:txBody>
          <a:bodyPr/>
          <a:p/>
        </p:txBody>
      </p:sp>
      <p:sp>
        <p:nvSpPr>
          <p:cNvPr id="248" name="" descr="{&quot;isTemplate&quot;:true,&quot;type&quot;:&quot;text&quot;}"/>
          <p:cNvSpPr txBox="1"/>
          <p:nvPr/>
        </p:nvSpPr>
        <p:spPr>
          <a:xfrm rot="0" flipH="0" flipV="0">
            <a:off x="9439275" y="4162425"/>
            <a:ext cx="762000" cy="4572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3000" b="1">
                <a:solidFill>
                  <a:srgbClr val="1F3A34"/>
                </a:solidFill>
                <a:latin typeface="宋体"/>
                <a:ea typeface="宋体"/>
              </a:rPr>
              <a:t>细雨</a:t>
            </a:r>
            <a:endParaRPr/>
          </a:p>
        </p:txBody>
      </p:sp>
      <p:sp>
        <p:nvSpPr>
          <p:cNvPr id="249" name="" descr="{&quot;isTemplate&quot;:true,&quot;type&quot;:&quot;text&quot;}"/>
          <p:cNvSpPr txBox="1"/>
          <p:nvPr/>
        </p:nvSpPr>
        <p:spPr>
          <a:xfrm rot="0" flipH="0" flipV="0">
            <a:off x="609600" y="5334000"/>
            <a:ext cx="10972800" cy="3238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100">
                <a:solidFill>
                  <a:srgbClr val="1F3A34"/>
                </a:solidFill>
                <a:latin typeface="宋体"/>
                <a:ea typeface="宋体"/>
              </a:rPr>
              <a:t>选两个：别人写过它们吗？</a:t>
            </a:r>
            <a:endParaRPr/>
          </a:p>
        </p:txBody>
      </p:sp>
      <p:sp>
        <p:nvSpPr>
          <p:cNvPr id="250" name=""/>
          <p:cNvSpPr/>
          <p:nvPr/>
        </p:nvSpPr>
        <p:spPr>
          <a:xfrm rot="0" flipH="0" flipV="0">
            <a:off x="609600" y="5943600"/>
            <a:ext cx="10972800" cy="381000"/>
          </a:xfrm>
          <a:custGeom>
            <a:pathLst>
              <a:path w="1152" h="40">
                <a:moveTo>
                  <a:pt x="0" y="0"/>
                </a:moveTo>
                <a:lnTo>
                  <a:pt x="1152" y="0"/>
                </a:lnTo>
                <a:lnTo>
                  <a:pt x="1152" y="1"/>
                </a:lnTo>
                <a:lnTo>
                  <a:pt x="0" y="1"/>
                </a:lnTo>
                <a:close/>
              </a:path>
            </a:pathLst>
          </a:custGeom>
          <a:solidFill>
            <a:srgbClr val="1F3A34">
              <a:alpha val="20000"/>
            </a:srgbClr>
          </a:solidFill>
          <a:ln/>
        </p:spPr>
        <p:txBody>
          <a:bodyPr/>
          <a:p/>
        </p:txBody>
      </p:sp>
      <p:sp>
        <p:nvSpPr>
          <p:cNvPr id="251" name="" descr="{&quot;isTemplate&quot;:true,&quot;type&quot;:&quot;text&quot;}"/>
          <p:cNvSpPr txBox="1"/>
          <p:nvPr/>
        </p:nvSpPr>
        <p:spPr>
          <a:xfrm rot="0" flipH="0" flipV="0">
            <a:off x="609600" y="6038850"/>
            <a:ext cx="198120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>
                <a:solidFill>
                  <a:srgbClr val="6B6B6B"/>
                </a:solidFill>
                <a:latin typeface="宋体"/>
                <a:ea typeface="宋体"/>
              </a:rPr>
              <a:t>《声声慢》·</a:t>
            </a:r>
            <a:r>
              <a:rPr lang="en-US" sz="1800">
                <a:solidFill>
                  <a:srgbClr val="6B6B6B"/>
                </a:solidFill>
                <a:latin typeface="宋体"/>
                <a:ea typeface="宋体"/>
              </a:rPr>
              <a:t xml:space="preserve"> </a:t>
            </a:r>
            <a:r>
              <a:rPr lang="zh-CN" sz="1800">
                <a:solidFill>
                  <a:srgbClr val="6B6B6B"/>
                </a:solidFill>
                <a:latin typeface="宋体"/>
                <a:ea typeface="宋体"/>
              </a:rPr>
              <a:t>李清照</a:t>
            </a:r>
            <a:endParaRPr/>
          </a:p>
        </p:txBody>
      </p:sp>
      <p:sp>
        <p:nvSpPr>
          <p:cNvPr id="252" name="" descr="{&quot;isTemplate&quot;:true,&quot;type&quot;:&quot;text&quot;}"/>
          <p:cNvSpPr txBox="1"/>
          <p:nvPr/>
        </p:nvSpPr>
        <p:spPr>
          <a:xfrm rot="0" flipH="0" flipV="0">
            <a:off x="10991850" y="6038850"/>
            <a:ext cx="59055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800">
                <a:solidFill>
                  <a:srgbClr val="B4552D"/>
                </a:solidFill>
                <a:latin typeface="宋体"/>
                <a:ea typeface="宋体"/>
              </a:rPr>
              <a:t>08/16</a:t>
            </a:r>
            <a:endParaRPr/>
          </a:p>
        </p:txBody>
      </p:sp>
    </p:spTree>
  </p:cSld>
</p:sld>
</file>

<file path=ppt/slides/slide9.xml><?xml version="1.0" encoding="utf-8"?>
<p:sld xmlns:p="http://schemas.openxmlformats.org/presentationml/2006/main" xmlns:a="http://schemas.openxmlformats.org/drawingml/2006/main">
  <p:cSld>
    <p:spTree>
      <p:nvGrpSpPr>
        <p:cNvPr id="253" name="" descr="&lt;Slide style={{ background: '#F5F1E6', padding: '48px 64px', fontFamily: '宋体' }}&gt;&#13;&#10;  &lt;Box style={{ flexDirection: 'row', justifyContent: 'space-between', alignItems: 'flex-end', height: 72 }}&gt;&#13;&#10;    &lt;Text style={{ fontSize: 40, fontWeight: 'bold', color: '#1F3A34', lineHeight: 1.2 }}&gt;前人怎么写它&lt;/Text&gt;&#13;&#10;    &lt;Text style={{ fontSize: 24, color: '#6B6B6B' }}&gt;环节三 · 任务二&lt;/Text&gt;&#13;&#10;  &lt;/Box&gt;&#13;&#10;  &lt;Box style={{ height: 472, marginTop: 20, flexDirection: 'column' }}&gt;&#13;&#10;  &lt;Box style={{ height: 472, flexDirection: 'column' }}&gt;&#13;&#10;    &lt;Text style={{ fontSize: 28, color: '#1F3A34' }}&gt;为你选的词找一条前人写过的句子，再说出这一首里它变在了哪里。&lt;/Text&gt;&#13;&#10;    &lt;Box style={{ flexDirection: 'row', gap: 24, marginTop: 24, height: 300 }}&gt;&#13;&#10;      &lt;Box style={{ flex: 1, border: '1px solid rgba(31,58,52,0.35)', padding: 20, flexDirection: 'column' }}&gt;&#13;&#10;        &lt;Text style={{ fontSize: 28, fontWeight: 'bold', color: '#1F3A34' }}&gt;前人怎么写&lt;/Text&gt;&#13;&#10;        &lt;Text style={{ fontSize: 24, color: '#6B6B6B', marginTop: 16, lineHeight: 1.7 }}&gt;哪一首？什么处境？&lt;/Text&gt;&#13;&#10;      &lt;/Box&gt;&#13;&#10;      &lt;Box style={{ flex: 1, border: '1px solid rgba(180,85,45,0.45)', padding: 20, flexDirection: 'column' }}&gt;&#13;&#10;        &lt;Text style={{ fontSize: 28, fontWeight: 'bold', color: '#B4552D' }}&gt;这一首变在哪&lt;/Text&gt;&#13;&#10;        &lt;Text style={{ fontSize: 24, color: '#6B6B6B', marginTop: 16, lineHeight: 1.7 }}&gt;说出那个字。&lt;/Text&gt;&#13;&#10;      &lt;/Box&gt;&#13;&#10;    &lt;/Box&gt;&#13;&#10;    &lt;Text style={{ fontSize: 24, color: '#6B6B6B', marginTop: 20 }}&gt;“代表凄凉”不算答案——要说出是谁写的、写的什么。&lt;/Text&gt;&#13;&#10;  &lt;/Box&gt;&#13;&#10;  &lt;/Box&gt;&#13;&#10;  &lt;Box style={{ height: 40, marginTop: 12, borderTop: '1px solid rgba(31,58,52,0.2)', flexDirection: 'row', justifyContent: 'space-between', alignItems: 'center', paddingTop: 8 }}&gt;&#13;&#10;    &lt;Text style={{ fontSize: 24, color: '#6B6B6B' }}&gt;《声声慢》· 李清照&lt;/Text&gt;&#13;&#10;    &lt;Text style={{ fontSize: 24, color: '#B4552D' }}&gt;09/16&lt;/Text&gt;&#13;&#10;  &lt;/Box&gt;&#13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5F1E6"/>
          </a:solidFill>
          <a:ln/>
        </p:spPr>
        <p:txBody>
          <a:bodyPr/>
          <a:p/>
        </p:txBody>
      </p:sp>
      <p:sp>
        <p:nvSpPr>
          <p:cNvPr id="255" name="" descr="{&quot;isTemplate&quot;:true,&quot;type&quot;:&quot;text&quot;}"/>
          <p:cNvSpPr txBox="1"/>
          <p:nvPr/>
        </p:nvSpPr>
        <p:spPr>
          <a:xfrm rot="0" flipH="0" flipV="0">
            <a:off x="609600" y="590550"/>
            <a:ext cx="2286000" cy="552450"/>
          </a:xfrm>
          <a:prstGeom prst="rect"/>
        </p:spPr>
        <p:txBody>
          <a:bodyPr wrap="none" lIns="0" tIns="0" rIns="0" bIns="0"/>
          <a:p>
            <a:pPr>
              <a:lnSpc>
                <a:spcPct val="120000"/>
              </a:lnSpc>
            </a:pPr>
            <a:r>
              <a:rPr lang="zh-CN" sz="3000" b="1">
                <a:solidFill>
                  <a:srgbClr val="1F3A34"/>
                </a:solidFill>
                <a:latin typeface="宋体"/>
                <a:ea typeface="宋体"/>
              </a:rPr>
              <a:t>前人怎么写它</a:t>
            </a:r>
            <a:endParaRPr/>
          </a:p>
        </p:txBody>
      </p:sp>
      <p:sp>
        <p:nvSpPr>
          <p:cNvPr id="256" name="" descr="{&quot;isTemplate&quot;:true,&quot;type&quot;:&quot;text&quot;}"/>
          <p:cNvSpPr txBox="1"/>
          <p:nvPr/>
        </p:nvSpPr>
        <p:spPr>
          <a:xfrm rot="0" flipH="0" flipV="0">
            <a:off x="9982200" y="866775"/>
            <a:ext cx="160020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>
                <a:solidFill>
                  <a:srgbClr val="6B6B6B"/>
                </a:solidFill>
                <a:latin typeface="宋体"/>
                <a:ea typeface="宋体"/>
              </a:rPr>
              <a:t>环节三</a:t>
            </a:r>
            <a:r>
              <a:rPr lang="en-US" sz="1800">
                <a:solidFill>
                  <a:srgbClr val="6B6B6B"/>
                </a:solidFill>
                <a:latin typeface="宋体"/>
                <a:ea typeface="宋体"/>
              </a:rPr>
              <a:t xml:space="preserve"> · </a:t>
            </a:r>
            <a:r>
              <a:rPr lang="zh-CN" sz="1800">
                <a:solidFill>
                  <a:srgbClr val="6B6B6B"/>
                </a:solidFill>
                <a:latin typeface="宋体"/>
                <a:ea typeface="宋体"/>
              </a:rPr>
              <a:t>任务二</a:t>
            </a:r>
            <a:endParaRPr/>
          </a:p>
        </p:txBody>
      </p:sp>
      <p:sp>
        <p:nvSpPr>
          <p:cNvPr id="257" name="" descr="{&quot;isTemplate&quot;:true,&quot;type&quot;:&quot;text&quot;}"/>
          <p:cNvSpPr txBox="1"/>
          <p:nvPr/>
        </p:nvSpPr>
        <p:spPr>
          <a:xfrm rot="0" flipH="0" flipV="0">
            <a:off x="609600" y="1333500"/>
            <a:ext cx="10972800" cy="3238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100">
                <a:solidFill>
                  <a:srgbClr val="1F3A34"/>
                </a:solidFill>
                <a:latin typeface="宋体"/>
                <a:ea typeface="宋体"/>
              </a:rPr>
              <a:t>为你选的词找一条前人写过的句子，再说出这一首里它变在了哪里。</a:t>
            </a:r>
            <a:endParaRPr/>
          </a:p>
        </p:txBody>
      </p:sp>
      <p:sp>
        <p:nvSpPr>
          <p:cNvPr id="258" name=""/>
          <p:cNvSpPr/>
          <p:nvPr/>
        </p:nvSpPr>
        <p:spPr>
          <a:xfrm rot="0" flipH="0" flipV="0">
            <a:off x="609600" y="1885950"/>
            <a:ext cx="5372100" cy="2857500"/>
          </a:xfrm>
          <a:prstGeom prst="rect">
            <a:avLst/>
          </a:prstGeom>
          <a:ln w="12700">
            <a:solidFill>
              <a:srgbClr val="1F3A34">
                <a:alpha val="3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59" name="" descr="{&quot;isTemplate&quot;:true,&quot;type&quot;:&quot;text&quot;}"/>
          <p:cNvSpPr txBox="1"/>
          <p:nvPr/>
        </p:nvSpPr>
        <p:spPr>
          <a:xfrm rot="0" flipH="0" flipV="0">
            <a:off x="800100" y="2076450"/>
            <a:ext cx="4991100" cy="3238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100" b="1">
                <a:solidFill>
                  <a:srgbClr val="1F3A34"/>
                </a:solidFill>
                <a:latin typeface="宋体"/>
                <a:ea typeface="宋体"/>
              </a:rPr>
              <a:t>前人怎么写</a:t>
            </a:r>
            <a:endParaRPr/>
          </a:p>
        </p:txBody>
      </p:sp>
      <p:sp>
        <p:nvSpPr>
          <p:cNvPr id="260" name="" descr="{&quot;isTemplate&quot;:true,&quot;type&quot;:&quot;text&quot;}"/>
          <p:cNvSpPr txBox="1"/>
          <p:nvPr/>
        </p:nvSpPr>
        <p:spPr>
          <a:xfrm rot="0" flipH="0" flipV="0">
            <a:off x="800100" y="2552700"/>
            <a:ext cx="4991100" cy="466725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1800">
                <a:solidFill>
                  <a:srgbClr val="6B6B6B"/>
                </a:solidFill>
                <a:latin typeface="宋体"/>
                <a:ea typeface="宋体"/>
              </a:rPr>
              <a:t>哪一首？什么处境？</a:t>
            </a:r>
            <a:endParaRPr/>
          </a:p>
        </p:txBody>
      </p:sp>
      <p:sp>
        <p:nvSpPr>
          <p:cNvPr id="261" name=""/>
          <p:cNvSpPr/>
          <p:nvPr/>
        </p:nvSpPr>
        <p:spPr>
          <a:xfrm rot="0" flipH="0" flipV="0">
            <a:off x="6210300" y="1885950"/>
            <a:ext cx="5372100" cy="2857500"/>
          </a:xfrm>
          <a:prstGeom prst="rect">
            <a:avLst/>
          </a:prstGeom>
          <a:ln w="12700">
            <a:solidFill>
              <a:srgbClr val="B4552D">
                <a:alpha val="4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62" name="" descr="{&quot;isTemplate&quot;:true,&quot;type&quot;:&quot;text&quot;}"/>
          <p:cNvSpPr txBox="1"/>
          <p:nvPr/>
        </p:nvSpPr>
        <p:spPr>
          <a:xfrm rot="0" flipH="0" flipV="0">
            <a:off x="6400800" y="2076450"/>
            <a:ext cx="4991100" cy="3238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100" b="1">
                <a:solidFill>
                  <a:srgbClr val="B4552D"/>
                </a:solidFill>
                <a:latin typeface="宋体"/>
                <a:ea typeface="宋体"/>
              </a:rPr>
              <a:t>这一首变在哪</a:t>
            </a:r>
            <a:endParaRPr/>
          </a:p>
        </p:txBody>
      </p:sp>
      <p:sp>
        <p:nvSpPr>
          <p:cNvPr id="263" name="" descr="{&quot;isTemplate&quot;:true,&quot;type&quot;:&quot;text&quot;}"/>
          <p:cNvSpPr txBox="1"/>
          <p:nvPr/>
        </p:nvSpPr>
        <p:spPr>
          <a:xfrm rot="0" flipH="0" flipV="0">
            <a:off x="6400800" y="2552700"/>
            <a:ext cx="4991100" cy="466725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1800">
                <a:solidFill>
                  <a:srgbClr val="6B6B6B"/>
                </a:solidFill>
                <a:latin typeface="宋体"/>
                <a:ea typeface="宋体"/>
              </a:rPr>
              <a:t>说出那个字。</a:t>
            </a:r>
            <a:endParaRPr/>
          </a:p>
        </p:txBody>
      </p:sp>
      <p:sp>
        <p:nvSpPr>
          <p:cNvPr id="264" name="" descr="{&quot;isTemplate&quot;:true,&quot;type&quot;:&quot;text&quot;}"/>
          <p:cNvSpPr txBox="1"/>
          <p:nvPr/>
        </p:nvSpPr>
        <p:spPr>
          <a:xfrm rot="0" flipH="0" flipV="0">
            <a:off x="609600" y="4933950"/>
            <a:ext cx="1097280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>
                <a:solidFill>
                  <a:srgbClr val="6B6B6B"/>
                </a:solidFill>
                <a:latin typeface="宋体"/>
                <a:ea typeface="宋体"/>
              </a:rPr>
              <a:t>“代表凄凉”不算答案——要说出是谁写的、写的什么。</a:t>
            </a:r>
            <a:endParaRPr/>
          </a:p>
        </p:txBody>
      </p:sp>
      <p:sp>
        <p:nvSpPr>
          <p:cNvPr id="265" name=""/>
          <p:cNvSpPr/>
          <p:nvPr/>
        </p:nvSpPr>
        <p:spPr>
          <a:xfrm rot="0" flipH="0" flipV="0">
            <a:off x="609600" y="5943600"/>
            <a:ext cx="10972800" cy="381000"/>
          </a:xfrm>
          <a:custGeom>
            <a:pathLst>
              <a:path w="1152" h="40">
                <a:moveTo>
                  <a:pt x="0" y="0"/>
                </a:moveTo>
                <a:lnTo>
                  <a:pt x="1152" y="0"/>
                </a:lnTo>
                <a:lnTo>
                  <a:pt x="1152" y="1"/>
                </a:lnTo>
                <a:lnTo>
                  <a:pt x="0" y="1"/>
                </a:lnTo>
                <a:close/>
              </a:path>
            </a:pathLst>
          </a:custGeom>
          <a:solidFill>
            <a:srgbClr val="1F3A34">
              <a:alpha val="20000"/>
            </a:srgbClr>
          </a:solidFill>
          <a:ln/>
        </p:spPr>
        <p:txBody>
          <a:bodyPr/>
          <a:p/>
        </p:txBody>
      </p:sp>
      <p:sp>
        <p:nvSpPr>
          <p:cNvPr id="266" name="" descr="{&quot;isTemplate&quot;:true,&quot;type&quot;:&quot;text&quot;}"/>
          <p:cNvSpPr txBox="1"/>
          <p:nvPr/>
        </p:nvSpPr>
        <p:spPr>
          <a:xfrm rot="0" flipH="0" flipV="0">
            <a:off x="609600" y="6038850"/>
            <a:ext cx="198120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>
                <a:solidFill>
                  <a:srgbClr val="6B6B6B"/>
                </a:solidFill>
                <a:latin typeface="宋体"/>
                <a:ea typeface="宋体"/>
              </a:rPr>
              <a:t>《声声慢》·</a:t>
            </a:r>
            <a:r>
              <a:rPr lang="en-US" sz="1800">
                <a:solidFill>
                  <a:srgbClr val="6B6B6B"/>
                </a:solidFill>
                <a:latin typeface="宋体"/>
                <a:ea typeface="宋体"/>
              </a:rPr>
              <a:t xml:space="preserve"> </a:t>
            </a:r>
            <a:r>
              <a:rPr lang="zh-CN" sz="1800">
                <a:solidFill>
                  <a:srgbClr val="6B6B6B"/>
                </a:solidFill>
                <a:latin typeface="宋体"/>
                <a:ea typeface="宋体"/>
              </a:rPr>
              <a:t>李清照</a:t>
            </a:r>
            <a:endParaRPr/>
          </a:p>
        </p:txBody>
      </p:sp>
      <p:sp>
        <p:nvSpPr>
          <p:cNvPr id="267" name="" descr="{&quot;isTemplate&quot;:true,&quot;type&quot;:&quot;text&quot;}"/>
          <p:cNvSpPr txBox="1"/>
          <p:nvPr/>
        </p:nvSpPr>
        <p:spPr>
          <a:xfrm rot="0" flipH="0" flipV="0">
            <a:off x="10991850" y="6038850"/>
            <a:ext cx="59055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800">
                <a:solidFill>
                  <a:srgbClr val="B4552D"/>
                </a:solidFill>
                <a:latin typeface="宋体"/>
                <a:ea typeface="宋体"/>
              </a:rPr>
              <a:t>09/16</a:t>
            </a:r>
            <a:endParaRPr/>
          </a:p>
        </p:txBody>
      </p:sp>
    </p:spTree>
  </p:cSld>
</p:sld>
</file>

<file path=ppt/slides/slide10.xml><?xml version="1.0" encoding="utf-8"?>
<p:sld xmlns:p="http://schemas.openxmlformats.org/presentationml/2006/main" xmlns:a="http://schemas.openxmlformats.org/drawingml/2006/main">
  <p:cSld>
    <p:spTree>
      <p:nvGrpSpPr>
        <p:cNvPr id="10" name="" descr="&lt;Slide style={{ background: '#F5F1E6', padding: '48px 64px', fontFamily: '宋体' }}&gt;&#13;&#10;  &lt;Box style={{ flexDirection: 'row', justifyContent: 'space-between', alignItems: 'flex-end', height: 72 }}&gt;&#13;&#10;    &lt;Text style={{ fontSize: 40, fontWeight: 'bold', color: '#1F3A34', lineHeight: 1.2 }}&gt;雁与梧桐，变在哪&lt;/Text&gt;&#13;&#10;    &lt;Text style={{ fontSize: 24, color: '#6B6B6B' }}&gt;环节三 · 任务二&lt;/Text&gt;&#13;&#10;  &lt;/Box&gt;&#13;&#10;  &lt;Box style={{ height: 472, marginTop: 20, flexDirection: 'column' }}&gt;&#13;&#10;  &lt;Box style={{ height: 472, flexDirection: 'column' }}&gt;&#13;&#10;    &lt;Box style={{ flexDirection: 'row', gap: 24, height: 300, marginTop: 16 }}&gt;&#13;&#10;      &lt;Box style={{ flex: 1, background: 'rgba(31,58,52,0.07)', padding: 24, flexDirection: 'column' }}&gt;&#13;&#10;        &lt;Text style={{ fontSize: 28, fontWeight: 'bold', color: '#1F3A34' }}&gt;雁&lt;/Text&gt;&#13;&#10;        &lt;Text style={{ fontSize: 24, color: '#1F3A34', marginTop: 16, lineHeight: 1.9 }}&gt;前人：雁足传书&lt;/Text&gt;&#13;&#10;        &lt;Text style={{ fontSize: 24, color: '#6B6B6B', marginTop: 8 }}&gt;“归雁洛阳边”&lt;/Text&gt;&#13;&#10;        &lt;Text style={{ fontSize: 24, color: '#B4552D', marginTop: 12 }}&gt;这一首：旧时相识&lt;/Text&gt;&#13;&#10;      &lt;/Box&gt;&#13;&#10;      &lt;Box style={{ flex: 1, background: 'rgba(180,85,45,0.10)', padding: 24, flexDirection: 'column' }}&gt;&#13;&#10;        &lt;Text style={{ fontSize: 28, fontWeight: 'bold', color: '#B4552D' }}&gt;梧桐&lt;/Text&gt;&#13;&#10;        &lt;Text style={{ fontSize: 24, color: '#1F3A34', marginTop: 16, lineHeight: 1.9 }}&gt;前人：寂寞梧桐深院&lt;/Text&gt;&#13;&#10;        &lt;Text style={{ fontSize: 24, color: '#6B6B6B', marginTop: 8 }}&gt;梧桐树，三更雨&lt;/Text&gt;&#13;&#10;        &lt;Text style={{ fontSize: 24, color: '#B4552D', marginTop: 12 }}&gt;这一首：到黄昏，点点滴滴&lt;/Text&gt;&#13;&#10;      &lt;/Box&gt;&#13;&#10;    &lt;/Box&gt;&#13;&#10;    &lt;Text style={{ fontSize: 28, color: '#1F3A34', marginTop: 24 }}&gt;词还是那些词，可是全都转向了“如今”。&lt;/Text&gt;&#13;&#10;  &lt;/Box&gt;&#13;&#10;  &lt;/Box&gt;&#13;&#10;  &lt;Box style={{ height: 40, marginTop: 12, borderTop: '1px solid rgba(31,58,52,0.2)', flexDirection: 'row', justifyContent: 'space-between', alignItems: 'center', paddingTop: 8 }}&gt;&#13;&#10;    &lt;Text style={{ fontSize: 24, color: '#6B6B6B' }}&gt;《声声慢》· 李清照&lt;/Text&gt;&#13;&#10;    &lt;Text style={{ fontSize: 24, color: '#B4552D' }}&gt;10/16&lt;/Text&gt;&#13;&#10;  &lt;/Box&gt;&#13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5F1E6"/>
          </a:solidFill>
          <a:ln/>
        </p:spPr>
        <p:txBody>
          <a:bodyPr/>
          <a:p/>
        </p:txBody>
      </p:sp>
      <p:sp>
        <p:nvSpPr>
          <p:cNvPr id="12" name="" descr="{&quot;isTemplate&quot;:true,&quot;type&quot;:&quot;text&quot;}"/>
          <p:cNvSpPr txBox="1"/>
          <p:nvPr/>
        </p:nvSpPr>
        <p:spPr>
          <a:xfrm rot="0" flipH="0" flipV="0">
            <a:off x="609600" y="590550"/>
            <a:ext cx="3048000" cy="552450"/>
          </a:xfrm>
          <a:prstGeom prst="rect"/>
        </p:spPr>
        <p:txBody>
          <a:bodyPr wrap="none" lIns="0" tIns="0" rIns="0" bIns="0"/>
          <a:p>
            <a:pPr>
              <a:lnSpc>
                <a:spcPct val="120000"/>
              </a:lnSpc>
            </a:pPr>
            <a:r>
              <a:rPr lang="zh-CN" sz="3000" b="1">
                <a:solidFill>
                  <a:srgbClr val="1F3A34"/>
                </a:solidFill>
                <a:latin typeface="宋体"/>
                <a:ea typeface="宋体"/>
              </a:rPr>
              <a:t>雁与梧桐，变在哪</a:t>
            </a:r>
            <a:endParaRPr/>
          </a:p>
        </p:txBody>
      </p:sp>
      <p:sp>
        <p:nvSpPr>
          <p:cNvPr id="13" name="" descr="{&quot;isTemplate&quot;:true,&quot;type&quot;:&quot;text&quot;}"/>
          <p:cNvSpPr txBox="1"/>
          <p:nvPr/>
        </p:nvSpPr>
        <p:spPr>
          <a:xfrm rot="0" flipH="0" flipV="0">
            <a:off x="9982200" y="866775"/>
            <a:ext cx="160020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>
                <a:solidFill>
                  <a:srgbClr val="6B6B6B"/>
                </a:solidFill>
                <a:latin typeface="宋体"/>
                <a:ea typeface="宋体"/>
              </a:rPr>
              <a:t>环节三</a:t>
            </a:r>
            <a:r>
              <a:rPr lang="en-US" sz="1800">
                <a:solidFill>
                  <a:srgbClr val="6B6B6B"/>
                </a:solidFill>
                <a:latin typeface="宋体"/>
                <a:ea typeface="宋体"/>
              </a:rPr>
              <a:t xml:space="preserve"> · </a:t>
            </a:r>
            <a:r>
              <a:rPr lang="zh-CN" sz="1800">
                <a:solidFill>
                  <a:srgbClr val="6B6B6B"/>
                </a:solidFill>
                <a:latin typeface="宋体"/>
                <a:ea typeface="宋体"/>
              </a:rPr>
              <a:t>任务二</a:t>
            </a:r>
            <a:endParaRPr/>
          </a:p>
        </p:txBody>
      </p:sp>
      <p:sp>
        <p:nvSpPr>
          <p:cNvPr id="14" name=""/>
          <p:cNvSpPr/>
          <p:nvPr/>
        </p:nvSpPr>
        <p:spPr>
          <a:xfrm rot="0" flipH="0" flipV="0">
            <a:off x="609600" y="1485900"/>
            <a:ext cx="5372100" cy="2857500"/>
          </a:xfrm>
          <a:prstGeom prst="rect">
            <a:avLst/>
          </a:prstGeom>
          <a:solidFill>
            <a:srgbClr val="1F3A34">
              <a:alpha val="7000"/>
            </a:srgbClr>
          </a:solidFill>
          <a:ln/>
        </p:spPr>
        <p:txBody>
          <a:bodyPr/>
          <a:p/>
        </p:txBody>
      </p:sp>
      <p:sp>
        <p:nvSpPr>
          <p:cNvPr id="15" name="" descr="{&quot;isTemplate&quot;:true,&quot;type&quot;:&quot;text&quot;}"/>
          <p:cNvSpPr txBox="1"/>
          <p:nvPr/>
        </p:nvSpPr>
        <p:spPr>
          <a:xfrm rot="0" flipH="0" flipV="0">
            <a:off x="838200" y="1714500"/>
            <a:ext cx="4914900" cy="3238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100" b="1">
                <a:solidFill>
                  <a:srgbClr val="1F3A34"/>
                </a:solidFill>
                <a:latin typeface="宋体"/>
                <a:ea typeface="宋体"/>
              </a:rPr>
              <a:t>雁</a:t>
            </a:r>
            <a:endParaRPr/>
          </a:p>
        </p:txBody>
      </p:sp>
      <p:sp>
        <p:nvSpPr>
          <p:cNvPr id="16" name="" descr="{&quot;isTemplate&quot;:true,&quot;type&quot;:&quot;text&quot;}"/>
          <p:cNvSpPr txBox="1"/>
          <p:nvPr/>
        </p:nvSpPr>
        <p:spPr>
          <a:xfrm rot="0" flipH="0" flipV="0">
            <a:off x="838200" y="2190750"/>
            <a:ext cx="4914900" cy="523875"/>
          </a:xfrm>
          <a:prstGeom prst="rect"/>
        </p:spPr>
        <p:txBody>
          <a:bodyPr wrap="none" lIns="0" tIns="0" rIns="0" bIns="0"/>
          <a:p>
            <a:pPr>
              <a:lnSpc>
                <a:spcPct val="190000"/>
              </a:lnSpc>
            </a:pPr>
            <a:r>
              <a:rPr lang="zh-CN" sz="1800">
                <a:solidFill>
                  <a:srgbClr val="1F3A34"/>
                </a:solidFill>
                <a:latin typeface="宋体"/>
                <a:ea typeface="宋体"/>
              </a:rPr>
              <a:t>前人：雁足传书</a:t>
            </a:r>
            <a:endParaRPr/>
          </a:p>
        </p:txBody>
      </p:sp>
      <p:sp>
        <p:nvSpPr>
          <p:cNvPr id="17" name="" descr="{&quot;isTemplate&quot;:true,&quot;type&quot;:&quot;text&quot;}"/>
          <p:cNvSpPr txBox="1"/>
          <p:nvPr/>
        </p:nvSpPr>
        <p:spPr>
          <a:xfrm rot="0" flipH="0" flipV="0">
            <a:off x="838200" y="2790825"/>
            <a:ext cx="491490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>
                <a:solidFill>
                  <a:srgbClr val="6B6B6B"/>
                </a:solidFill>
                <a:latin typeface="宋体"/>
                <a:ea typeface="宋体"/>
              </a:rPr>
              <a:t>“归雁洛阳边”</a:t>
            </a:r>
            <a:endParaRPr/>
          </a:p>
        </p:txBody>
      </p:sp>
      <p:sp>
        <p:nvSpPr>
          <p:cNvPr id="18" name="" descr="{&quot;isTemplate&quot;:true,&quot;type&quot;:&quot;text&quot;}"/>
          <p:cNvSpPr txBox="1"/>
          <p:nvPr/>
        </p:nvSpPr>
        <p:spPr>
          <a:xfrm rot="0" flipH="0" flipV="0">
            <a:off x="838200" y="3181350"/>
            <a:ext cx="491490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>
                <a:solidFill>
                  <a:srgbClr val="B4552D"/>
                </a:solidFill>
                <a:latin typeface="宋体"/>
                <a:ea typeface="宋体"/>
              </a:rPr>
              <a:t>这一首：旧时相识</a:t>
            </a:r>
            <a:endParaRPr/>
          </a:p>
        </p:txBody>
      </p:sp>
      <p:sp>
        <p:nvSpPr>
          <p:cNvPr id="19" name=""/>
          <p:cNvSpPr/>
          <p:nvPr/>
        </p:nvSpPr>
        <p:spPr>
          <a:xfrm rot="0" flipH="0" flipV="0">
            <a:off x="6210300" y="1485900"/>
            <a:ext cx="5372100" cy="2857500"/>
          </a:xfrm>
          <a:prstGeom prst="rect">
            <a:avLst/>
          </a:prstGeom>
          <a:solidFill>
            <a:srgbClr val="B4552D">
              <a:alpha val="10000"/>
            </a:srgbClr>
          </a:solidFill>
          <a:ln/>
        </p:spPr>
        <p:txBody>
          <a:bodyPr/>
          <a:p/>
        </p:txBody>
      </p:sp>
      <p:sp>
        <p:nvSpPr>
          <p:cNvPr id="20" name="" descr="{&quot;isTemplate&quot;:true,&quot;type&quot;:&quot;text&quot;}"/>
          <p:cNvSpPr txBox="1"/>
          <p:nvPr/>
        </p:nvSpPr>
        <p:spPr>
          <a:xfrm rot="0" flipH="0" flipV="0">
            <a:off x="6438900" y="1714500"/>
            <a:ext cx="4914900" cy="3238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100" b="1">
                <a:solidFill>
                  <a:srgbClr val="B4552D"/>
                </a:solidFill>
                <a:latin typeface="宋体"/>
                <a:ea typeface="宋体"/>
              </a:rPr>
              <a:t>梧桐</a:t>
            </a:r>
            <a:endParaRPr/>
          </a:p>
        </p:txBody>
      </p:sp>
      <p:sp>
        <p:nvSpPr>
          <p:cNvPr id="21" name="" descr="{&quot;isTemplate&quot;:true,&quot;type&quot;:&quot;text&quot;}"/>
          <p:cNvSpPr txBox="1"/>
          <p:nvPr/>
        </p:nvSpPr>
        <p:spPr>
          <a:xfrm rot="0" flipH="0" flipV="0">
            <a:off x="6438900" y="2190750"/>
            <a:ext cx="4914900" cy="523875"/>
          </a:xfrm>
          <a:prstGeom prst="rect"/>
        </p:spPr>
        <p:txBody>
          <a:bodyPr wrap="none" lIns="0" tIns="0" rIns="0" bIns="0"/>
          <a:p>
            <a:pPr>
              <a:lnSpc>
                <a:spcPct val="190000"/>
              </a:lnSpc>
            </a:pPr>
            <a:r>
              <a:rPr lang="zh-CN" sz="1800">
                <a:solidFill>
                  <a:srgbClr val="1F3A34"/>
                </a:solidFill>
                <a:latin typeface="宋体"/>
                <a:ea typeface="宋体"/>
              </a:rPr>
              <a:t>前人：寂寞梧桐深院</a:t>
            </a:r>
            <a:endParaRPr/>
          </a:p>
        </p:txBody>
      </p:sp>
      <p:sp>
        <p:nvSpPr>
          <p:cNvPr id="22" name="" descr="{&quot;isTemplate&quot;:true,&quot;type&quot;:&quot;text&quot;}"/>
          <p:cNvSpPr txBox="1"/>
          <p:nvPr/>
        </p:nvSpPr>
        <p:spPr>
          <a:xfrm rot="0" flipH="0" flipV="0">
            <a:off x="6438900" y="2790825"/>
            <a:ext cx="491490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>
                <a:solidFill>
                  <a:srgbClr val="6B6B6B"/>
                </a:solidFill>
                <a:latin typeface="宋体"/>
                <a:ea typeface="宋体"/>
              </a:rPr>
              <a:t>梧桐树，三更雨</a:t>
            </a:r>
            <a:endParaRPr/>
          </a:p>
        </p:txBody>
      </p:sp>
      <p:sp>
        <p:nvSpPr>
          <p:cNvPr id="23" name="" descr="{&quot;isTemplate&quot;:true,&quot;type&quot;:&quot;text&quot;}"/>
          <p:cNvSpPr txBox="1"/>
          <p:nvPr/>
        </p:nvSpPr>
        <p:spPr>
          <a:xfrm rot="0" flipH="0" flipV="0">
            <a:off x="6438900" y="3181350"/>
            <a:ext cx="491490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>
                <a:solidFill>
                  <a:srgbClr val="B4552D"/>
                </a:solidFill>
                <a:latin typeface="宋体"/>
                <a:ea typeface="宋体"/>
              </a:rPr>
              <a:t>这一首：到黄昏，点点滴滴</a:t>
            </a:r>
            <a:endParaRPr/>
          </a:p>
        </p:txBody>
      </p:sp>
      <p:sp>
        <p:nvSpPr>
          <p:cNvPr id="24" name="" descr="{&quot;isTemplate&quot;:true,&quot;type&quot;:&quot;text&quot;}"/>
          <p:cNvSpPr txBox="1"/>
          <p:nvPr/>
        </p:nvSpPr>
        <p:spPr>
          <a:xfrm rot="0" flipH="0" flipV="0">
            <a:off x="609600" y="4572000"/>
            <a:ext cx="10972800" cy="3238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100">
                <a:solidFill>
                  <a:srgbClr val="1F3A34"/>
                </a:solidFill>
                <a:latin typeface="宋体"/>
                <a:ea typeface="宋体"/>
              </a:rPr>
              <a:t>词还是那些词，可是全都转向了“如今”。</a:t>
            </a:r>
            <a:endParaRPr/>
          </a:p>
        </p:txBody>
      </p:sp>
      <p:sp>
        <p:nvSpPr>
          <p:cNvPr id="25" name=""/>
          <p:cNvSpPr/>
          <p:nvPr/>
        </p:nvSpPr>
        <p:spPr>
          <a:xfrm rot="0" flipH="0" flipV="0">
            <a:off x="609600" y="5943600"/>
            <a:ext cx="10972800" cy="381000"/>
          </a:xfrm>
          <a:custGeom>
            <a:pathLst>
              <a:path w="1152" h="40">
                <a:moveTo>
                  <a:pt x="0" y="0"/>
                </a:moveTo>
                <a:lnTo>
                  <a:pt x="1152" y="0"/>
                </a:lnTo>
                <a:lnTo>
                  <a:pt x="1152" y="1"/>
                </a:lnTo>
                <a:lnTo>
                  <a:pt x="0" y="1"/>
                </a:lnTo>
                <a:close/>
              </a:path>
            </a:pathLst>
          </a:custGeom>
          <a:solidFill>
            <a:srgbClr val="1F3A34">
              <a:alpha val="20000"/>
            </a:srgbClr>
          </a:solidFill>
          <a:ln/>
        </p:spPr>
        <p:txBody>
          <a:bodyPr/>
          <a:p/>
        </p:txBody>
      </p:sp>
      <p:sp>
        <p:nvSpPr>
          <p:cNvPr id="26" name="" descr="{&quot;isTemplate&quot;:true,&quot;type&quot;:&quot;text&quot;}"/>
          <p:cNvSpPr txBox="1"/>
          <p:nvPr/>
        </p:nvSpPr>
        <p:spPr>
          <a:xfrm rot="0" flipH="0" flipV="0">
            <a:off x="609600" y="6038850"/>
            <a:ext cx="198120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>
                <a:solidFill>
                  <a:srgbClr val="6B6B6B"/>
                </a:solidFill>
                <a:latin typeface="宋体"/>
                <a:ea typeface="宋体"/>
              </a:rPr>
              <a:t>《声声慢》·</a:t>
            </a:r>
            <a:r>
              <a:rPr lang="en-US" sz="1800">
                <a:solidFill>
                  <a:srgbClr val="6B6B6B"/>
                </a:solidFill>
                <a:latin typeface="宋体"/>
                <a:ea typeface="宋体"/>
              </a:rPr>
              <a:t xml:space="preserve"> </a:t>
            </a:r>
            <a:r>
              <a:rPr lang="zh-CN" sz="1800">
                <a:solidFill>
                  <a:srgbClr val="6B6B6B"/>
                </a:solidFill>
                <a:latin typeface="宋体"/>
                <a:ea typeface="宋体"/>
              </a:rPr>
              <a:t>李清照</a:t>
            </a:r>
            <a:endParaRPr/>
          </a:p>
        </p:txBody>
      </p:sp>
      <p:sp>
        <p:nvSpPr>
          <p:cNvPr id="27" name="" descr="{&quot;isTemplate&quot;:true,&quot;type&quot;:&quot;text&quot;}"/>
          <p:cNvSpPr txBox="1"/>
          <p:nvPr/>
        </p:nvSpPr>
        <p:spPr>
          <a:xfrm rot="0" flipH="0" flipV="0">
            <a:off x="10991850" y="6038850"/>
            <a:ext cx="59055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800">
                <a:solidFill>
                  <a:srgbClr val="B4552D"/>
                </a:solidFill>
                <a:latin typeface="宋体"/>
                <a:ea typeface="宋体"/>
              </a:rPr>
              <a:t>10/16</a:t>
            </a:r>
            <a:endParaRPr/>
          </a:p>
        </p:txBody>
      </p:sp>
    </p:spTree>
  </p:cSld>
</p:sld>
</file>

<file path=ppt/slides/slide11.xml><?xml version="1.0" encoding="utf-8"?>
<p:sld xmlns:p="http://schemas.openxmlformats.org/presentationml/2006/main" xmlns:a="http://schemas.openxmlformats.org/drawingml/2006/main">
  <p:cSld>
    <p:spTree>
      <p:nvGrpSpPr>
        <p:cNvPr id="28" name="" descr="&lt;Slide style={{ background: '#F5F1E6', padding: '48px 64px', fontFamily: '宋体' }}&gt;&#13;&#10;  &lt;Box style={{ flexDirection: 'row', justifyContent: 'space-between', alignItems: 'flex-end', height: 72 }}&gt;&#13;&#10;    &lt;Text style={{ fontSize: 40, fontWeight: 'bold', color: '#1F3A34', lineHeight: 1.2 }}&gt;修订：把“很有层次”改掉&lt;/Text&gt;&#13;&#10;    &lt;Text style={{ fontSize: 24, color: '#6B6B6B' }}&gt;环节四 · 修订&lt;/Text&gt;&#13;&#10;  &lt;/Box&gt;&#13;&#10;  &lt;Box style={{ height: 472, marginTop: 20, flexDirection: 'column' }}&gt;&#13;&#10;  &lt;Box style={{ height: 472, flexDirection: 'column', justifyContent: 'center' }}&gt;&#13;&#10;    &lt;Text style={{ fontSize: 34, fontWeight: 'bold', color: '#1F3A34' }}&gt;改一句话：把“很有层次”改成“从哪一级走到哪一级”&lt;/Text&gt;&#13;&#10;    &lt;Box style={{ marginTop: 28, borderLeft: '4px solid #B4552D', paddingLeft: 24, flexDirection: 'column' }}&gt;&#13;&#10;      &lt;Text style={{ fontSize: 28, color: '#1F3A34', lineHeight: 1.9 }}&gt;达标：分出外／内两级以上，并说出互换后坏掉的是什么。&lt;/Text&gt;&#13;&#10;      &lt;Text style={{ fontSize: 28, color: '#1F3A34', lineHeight: 1.9, marginTop: 8 }}&gt;优秀：还能说出“寻”与“觅”之别。&lt;/Text&gt;&#13;&#10;    &lt;/Box&gt;&#13;&#10;    &lt;Text style={{ fontSize: 28, color: '#B4552D', marginTop: 28 }}&gt;只改这一段，3 分钟，不重抄。&lt;/Text&gt;&#13;&#10;  &lt;/Box&gt;&#13;&#10;  &lt;/Box&gt;&#13;&#10;  &lt;Box style={{ height: 40, marginTop: 12, borderTop: '1px solid rgba(31,58,52,0.2)', flexDirection: 'row', justifyContent: 'space-between', alignItems: 'center', paddingTop: 8 }}&gt;&#13;&#10;    &lt;Text style={{ fontSize: 24, color: '#6B6B6B' }}&gt;《声声慢》· 李清照&lt;/Text&gt;&#13;&#10;    &lt;Text style={{ fontSize: 24, color: '#B4552D' }}&gt;11/16&lt;/Text&gt;&#13;&#10;  &lt;/Box&gt;&#13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5F1E6"/>
          </a:solidFill>
          <a:ln/>
        </p:spPr>
        <p:txBody>
          <a:bodyPr/>
          <a:p/>
        </p:txBody>
      </p:sp>
      <p:sp>
        <p:nvSpPr>
          <p:cNvPr id="30" name="" descr="{&quot;isTemplate&quot;:true,&quot;type&quot;:&quot;text&quot;}"/>
          <p:cNvSpPr txBox="1"/>
          <p:nvPr/>
        </p:nvSpPr>
        <p:spPr>
          <a:xfrm rot="0" flipH="0" flipV="0">
            <a:off x="609600" y="590550"/>
            <a:ext cx="4191000" cy="552450"/>
          </a:xfrm>
          <a:prstGeom prst="rect"/>
        </p:spPr>
        <p:txBody>
          <a:bodyPr wrap="none" lIns="0" tIns="0" rIns="0" bIns="0"/>
          <a:p>
            <a:pPr>
              <a:lnSpc>
                <a:spcPct val="120000"/>
              </a:lnSpc>
            </a:pPr>
            <a:r>
              <a:rPr lang="zh-CN" sz="3000" b="1">
                <a:solidFill>
                  <a:srgbClr val="1F3A34"/>
                </a:solidFill>
                <a:latin typeface="宋体"/>
                <a:ea typeface="宋体"/>
              </a:rPr>
              <a:t>修订：把“很有层次”改掉</a:t>
            </a:r>
            <a:endParaRPr/>
          </a:p>
        </p:txBody>
      </p:sp>
      <p:sp>
        <p:nvSpPr>
          <p:cNvPr id="31" name="" descr="{&quot;isTemplate&quot;:true,&quot;type&quot;:&quot;text&quot;}"/>
          <p:cNvSpPr txBox="1"/>
          <p:nvPr/>
        </p:nvSpPr>
        <p:spPr>
          <a:xfrm rot="0" flipH="0" flipV="0">
            <a:off x="10210800" y="866775"/>
            <a:ext cx="137160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>
                <a:solidFill>
                  <a:srgbClr val="6B6B6B"/>
                </a:solidFill>
                <a:latin typeface="宋体"/>
                <a:ea typeface="宋体"/>
              </a:rPr>
              <a:t>环节四</a:t>
            </a:r>
            <a:r>
              <a:rPr lang="en-US" sz="1800">
                <a:solidFill>
                  <a:srgbClr val="6B6B6B"/>
                </a:solidFill>
                <a:latin typeface="宋体"/>
                <a:ea typeface="宋体"/>
              </a:rPr>
              <a:t xml:space="preserve"> · </a:t>
            </a:r>
            <a:r>
              <a:rPr lang="zh-CN" sz="1800">
                <a:solidFill>
                  <a:srgbClr val="6B6B6B"/>
                </a:solidFill>
                <a:latin typeface="宋体"/>
                <a:ea typeface="宋体"/>
              </a:rPr>
              <a:t>修订</a:t>
            </a:r>
            <a:endParaRPr/>
          </a:p>
        </p:txBody>
      </p:sp>
      <p:sp>
        <p:nvSpPr>
          <p:cNvPr id="32" name="" descr="{&quot;isTemplate&quot;:true,&quot;type&quot;:&quot;text&quot;}"/>
          <p:cNvSpPr txBox="1"/>
          <p:nvPr/>
        </p:nvSpPr>
        <p:spPr>
          <a:xfrm rot="0" flipH="0" flipV="0">
            <a:off x="609600" y="2314575"/>
            <a:ext cx="109728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1F3A34"/>
                </a:solidFill>
                <a:latin typeface="宋体"/>
                <a:ea typeface="宋体"/>
              </a:rPr>
              <a:t>改一句话：把“很有层次”改成“从哪一级走到哪一级”</a:t>
            </a:r>
            <a:endParaRPr/>
          </a:p>
        </p:txBody>
      </p:sp>
      <p:sp>
        <p:nvSpPr>
          <p:cNvPr id="33" name=""/>
          <p:cNvSpPr/>
          <p:nvPr/>
        </p:nvSpPr>
        <p:spPr>
          <a:xfrm rot="0" flipH="0" flipV="0">
            <a:off x="609600" y="2971800"/>
            <a:ext cx="11010900" cy="1295400"/>
          </a:xfrm>
          <a:custGeom>
            <a:pathLst>
              <a:path w="1156" h="136">
                <a:moveTo>
                  <a:pt x="0" y="0"/>
                </a:moveTo>
                <a:lnTo>
                  <a:pt x="4" y="0"/>
                </a:lnTo>
                <a:lnTo>
                  <a:pt x="4" y="136"/>
                </a:lnTo>
                <a:lnTo>
                  <a:pt x="0" y="136"/>
                </a:lnTo>
                <a:close/>
              </a:path>
            </a:pathLst>
          </a:custGeom>
          <a:solidFill>
            <a:srgbClr val="B4552D"/>
          </a:solidFill>
          <a:ln/>
        </p:spPr>
        <p:txBody>
          <a:bodyPr/>
          <a:p/>
        </p:txBody>
      </p:sp>
      <p:sp>
        <p:nvSpPr>
          <p:cNvPr id="34" name="" descr="{&quot;isTemplate&quot;:true,&quot;type&quot;:&quot;text&quot;}"/>
          <p:cNvSpPr txBox="1"/>
          <p:nvPr/>
        </p:nvSpPr>
        <p:spPr>
          <a:xfrm rot="0" flipH="0" flipV="0">
            <a:off x="876300" y="2971800"/>
            <a:ext cx="10706100" cy="609600"/>
          </a:xfrm>
          <a:prstGeom prst="rect"/>
        </p:spPr>
        <p:txBody>
          <a:bodyPr wrap="none" lIns="0" tIns="0" rIns="0" bIns="0"/>
          <a:p>
            <a:pPr>
              <a:lnSpc>
                <a:spcPct val="190000"/>
              </a:lnSpc>
            </a:pPr>
            <a:r>
              <a:rPr lang="zh-CN" sz="2100">
                <a:solidFill>
                  <a:srgbClr val="1F3A34"/>
                </a:solidFill>
                <a:latin typeface="宋体"/>
                <a:ea typeface="宋体"/>
              </a:rPr>
              <a:t>达标：分出外／内两级以上，并说出互换后坏掉的是什么。</a:t>
            </a:r>
            <a:endParaRPr/>
          </a:p>
        </p:txBody>
      </p:sp>
      <p:sp>
        <p:nvSpPr>
          <p:cNvPr id="35" name="" descr="{&quot;isTemplate&quot;:true,&quot;type&quot;:&quot;text&quot;}"/>
          <p:cNvSpPr txBox="1"/>
          <p:nvPr/>
        </p:nvSpPr>
        <p:spPr>
          <a:xfrm rot="0" flipH="0" flipV="0">
            <a:off x="876300" y="3657600"/>
            <a:ext cx="10706100" cy="609600"/>
          </a:xfrm>
          <a:prstGeom prst="rect"/>
        </p:spPr>
        <p:txBody>
          <a:bodyPr wrap="none" lIns="0" tIns="0" rIns="0" bIns="0"/>
          <a:p>
            <a:pPr>
              <a:lnSpc>
                <a:spcPct val="190000"/>
              </a:lnSpc>
            </a:pPr>
            <a:r>
              <a:rPr lang="zh-CN" sz="2100">
                <a:solidFill>
                  <a:srgbClr val="1F3A34"/>
                </a:solidFill>
                <a:latin typeface="宋体"/>
                <a:ea typeface="宋体"/>
              </a:rPr>
              <a:t>优秀：还能说出“寻”与“觅”之别。</a:t>
            </a:r>
            <a:endParaRPr/>
          </a:p>
        </p:txBody>
      </p:sp>
      <p:sp>
        <p:nvSpPr>
          <p:cNvPr id="36" name="" descr="{&quot;isTemplate&quot;:true,&quot;type&quot;:&quot;text&quot;}"/>
          <p:cNvSpPr txBox="1"/>
          <p:nvPr/>
        </p:nvSpPr>
        <p:spPr>
          <a:xfrm rot="0" flipH="0" flipV="0">
            <a:off x="609600" y="4533900"/>
            <a:ext cx="10972800" cy="3238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100">
                <a:solidFill>
                  <a:srgbClr val="B4552D"/>
                </a:solidFill>
                <a:latin typeface="宋体"/>
                <a:ea typeface="宋体"/>
              </a:rPr>
              <a:t>只改这一段，</a:t>
            </a:r>
            <a:r>
              <a:rPr lang="en-US" sz="2100">
                <a:solidFill>
                  <a:srgbClr val="B4552D"/>
                </a:solidFill>
                <a:latin typeface="宋体"/>
                <a:ea typeface="宋体"/>
              </a:rPr>
              <a:t xml:space="preserve">3 </a:t>
            </a:r>
            <a:r>
              <a:rPr lang="zh-CN" sz="2100">
                <a:solidFill>
                  <a:srgbClr val="B4552D"/>
                </a:solidFill>
                <a:latin typeface="宋体"/>
                <a:ea typeface="宋体"/>
              </a:rPr>
              <a:t>分钟，不重抄。</a:t>
            </a:r>
            <a:endParaRPr/>
          </a:p>
        </p:txBody>
      </p:sp>
      <p:sp>
        <p:nvSpPr>
          <p:cNvPr id="37" name=""/>
          <p:cNvSpPr/>
          <p:nvPr/>
        </p:nvSpPr>
        <p:spPr>
          <a:xfrm rot="0" flipH="0" flipV="0">
            <a:off x="609600" y="5943600"/>
            <a:ext cx="10972800" cy="381000"/>
          </a:xfrm>
          <a:custGeom>
            <a:pathLst>
              <a:path w="1152" h="40">
                <a:moveTo>
                  <a:pt x="0" y="0"/>
                </a:moveTo>
                <a:lnTo>
                  <a:pt x="1152" y="0"/>
                </a:lnTo>
                <a:lnTo>
                  <a:pt x="1152" y="1"/>
                </a:lnTo>
                <a:lnTo>
                  <a:pt x="0" y="1"/>
                </a:lnTo>
                <a:close/>
              </a:path>
            </a:pathLst>
          </a:custGeom>
          <a:solidFill>
            <a:srgbClr val="1F3A34">
              <a:alpha val="20000"/>
            </a:srgbClr>
          </a:solidFill>
          <a:ln/>
        </p:spPr>
        <p:txBody>
          <a:bodyPr/>
          <a:p/>
        </p:txBody>
      </p:sp>
      <p:sp>
        <p:nvSpPr>
          <p:cNvPr id="38" name="" descr="{&quot;isTemplate&quot;:true,&quot;type&quot;:&quot;text&quot;}"/>
          <p:cNvSpPr txBox="1"/>
          <p:nvPr/>
        </p:nvSpPr>
        <p:spPr>
          <a:xfrm rot="0" flipH="0" flipV="0">
            <a:off x="609600" y="6038850"/>
            <a:ext cx="198120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>
                <a:solidFill>
                  <a:srgbClr val="6B6B6B"/>
                </a:solidFill>
                <a:latin typeface="宋体"/>
                <a:ea typeface="宋体"/>
              </a:rPr>
              <a:t>《声声慢》·</a:t>
            </a:r>
            <a:r>
              <a:rPr lang="en-US" sz="1800">
                <a:solidFill>
                  <a:srgbClr val="6B6B6B"/>
                </a:solidFill>
                <a:latin typeface="宋体"/>
                <a:ea typeface="宋体"/>
              </a:rPr>
              <a:t xml:space="preserve"> </a:t>
            </a:r>
            <a:r>
              <a:rPr lang="zh-CN" sz="1800">
                <a:solidFill>
                  <a:srgbClr val="6B6B6B"/>
                </a:solidFill>
                <a:latin typeface="宋体"/>
                <a:ea typeface="宋体"/>
              </a:rPr>
              <a:t>李清照</a:t>
            </a:r>
            <a:endParaRPr/>
          </a:p>
        </p:txBody>
      </p:sp>
      <p:sp>
        <p:nvSpPr>
          <p:cNvPr id="39" name="" descr="{&quot;isTemplate&quot;:true,&quot;type&quot;:&quot;text&quot;}"/>
          <p:cNvSpPr txBox="1"/>
          <p:nvPr/>
        </p:nvSpPr>
        <p:spPr>
          <a:xfrm rot="0" flipH="0" flipV="0">
            <a:off x="10991850" y="6038850"/>
            <a:ext cx="59055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800">
                <a:solidFill>
                  <a:srgbClr val="B4552D"/>
                </a:solidFill>
                <a:latin typeface="宋体"/>
                <a:ea typeface="宋体"/>
              </a:rPr>
              <a:t>11/16</a:t>
            </a:r>
            <a:endParaRPr/>
          </a:p>
        </p:txBody>
      </p:sp>
    </p:spTree>
  </p:cSld>
</p:sld>
</file>

<file path=ppt/slides/slide12.xml><?xml version="1.0" encoding="utf-8"?>
<p:sld xmlns:p="http://schemas.openxmlformats.org/presentationml/2006/main" xmlns:a="http://schemas.openxmlformats.org/drawingml/2006/main">
  <p:cSld>
    <p:spTree>
      <p:nvGrpSpPr>
        <p:cNvPr id="40" name="" descr="&lt;Slide style={{ background: '#F5F1E6', padding: '48px 64px', fontFamily: '宋体' }}&gt;&#13;&#10;  &lt;Box style={{ flexDirection: 'row', justifyContent: 'space-between', alignItems: 'flex-end', height: 72 }}&gt;&#13;&#10;    &lt;Text style={{ fontSize: 40, fontWeight: 'bold', color: '#1F3A34', lineHeight: 1.2 }}&gt;再验证：动词是哪个&lt;/Text&gt;&#13;&#10;    &lt;Text style={{ fontSize: 24, color: '#6B6B6B' }}&gt;环节四 · 再验证&lt;/Text&gt;&#13;&#10;  &lt;/Box&gt;&#13;&#10;  &lt;Box style={{ height: 472, marginTop: 20, flexDirection: 'column' }}&gt;&#13;&#10;  &lt;Box style={{ marginTop: 24, padding: '32px 40px', background: 'rgba(31,58,52,0.05)' }}&gt;&#13;&#10;    &lt;Text style={{ fontSize: 34, color: '#1F3A34', lineHeight: 1.9 }}&gt;守着窗儿，独自怎生得黑？&lt;/Text&gt;&#13;&#10;  &lt;/Box&gt;&#13;&#10;  &lt;Box style={{ marginTop: 32, borderLeft: '4px solid #B4552D', paddingLeft: 24 }}&gt;&#13;&#10;    &lt;Text style={{ fontSize: 28, color: '#1F3A34', lineHeight: 1.9 }}&gt;这一句的动词是哪个？&lt;/Text&gt;&#13;&#10;    &lt;Text style={{ fontSize: 24, color: '#6B6B6B', marginTop: 12 }}&gt;提示：“怎生”的“生”是语助词。&lt;/Text&gt;&#13;&#10;  &lt;/Box&gt;&#13;&#10;  &lt;/Box&gt;&#13;&#10;  &lt;Box style={{ height: 40, marginTop: 12, borderTop: '1px solid rgba(31,58,52,0.2)', flexDirection: 'row', justifyContent: 'space-between', alignItems: 'center', paddingTop: 8 }}&gt;&#13;&#10;    &lt;Text style={{ fontSize: 24, color: '#6B6B6B' }}&gt;《声声慢》· 李清照&lt;/Text&gt;&#13;&#10;    &lt;Text style={{ fontSize: 24, color: '#B4552D' }}&gt;12/16&lt;/Text&gt;&#13;&#10;  &lt;/Box&gt;&#13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5F1E6"/>
          </a:solidFill>
          <a:ln/>
        </p:spPr>
        <p:txBody>
          <a:bodyPr/>
          <a:p/>
        </p:txBody>
      </p:sp>
      <p:sp>
        <p:nvSpPr>
          <p:cNvPr id="42" name="" descr="{&quot;isTemplate&quot;:true,&quot;type&quot;:&quot;text&quot;}"/>
          <p:cNvSpPr txBox="1"/>
          <p:nvPr/>
        </p:nvSpPr>
        <p:spPr>
          <a:xfrm rot="0" flipH="0" flipV="0">
            <a:off x="609600" y="590550"/>
            <a:ext cx="3429000" cy="552450"/>
          </a:xfrm>
          <a:prstGeom prst="rect"/>
        </p:spPr>
        <p:txBody>
          <a:bodyPr wrap="none" lIns="0" tIns="0" rIns="0" bIns="0"/>
          <a:p>
            <a:pPr>
              <a:lnSpc>
                <a:spcPct val="120000"/>
              </a:lnSpc>
            </a:pPr>
            <a:r>
              <a:rPr lang="zh-CN" sz="3000" b="1">
                <a:solidFill>
                  <a:srgbClr val="1F3A34"/>
                </a:solidFill>
                <a:latin typeface="宋体"/>
                <a:ea typeface="宋体"/>
              </a:rPr>
              <a:t>再验证：动词是哪个</a:t>
            </a:r>
            <a:endParaRPr/>
          </a:p>
        </p:txBody>
      </p:sp>
      <p:sp>
        <p:nvSpPr>
          <p:cNvPr id="43" name="" descr="{&quot;isTemplate&quot;:true,&quot;type&quot;:&quot;text&quot;}"/>
          <p:cNvSpPr txBox="1"/>
          <p:nvPr/>
        </p:nvSpPr>
        <p:spPr>
          <a:xfrm rot="0" flipH="0" flipV="0">
            <a:off x="9982200" y="866775"/>
            <a:ext cx="160020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>
                <a:solidFill>
                  <a:srgbClr val="6B6B6B"/>
                </a:solidFill>
                <a:latin typeface="宋体"/>
                <a:ea typeface="宋体"/>
              </a:rPr>
              <a:t>环节四</a:t>
            </a:r>
            <a:r>
              <a:rPr lang="en-US" sz="1800">
                <a:solidFill>
                  <a:srgbClr val="6B6B6B"/>
                </a:solidFill>
                <a:latin typeface="宋体"/>
                <a:ea typeface="宋体"/>
              </a:rPr>
              <a:t xml:space="preserve"> · </a:t>
            </a:r>
            <a:r>
              <a:rPr lang="zh-CN" sz="1800">
                <a:solidFill>
                  <a:srgbClr val="6B6B6B"/>
                </a:solidFill>
                <a:latin typeface="宋体"/>
                <a:ea typeface="宋体"/>
              </a:rPr>
              <a:t>再验证</a:t>
            </a:r>
            <a:endParaRPr/>
          </a:p>
        </p:txBody>
      </p:sp>
      <p:sp>
        <p:nvSpPr>
          <p:cNvPr id="44" name=""/>
          <p:cNvSpPr/>
          <p:nvPr/>
        </p:nvSpPr>
        <p:spPr>
          <a:xfrm rot="0" flipH="0" flipV="0">
            <a:off x="609600" y="1562100"/>
            <a:ext cx="10972800" cy="1352550"/>
          </a:xfrm>
          <a:prstGeom prst="rect">
            <a:avLst/>
          </a:prstGeom>
          <a:solidFill>
            <a:srgbClr val="1F3A34">
              <a:alpha val="5000"/>
            </a:srgbClr>
          </a:solidFill>
          <a:ln/>
        </p:spPr>
        <p:txBody>
          <a:bodyPr/>
          <a:p/>
        </p:txBody>
      </p:sp>
      <p:sp>
        <p:nvSpPr>
          <p:cNvPr id="45" name="" descr="{&quot;isTemplate&quot;:true,&quot;type&quot;:&quot;text&quot;}"/>
          <p:cNvSpPr txBox="1"/>
          <p:nvPr/>
        </p:nvSpPr>
        <p:spPr>
          <a:xfrm rot="0" flipH="0" flipV="0">
            <a:off x="990600" y="1866900"/>
            <a:ext cx="10210800" cy="742950"/>
          </a:xfrm>
          <a:prstGeom prst="rect"/>
        </p:spPr>
        <p:txBody>
          <a:bodyPr wrap="none" lIns="0" tIns="0" rIns="0" bIns="0"/>
          <a:p>
            <a:pPr>
              <a:lnSpc>
                <a:spcPct val="190000"/>
              </a:lnSpc>
            </a:pPr>
            <a:r>
              <a:rPr lang="zh-CN" sz="2550">
                <a:solidFill>
                  <a:srgbClr val="1F3A34"/>
                </a:solidFill>
                <a:latin typeface="宋体"/>
                <a:ea typeface="宋体"/>
              </a:rPr>
              <a:t>守着窗儿，独自怎生得黑？</a:t>
            </a:r>
            <a:endParaRPr/>
          </a:p>
        </p:txBody>
      </p:sp>
      <p:sp>
        <p:nvSpPr>
          <p:cNvPr id="46" name=""/>
          <p:cNvSpPr/>
          <p:nvPr/>
        </p:nvSpPr>
        <p:spPr>
          <a:xfrm rot="0" flipH="0" flipV="0">
            <a:off x="609600" y="3219450"/>
            <a:ext cx="11010900" cy="1000125"/>
          </a:xfrm>
          <a:custGeom>
            <a:pathLst>
              <a:path w="1156" h="105">
                <a:moveTo>
                  <a:pt x="0" y="0"/>
                </a:moveTo>
                <a:lnTo>
                  <a:pt x="4" y="0"/>
                </a:lnTo>
                <a:lnTo>
                  <a:pt x="4" y="105"/>
                </a:lnTo>
                <a:lnTo>
                  <a:pt x="0" y="105"/>
                </a:lnTo>
                <a:close/>
              </a:path>
            </a:pathLst>
          </a:custGeom>
          <a:solidFill>
            <a:srgbClr val="B4552D"/>
          </a:solidFill>
          <a:ln/>
        </p:spPr>
        <p:txBody>
          <a:bodyPr/>
          <a:p/>
        </p:txBody>
      </p:sp>
      <p:sp>
        <p:nvSpPr>
          <p:cNvPr id="47" name="" descr="{&quot;isTemplate&quot;:true,&quot;type&quot;:&quot;text&quot;}"/>
          <p:cNvSpPr txBox="1"/>
          <p:nvPr/>
        </p:nvSpPr>
        <p:spPr>
          <a:xfrm rot="0" flipH="0" flipV="0">
            <a:off x="876300" y="3219450"/>
            <a:ext cx="10706100" cy="609600"/>
          </a:xfrm>
          <a:prstGeom prst="rect"/>
        </p:spPr>
        <p:txBody>
          <a:bodyPr wrap="none" lIns="0" tIns="0" rIns="0" bIns="0"/>
          <a:p>
            <a:pPr>
              <a:lnSpc>
                <a:spcPct val="190000"/>
              </a:lnSpc>
            </a:pPr>
            <a:r>
              <a:rPr lang="zh-CN" sz="2100">
                <a:solidFill>
                  <a:srgbClr val="1F3A34"/>
                </a:solidFill>
                <a:latin typeface="宋体"/>
                <a:ea typeface="宋体"/>
              </a:rPr>
              <a:t>这一句的动词是哪个？</a:t>
            </a:r>
            <a:endParaRPr/>
          </a:p>
        </p:txBody>
      </p:sp>
      <p:sp>
        <p:nvSpPr>
          <p:cNvPr id="48" name="" descr="{&quot;isTemplate&quot;:true,&quot;type&quot;:&quot;text&quot;}"/>
          <p:cNvSpPr txBox="1"/>
          <p:nvPr/>
        </p:nvSpPr>
        <p:spPr>
          <a:xfrm rot="0" flipH="0" flipV="0">
            <a:off x="876300" y="3943350"/>
            <a:ext cx="1070610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>
                <a:solidFill>
                  <a:srgbClr val="6B6B6B"/>
                </a:solidFill>
                <a:latin typeface="宋体"/>
                <a:ea typeface="宋体"/>
              </a:rPr>
              <a:t>提示：“怎生”的“生”是语助词。</a:t>
            </a:r>
            <a:endParaRPr/>
          </a:p>
        </p:txBody>
      </p:sp>
      <p:sp>
        <p:nvSpPr>
          <p:cNvPr id="49" name=""/>
          <p:cNvSpPr/>
          <p:nvPr/>
        </p:nvSpPr>
        <p:spPr>
          <a:xfrm rot="0" flipH="0" flipV="0">
            <a:off x="609600" y="5943600"/>
            <a:ext cx="10972800" cy="381000"/>
          </a:xfrm>
          <a:custGeom>
            <a:pathLst>
              <a:path w="1152" h="40">
                <a:moveTo>
                  <a:pt x="0" y="0"/>
                </a:moveTo>
                <a:lnTo>
                  <a:pt x="1152" y="0"/>
                </a:lnTo>
                <a:lnTo>
                  <a:pt x="1152" y="1"/>
                </a:lnTo>
                <a:lnTo>
                  <a:pt x="0" y="1"/>
                </a:lnTo>
                <a:close/>
              </a:path>
            </a:pathLst>
          </a:custGeom>
          <a:solidFill>
            <a:srgbClr val="1F3A34">
              <a:alpha val="20000"/>
            </a:srgbClr>
          </a:solidFill>
          <a:ln/>
        </p:spPr>
        <p:txBody>
          <a:bodyPr/>
          <a:p/>
        </p:txBody>
      </p:sp>
      <p:sp>
        <p:nvSpPr>
          <p:cNvPr id="50" name="" descr="{&quot;isTemplate&quot;:true,&quot;type&quot;:&quot;text&quot;}"/>
          <p:cNvSpPr txBox="1"/>
          <p:nvPr/>
        </p:nvSpPr>
        <p:spPr>
          <a:xfrm rot="0" flipH="0" flipV="0">
            <a:off x="609600" y="6038850"/>
            <a:ext cx="198120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>
                <a:solidFill>
                  <a:srgbClr val="6B6B6B"/>
                </a:solidFill>
                <a:latin typeface="宋体"/>
                <a:ea typeface="宋体"/>
              </a:rPr>
              <a:t>《声声慢》·</a:t>
            </a:r>
            <a:r>
              <a:rPr lang="en-US" sz="1800">
                <a:solidFill>
                  <a:srgbClr val="6B6B6B"/>
                </a:solidFill>
                <a:latin typeface="宋体"/>
                <a:ea typeface="宋体"/>
              </a:rPr>
              <a:t xml:space="preserve"> </a:t>
            </a:r>
            <a:r>
              <a:rPr lang="zh-CN" sz="1800">
                <a:solidFill>
                  <a:srgbClr val="6B6B6B"/>
                </a:solidFill>
                <a:latin typeface="宋体"/>
                <a:ea typeface="宋体"/>
              </a:rPr>
              <a:t>李清照</a:t>
            </a:r>
            <a:endParaRPr/>
          </a:p>
        </p:txBody>
      </p:sp>
      <p:sp>
        <p:nvSpPr>
          <p:cNvPr id="51" name="" descr="{&quot;isTemplate&quot;:true,&quot;type&quot;:&quot;text&quot;}"/>
          <p:cNvSpPr txBox="1"/>
          <p:nvPr/>
        </p:nvSpPr>
        <p:spPr>
          <a:xfrm rot="0" flipH="0" flipV="0">
            <a:off x="10991850" y="6038850"/>
            <a:ext cx="59055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800">
                <a:solidFill>
                  <a:srgbClr val="B4552D"/>
                </a:solidFill>
                <a:latin typeface="宋体"/>
                <a:ea typeface="宋体"/>
              </a:rPr>
              <a:t>12/16</a:t>
            </a:r>
            <a:endParaRPr/>
          </a:p>
        </p:txBody>
      </p:sp>
    </p:spTree>
  </p:cSld>
</p:sld>
</file>

<file path=ppt/slides/slide13.xml><?xml version="1.0" encoding="utf-8"?>
<p:sld xmlns:p="http://schemas.openxmlformats.org/presentationml/2006/main" xmlns:a="http://schemas.openxmlformats.org/drawingml/2006/main">
  <p:cSld>
    <p:spTree>
      <p:nvGrpSpPr>
        <p:cNvPr id="52" name="" descr="&lt;Slide style={{ background: '#F5F1E6', padding: '48px 64px', fontFamily: '宋体' }}&gt;&#13;&#10;  &lt;Box style={{ flexDirection: 'row', justifyContent: 'space-between', alignItems: 'flex-end', height: 72 }}&gt;&#13;&#10;    &lt;Text style={{ fontSize: 40, fontWeight: 'bold', color: '#1F3A34', lineHeight: 1.2 }}&gt;这些韵脚，为什么这么短&lt;/Text&gt;&#13;&#10;    &lt;Text style={{ fontSize: 24, color: '#6B6B6B' }}&gt;环节五 · 任务三&lt;/Text&gt;&#13;&#10;  &lt;/Box&gt;&#13;&#10;  &lt;Box style={{ height: 472, marginTop: 20, flexDirection: 'column' }}&gt;&#13;&#10;  &lt;Box style={{ height: 472, justifyContent: 'center', flexDirection: 'column' }}&gt;&#13;&#10;    &lt;Box style={{ flexDirection: 'row', gap: 14 }}&gt;&#13;&#10;      &lt;Box style={{ flex: 1, height: 110, background: 'rgba(31,58,52,0.06)', alignItems: 'center', justifyContent: 'center' }}&gt;&#13;&#10;        &lt;Text style={{ fontSize: 34, fontWeight: 'bold', color: '#1F3A34' }}&gt;觅&lt;/Text&gt;&#13;&#10;      &lt;/Box&gt;&lt;Box style={{ flex: 1, height: 110, background: 'rgba(31,58,52,0.06)', alignItems: 'center', justifyContent: 'center' }}&gt;&#13;&#10;        &lt;Text style={{ fontSize: 34, fontWeight: 'bold', color: '#1F3A34' }}&gt;戚&lt;/Text&gt;&#13;&#10;      &lt;/Box&gt;&lt;Box style={{ flex: 1, height: 110, background: 'rgba(31,58,52,0.06)', alignItems: 'center', justifyContent: 'center' }}&gt;&#13;&#10;        &lt;Text style={{ fontSize: 34, fontWeight: 'bold', color: '#1F3A34' }}&gt;息&lt;/Text&gt;&#13;&#10;      &lt;/Box&gt;&lt;Box style={{ flex: 1, height: 110, background: 'rgba(31,58,52,0.06)', alignItems: 'center', justifyContent: 'center' }}&gt;&#13;&#10;        &lt;Text style={{ fontSize: 34, fontWeight: 'bold', color: '#1F3A34' }}&gt;急&lt;/Text&gt;&#13;&#10;      &lt;/Box&gt;&lt;Box style={{ flex: 1, height: 110, background: 'rgba(31,58,52,0.06)', alignItems: 'center', justifyContent: 'center' }}&gt;&#13;&#10;        &lt;Text style={{ fontSize: 34, fontWeight: 'bold', color: '#1F3A34' }}&gt;识&lt;/Text&gt;&#13;&#10;      &lt;/Box&gt;&lt;Box style={{ flex: 1, height: 110, background: 'rgba(31,58,52,0.06)', alignItems: 'center', justifyContent: 'center' }}&gt;&#13;&#10;        &lt;Text style={{ fontSize: 34, fontWeight: 'bold', color: '#1F3A34' }}&gt;积&lt;/Text&gt;&#13;&#10;      &lt;/Box&gt;&lt;Box style={{ flex: 1, height: 110, background: 'rgba(31,58,52,0.06)', alignItems: 'center', justifyContent: 'center' }}&gt;&#13;&#10;        &lt;Text style={{ fontSize: 34, fontWeight: 'bold', color: '#1F3A34' }}&gt;摘&lt;/Text&gt;&#13;&#10;      &lt;/Box&gt;&lt;Box style={{ flex: 1, height: 110, background: 'rgba(31,58,52,0.06)', alignItems: 'center', justifyContent: 'center' }}&gt;&#13;&#10;        &lt;Text style={{ fontSize: 34, fontWeight: 'bold', color: '#1F3A34' }}&gt;黑&lt;/Text&gt;&#13;&#10;      &lt;/Box&gt;&lt;Box style={{ flex: 1, height: 110, background: 'rgba(31,58,52,0.06)', alignItems: 'center', justifyContent: 'center' }}&gt;&#13;&#10;        &lt;Text style={{ fontSize: 34, fontWeight: 'bold', color: '#1F3A34' }}&gt;滴&lt;/Text&gt;&#13;&#10;      &lt;/Box&gt;&lt;Box style={{ flex: 1, height: 110, background: 'rgba(31,58,52,0.06)', alignItems: 'center', justifyContent: 'center' }}&gt;&#13;&#10;        &lt;Text style={{ fontSize: 34, fontWeight: 'bold', color: '#1F3A34' }}&gt;得&lt;/Text&gt;&#13;&#10;      &lt;/Box&gt;&#13;&#10;    &lt;/Box&gt;&#13;&#10;    &lt;Text style={{ fontSize: 28, color: '#1F3A34', marginTop: 36 }}&gt;十个韵脚连起来读，声音是被拖长，还是被收住？&lt;/Text&gt;&#13;&#10;    &lt;Text style={{ fontSize: 24, color: '#6B6B6B', marginTop: 12 }}&gt;这一句的感觉，不是想出来的，是读出来的。&lt;/Text&gt;&#13;&#10;  &lt;/Box&gt;&#13;&#10;  &lt;/Box&gt;&#13;&#10;  &lt;Box style={{ height: 40, marginTop: 12, borderTop: '1px solid rgba(31,58,52,0.2)', flexDirection: 'row', justifyContent: 'space-between', alignItems: 'center', paddingTop: 8 }}&gt;&#13;&#10;    &lt;Text style={{ fontSize: 24, color: '#6B6B6B' }}&gt;《声声慢》· 李清照&lt;/Text&gt;&#13;&#10;    &lt;Text style={{ fontSize: 24, color: '#B4552D' }}&gt;13/16&lt;/Text&gt;&#13;&#10;  &lt;/Box&gt;&#13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5F1E6"/>
          </a:solidFill>
          <a:ln/>
        </p:spPr>
        <p:txBody>
          <a:bodyPr/>
          <a:p/>
        </p:txBody>
      </p:sp>
      <p:sp>
        <p:nvSpPr>
          <p:cNvPr id="54" name="" descr="{&quot;isTemplate&quot;:true,&quot;type&quot;:&quot;text&quot;}"/>
          <p:cNvSpPr txBox="1"/>
          <p:nvPr/>
        </p:nvSpPr>
        <p:spPr>
          <a:xfrm rot="0" flipH="0" flipV="0">
            <a:off x="609600" y="590550"/>
            <a:ext cx="4191000" cy="552450"/>
          </a:xfrm>
          <a:prstGeom prst="rect"/>
        </p:spPr>
        <p:txBody>
          <a:bodyPr wrap="none" lIns="0" tIns="0" rIns="0" bIns="0"/>
          <a:p>
            <a:pPr>
              <a:lnSpc>
                <a:spcPct val="120000"/>
              </a:lnSpc>
            </a:pPr>
            <a:r>
              <a:rPr lang="zh-CN" sz="3000" b="1">
                <a:solidFill>
                  <a:srgbClr val="1F3A34"/>
                </a:solidFill>
                <a:latin typeface="宋体"/>
                <a:ea typeface="宋体"/>
              </a:rPr>
              <a:t>这些韵脚，为什么这么短</a:t>
            </a:r>
            <a:endParaRPr/>
          </a:p>
        </p:txBody>
      </p:sp>
      <p:sp>
        <p:nvSpPr>
          <p:cNvPr id="55" name="" descr="{&quot;isTemplate&quot;:true,&quot;type&quot;:&quot;text&quot;}"/>
          <p:cNvSpPr txBox="1"/>
          <p:nvPr/>
        </p:nvSpPr>
        <p:spPr>
          <a:xfrm rot="0" flipH="0" flipV="0">
            <a:off x="9982200" y="866775"/>
            <a:ext cx="160020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>
                <a:solidFill>
                  <a:srgbClr val="6B6B6B"/>
                </a:solidFill>
                <a:latin typeface="宋体"/>
                <a:ea typeface="宋体"/>
              </a:rPr>
              <a:t>环节五</a:t>
            </a:r>
            <a:r>
              <a:rPr lang="en-US" sz="1800">
                <a:solidFill>
                  <a:srgbClr val="6B6B6B"/>
                </a:solidFill>
                <a:latin typeface="宋体"/>
                <a:ea typeface="宋体"/>
              </a:rPr>
              <a:t xml:space="preserve"> · </a:t>
            </a:r>
            <a:r>
              <a:rPr lang="zh-CN" sz="1800">
                <a:solidFill>
                  <a:srgbClr val="6B6B6B"/>
                </a:solidFill>
                <a:latin typeface="宋体"/>
                <a:ea typeface="宋体"/>
              </a:rPr>
              <a:t>任务三</a:t>
            </a:r>
            <a:endParaRPr/>
          </a:p>
        </p:txBody>
      </p:sp>
      <p:sp>
        <p:nvSpPr>
          <p:cNvPr id="56" name=""/>
          <p:cNvSpPr/>
          <p:nvPr/>
        </p:nvSpPr>
        <p:spPr>
          <a:xfrm rot="0" flipH="0" flipV="0">
            <a:off x="609600" y="2533650"/>
            <a:ext cx="981075" cy="1047750"/>
          </a:xfrm>
          <a:prstGeom prst="rect">
            <a:avLst/>
          </a:prstGeom>
          <a:solidFill>
            <a:srgbClr val="1F3A34">
              <a:alpha val="6000"/>
            </a:srgbClr>
          </a:solidFill>
          <a:ln/>
        </p:spPr>
        <p:txBody>
          <a:bodyPr/>
          <a:p/>
        </p:txBody>
      </p:sp>
      <p:sp>
        <p:nvSpPr>
          <p:cNvPr id="57" name="" descr="{&quot;isTemplate&quot;:true,&quot;type&quot;:&quot;text&quot;}"/>
          <p:cNvSpPr txBox="1"/>
          <p:nvPr/>
        </p:nvSpPr>
        <p:spPr>
          <a:xfrm rot="0" flipH="0" flipV="0">
            <a:off x="942975" y="2867025"/>
            <a:ext cx="32385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1F3A34"/>
                </a:solidFill>
                <a:latin typeface="宋体"/>
                <a:ea typeface="宋体"/>
              </a:rPr>
              <a:t>觅</a:t>
            </a:r>
            <a:endParaRPr/>
          </a:p>
        </p:txBody>
      </p:sp>
      <p:sp>
        <p:nvSpPr>
          <p:cNvPr id="58" name=""/>
          <p:cNvSpPr/>
          <p:nvPr/>
        </p:nvSpPr>
        <p:spPr>
          <a:xfrm rot="0" flipH="0" flipV="0">
            <a:off x="1724025" y="2533650"/>
            <a:ext cx="971550" cy="1047750"/>
          </a:xfrm>
          <a:prstGeom prst="rect">
            <a:avLst/>
          </a:prstGeom>
          <a:solidFill>
            <a:srgbClr val="1F3A34">
              <a:alpha val="6000"/>
            </a:srgbClr>
          </a:solidFill>
          <a:ln/>
        </p:spPr>
        <p:txBody>
          <a:bodyPr/>
          <a:p/>
        </p:txBody>
      </p:sp>
      <p:sp>
        <p:nvSpPr>
          <p:cNvPr id="59" name="" descr="{&quot;isTemplate&quot;:true,&quot;type&quot;:&quot;text&quot;}"/>
          <p:cNvSpPr txBox="1"/>
          <p:nvPr/>
        </p:nvSpPr>
        <p:spPr>
          <a:xfrm rot="0" flipH="0" flipV="0">
            <a:off x="2047875" y="2867025"/>
            <a:ext cx="32385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1F3A34"/>
                </a:solidFill>
                <a:latin typeface="宋体"/>
                <a:ea typeface="宋体"/>
              </a:rPr>
              <a:t>戚</a:t>
            </a:r>
            <a:endParaRPr/>
          </a:p>
        </p:txBody>
      </p:sp>
      <p:sp>
        <p:nvSpPr>
          <p:cNvPr id="60" name=""/>
          <p:cNvSpPr/>
          <p:nvPr/>
        </p:nvSpPr>
        <p:spPr>
          <a:xfrm rot="0" flipH="0" flipV="0">
            <a:off x="2828925" y="2533650"/>
            <a:ext cx="981075" cy="1047750"/>
          </a:xfrm>
          <a:prstGeom prst="rect">
            <a:avLst/>
          </a:prstGeom>
          <a:solidFill>
            <a:srgbClr val="1F3A34">
              <a:alpha val="6000"/>
            </a:srgbClr>
          </a:solidFill>
          <a:ln/>
        </p:spPr>
        <p:txBody>
          <a:bodyPr/>
          <a:p/>
        </p:txBody>
      </p:sp>
      <p:sp>
        <p:nvSpPr>
          <p:cNvPr id="61" name="" descr="{&quot;isTemplate&quot;:true,&quot;type&quot;:&quot;text&quot;}"/>
          <p:cNvSpPr txBox="1"/>
          <p:nvPr/>
        </p:nvSpPr>
        <p:spPr>
          <a:xfrm rot="0" flipH="0" flipV="0">
            <a:off x="3162300" y="2867025"/>
            <a:ext cx="32385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1F3A34"/>
                </a:solidFill>
                <a:latin typeface="宋体"/>
                <a:ea typeface="宋体"/>
              </a:rPr>
              <a:t>息</a:t>
            </a:r>
            <a:endParaRPr/>
          </a:p>
        </p:txBody>
      </p:sp>
      <p:sp>
        <p:nvSpPr>
          <p:cNvPr id="62" name=""/>
          <p:cNvSpPr/>
          <p:nvPr/>
        </p:nvSpPr>
        <p:spPr>
          <a:xfrm rot="0" flipH="0" flipV="0">
            <a:off x="3943350" y="2533650"/>
            <a:ext cx="971550" cy="1047750"/>
          </a:xfrm>
          <a:prstGeom prst="rect">
            <a:avLst/>
          </a:prstGeom>
          <a:solidFill>
            <a:srgbClr val="1F3A34">
              <a:alpha val="6000"/>
            </a:srgbClr>
          </a:solidFill>
          <a:ln/>
        </p:spPr>
        <p:txBody>
          <a:bodyPr/>
          <a:p/>
        </p:txBody>
      </p:sp>
      <p:sp>
        <p:nvSpPr>
          <p:cNvPr id="63" name="" descr="{&quot;isTemplate&quot;:true,&quot;type&quot;:&quot;text&quot;}"/>
          <p:cNvSpPr txBox="1"/>
          <p:nvPr/>
        </p:nvSpPr>
        <p:spPr>
          <a:xfrm rot="0" flipH="0" flipV="0">
            <a:off x="4267200" y="2867025"/>
            <a:ext cx="32385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1F3A34"/>
                </a:solidFill>
                <a:latin typeface="宋体"/>
                <a:ea typeface="宋体"/>
              </a:rPr>
              <a:t>急</a:t>
            </a:r>
            <a:endParaRPr/>
          </a:p>
        </p:txBody>
      </p:sp>
      <p:sp>
        <p:nvSpPr>
          <p:cNvPr id="64" name=""/>
          <p:cNvSpPr/>
          <p:nvPr/>
        </p:nvSpPr>
        <p:spPr>
          <a:xfrm rot="0" flipH="0" flipV="0">
            <a:off x="5048250" y="2533650"/>
            <a:ext cx="981075" cy="1047750"/>
          </a:xfrm>
          <a:prstGeom prst="rect">
            <a:avLst/>
          </a:prstGeom>
          <a:solidFill>
            <a:srgbClr val="1F3A34">
              <a:alpha val="6000"/>
            </a:srgbClr>
          </a:solidFill>
          <a:ln/>
        </p:spPr>
        <p:txBody>
          <a:bodyPr/>
          <a:p/>
        </p:txBody>
      </p:sp>
      <p:sp>
        <p:nvSpPr>
          <p:cNvPr id="65" name="" descr="{&quot;isTemplate&quot;:true,&quot;type&quot;:&quot;text&quot;}"/>
          <p:cNvSpPr txBox="1"/>
          <p:nvPr/>
        </p:nvSpPr>
        <p:spPr>
          <a:xfrm rot="0" flipH="0" flipV="0">
            <a:off x="5381625" y="2867025"/>
            <a:ext cx="32385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1F3A34"/>
                </a:solidFill>
                <a:latin typeface="宋体"/>
                <a:ea typeface="宋体"/>
              </a:rPr>
              <a:t>识</a:t>
            </a:r>
            <a:endParaRPr/>
          </a:p>
        </p:txBody>
      </p:sp>
      <p:sp>
        <p:nvSpPr>
          <p:cNvPr id="66" name=""/>
          <p:cNvSpPr/>
          <p:nvPr/>
        </p:nvSpPr>
        <p:spPr>
          <a:xfrm rot="0" flipH="0" flipV="0">
            <a:off x="6162675" y="2533650"/>
            <a:ext cx="981075" cy="1047750"/>
          </a:xfrm>
          <a:prstGeom prst="rect">
            <a:avLst/>
          </a:prstGeom>
          <a:solidFill>
            <a:srgbClr val="1F3A34">
              <a:alpha val="6000"/>
            </a:srgbClr>
          </a:solidFill>
          <a:ln/>
        </p:spPr>
        <p:txBody>
          <a:bodyPr/>
          <a:p/>
        </p:txBody>
      </p:sp>
      <p:sp>
        <p:nvSpPr>
          <p:cNvPr id="67" name="" descr="{&quot;isTemplate&quot;:true,&quot;type&quot;:&quot;text&quot;}"/>
          <p:cNvSpPr txBox="1"/>
          <p:nvPr/>
        </p:nvSpPr>
        <p:spPr>
          <a:xfrm rot="0" flipH="0" flipV="0">
            <a:off x="6496050" y="2867025"/>
            <a:ext cx="32385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1F3A34"/>
                </a:solidFill>
                <a:latin typeface="宋体"/>
                <a:ea typeface="宋体"/>
              </a:rPr>
              <a:t>积</a:t>
            </a:r>
            <a:endParaRPr/>
          </a:p>
        </p:txBody>
      </p:sp>
      <p:sp>
        <p:nvSpPr>
          <p:cNvPr id="68" name=""/>
          <p:cNvSpPr/>
          <p:nvPr/>
        </p:nvSpPr>
        <p:spPr>
          <a:xfrm rot="0" flipH="0" flipV="0">
            <a:off x="7277100" y="2533650"/>
            <a:ext cx="971550" cy="1047750"/>
          </a:xfrm>
          <a:prstGeom prst="rect">
            <a:avLst/>
          </a:prstGeom>
          <a:solidFill>
            <a:srgbClr val="1F3A34">
              <a:alpha val="6000"/>
            </a:srgbClr>
          </a:solidFill>
          <a:ln/>
        </p:spPr>
        <p:txBody>
          <a:bodyPr/>
          <a:p/>
        </p:txBody>
      </p:sp>
      <p:sp>
        <p:nvSpPr>
          <p:cNvPr id="69" name="" descr="{&quot;isTemplate&quot;:true,&quot;type&quot;:&quot;text&quot;}"/>
          <p:cNvSpPr txBox="1"/>
          <p:nvPr/>
        </p:nvSpPr>
        <p:spPr>
          <a:xfrm rot="0" flipH="0" flipV="0">
            <a:off x="7600950" y="2867025"/>
            <a:ext cx="32385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1F3A34"/>
                </a:solidFill>
                <a:latin typeface="宋体"/>
                <a:ea typeface="宋体"/>
              </a:rPr>
              <a:t>摘</a:t>
            </a:r>
            <a:endParaRPr/>
          </a:p>
        </p:txBody>
      </p:sp>
      <p:sp>
        <p:nvSpPr>
          <p:cNvPr id="70" name=""/>
          <p:cNvSpPr/>
          <p:nvPr/>
        </p:nvSpPr>
        <p:spPr>
          <a:xfrm rot="0" flipH="0" flipV="0">
            <a:off x="8382000" y="2533650"/>
            <a:ext cx="981075" cy="1047750"/>
          </a:xfrm>
          <a:prstGeom prst="rect">
            <a:avLst/>
          </a:prstGeom>
          <a:solidFill>
            <a:srgbClr val="1F3A34">
              <a:alpha val="6000"/>
            </a:srgbClr>
          </a:solidFill>
          <a:ln/>
        </p:spPr>
        <p:txBody>
          <a:bodyPr/>
          <a:p/>
        </p:txBody>
      </p:sp>
      <p:sp>
        <p:nvSpPr>
          <p:cNvPr id="71" name="" descr="{&quot;isTemplate&quot;:true,&quot;type&quot;:&quot;text&quot;}"/>
          <p:cNvSpPr txBox="1"/>
          <p:nvPr/>
        </p:nvSpPr>
        <p:spPr>
          <a:xfrm rot="0" flipH="0" flipV="0">
            <a:off x="8715375" y="2867025"/>
            <a:ext cx="32385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1F3A34"/>
                </a:solidFill>
                <a:latin typeface="宋体"/>
                <a:ea typeface="宋体"/>
              </a:rPr>
              <a:t>黑</a:t>
            </a:r>
            <a:endParaRPr/>
          </a:p>
        </p:txBody>
      </p:sp>
      <p:sp>
        <p:nvSpPr>
          <p:cNvPr id="72" name=""/>
          <p:cNvSpPr/>
          <p:nvPr/>
        </p:nvSpPr>
        <p:spPr>
          <a:xfrm rot="0" flipH="0" flipV="0">
            <a:off x="9496425" y="2533650"/>
            <a:ext cx="971550" cy="1047750"/>
          </a:xfrm>
          <a:prstGeom prst="rect">
            <a:avLst/>
          </a:prstGeom>
          <a:solidFill>
            <a:srgbClr val="1F3A34">
              <a:alpha val="6000"/>
            </a:srgbClr>
          </a:solidFill>
          <a:ln/>
        </p:spPr>
        <p:txBody>
          <a:bodyPr/>
          <a:p/>
        </p:txBody>
      </p:sp>
      <p:sp>
        <p:nvSpPr>
          <p:cNvPr id="73" name="" descr="{&quot;isTemplate&quot;:true,&quot;type&quot;:&quot;text&quot;}"/>
          <p:cNvSpPr txBox="1"/>
          <p:nvPr/>
        </p:nvSpPr>
        <p:spPr>
          <a:xfrm rot="0" flipH="0" flipV="0">
            <a:off x="9820275" y="2867025"/>
            <a:ext cx="32385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1F3A34"/>
                </a:solidFill>
                <a:latin typeface="宋体"/>
                <a:ea typeface="宋体"/>
              </a:rPr>
              <a:t>滴</a:t>
            </a:r>
            <a:endParaRPr/>
          </a:p>
        </p:txBody>
      </p:sp>
      <p:sp>
        <p:nvSpPr>
          <p:cNvPr id="74" name=""/>
          <p:cNvSpPr/>
          <p:nvPr/>
        </p:nvSpPr>
        <p:spPr>
          <a:xfrm rot="0" flipH="0" flipV="0">
            <a:off x="10601325" y="2533650"/>
            <a:ext cx="981075" cy="1047750"/>
          </a:xfrm>
          <a:prstGeom prst="rect">
            <a:avLst/>
          </a:prstGeom>
          <a:solidFill>
            <a:srgbClr val="1F3A34">
              <a:alpha val="6000"/>
            </a:srgbClr>
          </a:solidFill>
          <a:ln/>
        </p:spPr>
        <p:txBody>
          <a:bodyPr/>
          <a:p/>
        </p:txBody>
      </p:sp>
      <p:sp>
        <p:nvSpPr>
          <p:cNvPr id="75" name="" descr="{&quot;isTemplate&quot;:true,&quot;type&quot;:&quot;text&quot;}"/>
          <p:cNvSpPr txBox="1"/>
          <p:nvPr/>
        </p:nvSpPr>
        <p:spPr>
          <a:xfrm rot="0" flipH="0" flipV="0">
            <a:off x="10934700" y="2867025"/>
            <a:ext cx="32385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1F3A34"/>
                </a:solidFill>
                <a:latin typeface="宋体"/>
                <a:ea typeface="宋体"/>
              </a:rPr>
              <a:t>得</a:t>
            </a:r>
            <a:endParaRPr/>
          </a:p>
        </p:txBody>
      </p:sp>
      <p:sp>
        <p:nvSpPr>
          <p:cNvPr id="76" name="" descr="{&quot;isTemplate&quot;:true,&quot;type&quot;:&quot;text&quot;}"/>
          <p:cNvSpPr txBox="1"/>
          <p:nvPr/>
        </p:nvSpPr>
        <p:spPr>
          <a:xfrm rot="0" flipH="0" flipV="0">
            <a:off x="609600" y="3924300"/>
            <a:ext cx="10972800" cy="3238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100">
                <a:solidFill>
                  <a:srgbClr val="1F3A34"/>
                </a:solidFill>
                <a:latin typeface="宋体"/>
                <a:ea typeface="宋体"/>
              </a:rPr>
              <a:t>十个韵脚连起来读，声音是被拖长，还是被收住？</a:t>
            </a:r>
            <a:endParaRPr/>
          </a:p>
        </p:txBody>
      </p:sp>
      <p:sp>
        <p:nvSpPr>
          <p:cNvPr id="77" name="" descr="{&quot;isTemplate&quot;:true,&quot;type&quot;:&quot;text&quot;}"/>
          <p:cNvSpPr txBox="1"/>
          <p:nvPr/>
        </p:nvSpPr>
        <p:spPr>
          <a:xfrm rot="0" flipH="0" flipV="0">
            <a:off x="609600" y="4362450"/>
            <a:ext cx="1097280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>
                <a:solidFill>
                  <a:srgbClr val="6B6B6B"/>
                </a:solidFill>
                <a:latin typeface="宋体"/>
                <a:ea typeface="宋体"/>
              </a:rPr>
              <a:t>这一句的感觉，不是想出来的，是读出来的。</a:t>
            </a:r>
            <a:endParaRPr/>
          </a:p>
        </p:txBody>
      </p:sp>
      <p:sp>
        <p:nvSpPr>
          <p:cNvPr id="78" name=""/>
          <p:cNvSpPr/>
          <p:nvPr/>
        </p:nvSpPr>
        <p:spPr>
          <a:xfrm rot="0" flipH="0" flipV="0">
            <a:off x="609600" y="5943600"/>
            <a:ext cx="10972800" cy="381000"/>
          </a:xfrm>
          <a:custGeom>
            <a:pathLst>
              <a:path w="1152" h="40">
                <a:moveTo>
                  <a:pt x="0" y="0"/>
                </a:moveTo>
                <a:lnTo>
                  <a:pt x="1152" y="0"/>
                </a:lnTo>
                <a:lnTo>
                  <a:pt x="1152" y="1"/>
                </a:lnTo>
                <a:lnTo>
                  <a:pt x="0" y="1"/>
                </a:lnTo>
                <a:close/>
              </a:path>
            </a:pathLst>
          </a:custGeom>
          <a:solidFill>
            <a:srgbClr val="1F3A34">
              <a:alpha val="20000"/>
            </a:srgbClr>
          </a:solidFill>
          <a:ln/>
        </p:spPr>
        <p:txBody>
          <a:bodyPr/>
          <a:p/>
        </p:txBody>
      </p:sp>
      <p:sp>
        <p:nvSpPr>
          <p:cNvPr id="79" name="" descr="{&quot;isTemplate&quot;:true,&quot;type&quot;:&quot;text&quot;}"/>
          <p:cNvSpPr txBox="1"/>
          <p:nvPr/>
        </p:nvSpPr>
        <p:spPr>
          <a:xfrm rot="0" flipH="0" flipV="0">
            <a:off x="609600" y="6038850"/>
            <a:ext cx="198120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>
                <a:solidFill>
                  <a:srgbClr val="6B6B6B"/>
                </a:solidFill>
                <a:latin typeface="宋体"/>
                <a:ea typeface="宋体"/>
              </a:rPr>
              <a:t>《声声慢》·</a:t>
            </a:r>
            <a:r>
              <a:rPr lang="en-US" sz="1800">
                <a:solidFill>
                  <a:srgbClr val="6B6B6B"/>
                </a:solidFill>
                <a:latin typeface="宋体"/>
                <a:ea typeface="宋体"/>
              </a:rPr>
              <a:t xml:space="preserve"> </a:t>
            </a:r>
            <a:r>
              <a:rPr lang="zh-CN" sz="1800">
                <a:solidFill>
                  <a:srgbClr val="6B6B6B"/>
                </a:solidFill>
                <a:latin typeface="宋体"/>
                <a:ea typeface="宋体"/>
              </a:rPr>
              <a:t>李清照</a:t>
            </a:r>
            <a:endParaRPr/>
          </a:p>
        </p:txBody>
      </p:sp>
      <p:sp>
        <p:nvSpPr>
          <p:cNvPr id="80" name="" descr="{&quot;isTemplate&quot;:true,&quot;type&quot;:&quot;text&quot;}"/>
          <p:cNvSpPr txBox="1"/>
          <p:nvPr/>
        </p:nvSpPr>
        <p:spPr>
          <a:xfrm rot="0" flipH="0" flipV="0">
            <a:off x="10991850" y="6038850"/>
            <a:ext cx="59055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800">
                <a:solidFill>
                  <a:srgbClr val="B4552D"/>
                </a:solidFill>
                <a:latin typeface="宋体"/>
                <a:ea typeface="宋体"/>
              </a:rPr>
              <a:t>13/16</a:t>
            </a:r>
            <a:endParaRPr/>
          </a:p>
        </p:txBody>
      </p:sp>
    </p:spTree>
  </p:cSld>
</p:sld>
</file>

<file path=ppt/slides/slide14.xml><?xml version="1.0" encoding="utf-8"?>
<p:sld xmlns:p="http://schemas.openxmlformats.org/presentationml/2006/main" xmlns:a="http://schemas.openxmlformats.org/drawingml/2006/main">
  <p:cSld>
    <p:spTree>
      <p:nvGrpSpPr>
        <p:cNvPr id="81" name="" descr="&lt;Slide style={{ background: '#F5F1E6', padding: '48px 64px', fontFamily: '宋体' }}&gt;&#13;&#10;  &lt;Box style={{ flexDirection: 'row', justifyContent: 'space-between', alignItems: 'flex-end', height: 72 }}&gt;&#13;&#10;    &lt;Text style={{ fontSize: 40, fontWeight: 'bold', color: '#1F3A34', lineHeight: 1.2 }}&gt;有人说它伧气&lt;/Text&gt;&#13;&#10;    &lt;Text style={{ fontSize: 24, color: '#6B6B6B' }}&gt;环节五 · 任务三&lt;/Text&gt;&#13;&#10;  &lt;/Box&gt;&#13;&#10;  &lt;Box style={{ height: 472, marginTop: 20, flexDirection: 'column' }}&gt;&#13;&#10;  &lt;Box style={{ height: 472, flexDirection: 'column', justifyContent: 'center', gap: 18 }}&gt;&#13;&#10;    &lt;Box style={{ padding: '22px 28px', background: 'rgba(31,58,52,0.06)', borderLeft: '4px solid #1F3A34' }}&gt;&#13;&#10;      &lt;Text style={{ fontSize: 26, color: '#1F3A34', lineHeight: 1.7 }}&gt;许昂霄：此词颇带伧气，而昔人极口称之，殆不可解。&lt;/Text&gt;&#13;&#10;    &lt;/Box&gt;&#13;&#10;    &lt;Box style={{ padding: '22px 28px', background: 'rgba(31,58,52,0.06)', borderLeft: '4px solid #1F3A34' }}&gt;&#13;&#10;      &lt;Text style={{ fontSize: 26, color: '#1F3A34', lineHeight: 1.7 }}&gt;陈廷焯：此不过奇笔耳，并非高调。&lt;/Text&gt;&#13;&#10;    &lt;/Box&gt;&#13;&#10;    &lt;Box style={{ marginTop: 10, borderLeft: '4px solid #B4552D', paddingLeft: 24 }}&gt;&#13;&#10;      &lt;Text style={{ fontSize: 28, fontWeight: 'bold', color: '#B4552D' }}&gt;你同意吗？举一句词为证。&lt;/Text&gt;&#13;&#10;      &lt;Text style={{ fontSize: 24, color: '#6B6B6B', marginTop: 10 }}&gt;不举词句的表态，同意与不同意都不算。&lt;/Text&gt;&#13;&#10;    &lt;/Box&gt;&#13;&#10;  &lt;/Box&gt;&#13;&#10;  &lt;/Box&gt;&#13;&#10;  &lt;Box style={{ height: 40, marginTop: 12, borderTop: '1px solid rgba(31,58,52,0.2)', flexDirection: 'row', justifyContent: 'space-between', alignItems: 'center', paddingTop: 8 }}&gt;&#13;&#10;    &lt;Text style={{ fontSize: 24, color: '#6B6B6B' }}&gt;《声声慢》· 李清照&lt;/Text&gt;&#13;&#10;    &lt;Text style={{ fontSize: 24, color: '#B4552D' }}&gt;14/16&lt;/Text&gt;&#13;&#10;  &lt;/Box&gt;&#13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5F1E6"/>
          </a:solidFill>
          <a:ln/>
        </p:spPr>
        <p:txBody>
          <a:bodyPr/>
          <a:p/>
        </p:txBody>
      </p:sp>
      <p:sp>
        <p:nvSpPr>
          <p:cNvPr id="83" name="" descr="{&quot;isTemplate&quot;:true,&quot;type&quot;:&quot;text&quot;}"/>
          <p:cNvSpPr txBox="1"/>
          <p:nvPr/>
        </p:nvSpPr>
        <p:spPr>
          <a:xfrm rot="0" flipH="0" flipV="0">
            <a:off x="609600" y="590550"/>
            <a:ext cx="2286000" cy="552450"/>
          </a:xfrm>
          <a:prstGeom prst="rect"/>
        </p:spPr>
        <p:txBody>
          <a:bodyPr wrap="none" lIns="0" tIns="0" rIns="0" bIns="0"/>
          <a:p>
            <a:pPr>
              <a:lnSpc>
                <a:spcPct val="120000"/>
              </a:lnSpc>
            </a:pPr>
            <a:r>
              <a:rPr lang="zh-CN" sz="3000" b="1">
                <a:solidFill>
                  <a:srgbClr val="1F3A34"/>
                </a:solidFill>
                <a:latin typeface="宋体"/>
                <a:ea typeface="宋体"/>
              </a:rPr>
              <a:t>有人说它伧气</a:t>
            </a:r>
            <a:endParaRPr/>
          </a:p>
        </p:txBody>
      </p:sp>
      <p:sp>
        <p:nvSpPr>
          <p:cNvPr id="84" name="" descr="{&quot;isTemplate&quot;:true,&quot;type&quot;:&quot;text&quot;}"/>
          <p:cNvSpPr txBox="1"/>
          <p:nvPr/>
        </p:nvSpPr>
        <p:spPr>
          <a:xfrm rot="0" flipH="0" flipV="0">
            <a:off x="9982200" y="866775"/>
            <a:ext cx="160020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>
                <a:solidFill>
                  <a:srgbClr val="6B6B6B"/>
                </a:solidFill>
                <a:latin typeface="宋体"/>
                <a:ea typeface="宋体"/>
              </a:rPr>
              <a:t>环节五</a:t>
            </a:r>
            <a:r>
              <a:rPr lang="en-US" sz="1800">
                <a:solidFill>
                  <a:srgbClr val="6B6B6B"/>
                </a:solidFill>
                <a:latin typeface="宋体"/>
                <a:ea typeface="宋体"/>
              </a:rPr>
              <a:t xml:space="preserve"> · </a:t>
            </a:r>
            <a:r>
              <a:rPr lang="zh-CN" sz="1800">
                <a:solidFill>
                  <a:srgbClr val="6B6B6B"/>
                </a:solidFill>
                <a:latin typeface="宋体"/>
                <a:ea typeface="宋体"/>
              </a:rPr>
              <a:t>任务三</a:t>
            </a:r>
            <a:endParaRPr/>
          </a:p>
        </p:txBody>
      </p:sp>
      <p:sp>
        <p:nvSpPr>
          <p:cNvPr id="85" name=""/>
          <p:cNvSpPr/>
          <p:nvPr/>
        </p:nvSpPr>
        <p:spPr>
          <a:xfrm rot="0" flipH="0" flipV="0">
            <a:off x="647700" y="2085975"/>
            <a:ext cx="10972800" cy="933450"/>
          </a:xfrm>
          <a:prstGeom prst="rect">
            <a:avLst/>
          </a:prstGeom>
          <a:solidFill>
            <a:srgbClr val="1F3A34">
              <a:alpha val="6000"/>
            </a:srgbClr>
          </a:solidFill>
          <a:ln/>
        </p:spPr>
        <p:txBody>
          <a:bodyPr/>
          <a:p/>
        </p:txBody>
      </p:sp>
      <p:sp>
        <p:nvSpPr>
          <p:cNvPr id="86" name=""/>
          <p:cNvSpPr/>
          <p:nvPr/>
        </p:nvSpPr>
        <p:spPr>
          <a:xfrm rot="0" flipH="0" flipV="0">
            <a:off x="609600" y="2085975"/>
            <a:ext cx="11010900" cy="933450"/>
          </a:xfrm>
          <a:custGeom>
            <a:pathLst>
              <a:path w="1156" h="98">
                <a:moveTo>
                  <a:pt x="0" y="0"/>
                </a:moveTo>
                <a:lnTo>
                  <a:pt x="4" y="0"/>
                </a:lnTo>
                <a:lnTo>
                  <a:pt x="4" y="98"/>
                </a:lnTo>
                <a:lnTo>
                  <a:pt x="0" y="98"/>
                </a:lnTo>
                <a:close/>
              </a:path>
            </a:pathLst>
          </a:custGeom>
          <a:solidFill>
            <a:srgbClr val="1F3A34"/>
          </a:solidFill>
          <a:ln/>
        </p:spPr>
        <p:txBody>
          <a:bodyPr/>
          <a:p/>
        </p:txBody>
      </p:sp>
      <p:sp>
        <p:nvSpPr>
          <p:cNvPr id="87" name="" descr="{&quot;isTemplate&quot;:true,&quot;type&quot;:&quot;text&quot;}"/>
          <p:cNvSpPr txBox="1"/>
          <p:nvPr/>
        </p:nvSpPr>
        <p:spPr>
          <a:xfrm rot="0" flipH="0" flipV="0">
            <a:off x="914400" y="2295525"/>
            <a:ext cx="10401300" cy="514350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1950">
                <a:solidFill>
                  <a:srgbClr val="1F3A34"/>
                </a:solidFill>
                <a:latin typeface="宋体"/>
                <a:ea typeface="宋体"/>
              </a:rPr>
              <a:t>许昂霄：此词颇带伧气，而昔人极口称之，殆不可解。</a:t>
            </a:r>
            <a:endParaRPr/>
          </a:p>
        </p:txBody>
      </p:sp>
      <p:sp>
        <p:nvSpPr>
          <p:cNvPr id="88" name=""/>
          <p:cNvSpPr/>
          <p:nvPr/>
        </p:nvSpPr>
        <p:spPr>
          <a:xfrm rot="0" flipH="0" flipV="0">
            <a:off x="647700" y="3190875"/>
            <a:ext cx="10972800" cy="933450"/>
          </a:xfrm>
          <a:prstGeom prst="rect">
            <a:avLst/>
          </a:prstGeom>
          <a:solidFill>
            <a:srgbClr val="1F3A34">
              <a:alpha val="6000"/>
            </a:srgbClr>
          </a:solidFill>
          <a:ln/>
        </p:spPr>
        <p:txBody>
          <a:bodyPr/>
          <a:p/>
        </p:txBody>
      </p:sp>
      <p:sp>
        <p:nvSpPr>
          <p:cNvPr id="89" name=""/>
          <p:cNvSpPr/>
          <p:nvPr/>
        </p:nvSpPr>
        <p:spPr>
          <a:xfrm rot="0" flipH="0" flipV="0">
            <a:off x="609600" y="3190875"/>
            <a:ext cx="11010900" cy="933450"/>
          </a:xfrm>
          <a:custGeom>
            <a:pathLst>
              <a:path w="1156" h="98">
                <a:moveTo>
                  <a:pt x="0" y="0"/>
                </a:moveTo>
                <a:lnTo>
                  <a:pt x="4" y="0"/>
                </a:lnTo>
                <a:lnTo>
                  <a:pt x="4" y="98"/>
                </a:lnTo>
                <a:lnTo>
                  <a:pt x="0" y="98"/>
                </a:lnTo>
                <a:close/>
              </a:path>
            </a:pathLst>
          </a:custGeom>
          <a:solidFill>
            <a:srgbClr val="1F3A34"/>
          </a:solidFill>
          <a:ln/>
        </p:spPr>
        <p:txBody>
          <a:bodyPr/>
          <a:p/>
        </p:txBody>
      </p:sp>
      <p:sp>
        <p:nvSpPr>
          <p:cNvPr id="90" name="" descr="{&quot;isTemplate&quot;:true,&quot;type&quot;:&quot;text&quot;}"/>
          <p:cNvSpPr txBox="1"/>
          <p:nvPr/>
        </p:nvSpPr>
        <p:spPr>
          <a:xfrm rot="0" flipH="0" flipV="0">
            <a:off x="914400" y="3400425"/>
            <a:ext cx="10401300" cy="514350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1950">
                <a:solidFill>
                  <a:srgbClr val="1F3A34"/>
                </a:solidFill>
                <a:latin typeface="宋体"/>
                <a:ea typeface="宋体"/>
              </a:rPr>
              <a:t>陈廷焯：此不过奇笔耳，并非高调。</a:t>
            </a:r>
            <a:endParaRPr/>
          </a:p>
        </p:txBody>
      </p:sp>
      <p:sp>
        <p:nvSpPr>
          <p:cNvPr id="91" name=""/>
          <p:cNvSpPr/>
          <p:nvPr/>
        </p:nvSpPr>
        <p:spPr>
          <a:xfrm rot="0" flipH="0" flipV="0">
            <a:off x="609600" y="4391025"/>
            <a:ext cx="11010900" cy="695325"/>
          </a:xfrm>
          <a:custGeom>
            <a:pathLst>
              <a:path w="1156" h="73">
                <a:moveTo>
                  <a:pt x="0" y="0"/>
                </a:moveTo>
                <a:lnTo>
                  <a:pt x="4" y="0"/>
                </a:lnTo>
                <a:lnTo>
                  <a:pt x="4" y="73"/>
                </a:lnTo>
                <a:lnTo>
                  <a:pt x="0" y="73"/>
                </a:lnTo>
                <a:close/>
              </a:path>
            </a:pathLst>
          </a:custGeom>
          <a:solidFill>
            <a:srgbClr val="B4552D"/>
          </a:solidFill>
          <a:ln/>
        </p:spPr>
        <p:txBody>
          <a:bodyPr/>
          <a:p/>
        </p:txBody>
      </p:sp>
      <p:sp>
        <p:nvSpPr>
          <p:cNvPr id="92" name="" descr="{&quot;isTemplate&quot;:true,&quot;type&quot;:&quot;text&quot;}"/>
          <p:cNvSpPr txBox="1"/>
          <p:nvPr/>
        </p:nvSpPr>
        <p:spPr>
          <a:xfrm rot="0" flipH="0" flipV="0">
            <a:off x="876300" y="4391025"/>
            <a:ext cx="10706100" cy="3238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100" b="1">
                <a:solidFill>
                  <a:srgbClr val="B4552D"/>
                </a:solidFill>
                <a:latin typeface="宋体"/>
                <a:ea typeface="宋体"/>
              </a:rPr>
              <a:t>你同意吗？举一句词为证。</a:t>
            </a:r>
            <a:endParaRPr/>
          </a:p>
        </p:txBody>
      </p:sp>
      <p:sp>
        <p:nvSpPr>
          <p:cNvPr id="93" name="" descr="{&quot;isTemplate&quot;:true,&quot;type&quot;:&quot;text&quot;}"/>
          <p:cNvSpPr txBox="1"/>
          <p:nvPr/>
        </p:nvSpPr>
        <p:spPr>
          <a:xfrm rot="0" flipH="0" flipV="0">
            <a:off x="876300" y="4810125"/>
            <a:ext cx="1070610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>
                <a:solidFill>
                  <a:srgbClr val="6B6B6B"/>
                </a:solidFill>
                <a:latin typeface="宋体"/>
                <a:ea typeface="宋体"/>
              </a:rPr>
              <a:t>不举词句的表态，同意与不同意都不算。</a:t>
            </a:r>
            <a:endParaRPr/>
          </a:p>
        </p:txBody>
      </p:sp>
      <p:sp>
        <p:nvSpPr>
          <p:cNvPr id="94" name=""/>
          <p:cNvSpPr/>
          <p:nvPr/>
        </p:nvSpPr>
        <p:spPr>
          <a:xfrm rot="0" flipH="0" flipV="0">
            <a:off x="609600" y="5943600"/>
            <a:ext cx="10972800" cy="381000"/>
          </a:xfrm>
          <a:custGeom>
            <a:pathLst>
              <a:path w="1152" h="40">
                <a:moveTo>
                  <a:pt x="0" y="0"/>
                </a:moveTo>
                <a:lnTo>
                  <a:pt x="1152" y="0"/>
                </a:lnTo>
                <a:lnTo>
                  <a:pt x="1152" y="1"/>
                </a:lnTo>
                <a:lnTo>
                  <a:pt x="0" y="1"/>
                </a:lnTo>
                <a:close/>
              </a:path>
            </a:pathLst>
          </a:custGeom>
          <a:solidFill>
            <a:srgbClr val="1F3A34">
              <a:alpha val="20000"/>
            </a:srgbClr>
          </a:solidFill>
          <a:ln/>
        </p:spPr>
        <p:txBody>
          <a:bodyPr/>
          <a:p/>
        </p:txBody>
      </p:sp>
      <p:sp>
        <p:nvSpPr>
          <p:cNvPr id="95" name="" descr="{&quot;isTemplate&quot;:true,&quot;type&quot;:&quot;text&quot;}"/>
          <p:cNvSpPr txBox="1"/>
          <p:nvPr/>
        </p:nvSpPr>
        <p:spPr>
          <a:xfrm rot="0" flipH="0" flipV="0">
            <a:off x="609600" y="6038850"/>
            <a:ext cx="198120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>
                <a:solidFill>
                  <a:srgbClr val="6B6B6B"/>
                </a:solidFill>
                <a:latin typeface="宋体"/>
                <a:ea typeface="宋体"/>
              </a:rPr>
              <a:t>《声声慢》·</a:t>
            </a:r>
            <a:r>
              <a:rPr lang="en-US" sz="1800">
                <a:solidFill>
                  <a:srgbClr val="6B6B6B"/>
                </a:solidFill>
                <a:latin typeface="宋体"/>
                <a:ea typeface="宋体"/>
              </a:rPr>
              <a:t xml:space="preserve"> </a:t>
            </a:r>
            <a:r>
              <a:rPr lang="zh-CN" sz="1800">
                <a:solidFill>
                  <a:srgbClr val="6B6B6B"/>
                </a:solidFill>
                <a:latin typeface="宋体"/>
                <a:ea typeface="宋体"/>
              </a:rPr>
              <a:t>李清照</a:t>
            </a:r>
            <a:endParaRPr/>
          </a:p>
        </p:txBody>
      </p:sp>
      <p:sp>
        <p:nvSpPr>
          <p:cNvPr id="96" name="" descr="{&quot;isTemplate&quot;:true,&quot;type&quot;:&quot;text&quot;}"/>
          <p:cNvSpPr txBox="1"/>
          <p:nvPr/>
        </p:nvSpPr>
        <p:spPr>
          <a:xfrm rot="0" flipH="0" flipV="0">
            <a:off x="10991850" y="6038850"/>
            <a:ext cx="59055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800">
                <a:solidFill>
                  <a:srgbClr val="B4552D"/>
                </a:solidFill>
                <a:latin typeface="宋体"/>
                <a:ea typeface="宋体"/>
              </a:rPr>
              <a:t>14/16</a:t>
            </a:r>
            <a:endParaRPr/>
          </a:p>
        </p:txBody>
      </p:sp>
    </p:spTree>
  </p:cSld>
</p:sld>
</file>

<file path=ppt/slides/slide15.xml><?xml version="1.0" encoding="utf-8"?>
<p:sld xmlns:p="http://schemas.openxmlformats.org/presentationml/2006/main" xmlns:a="http://schemas.openxmlformats.org/drawingml/2006/main">
  <p:cSld>
    <p:spTree>
      <p:nvGrpSpPr>
        <p:cNvPr id="97" name="" descr="&lt;Slide style={{ background: '#F5F1E6', padding: '48px 64px', fontFamily: '宋体' }}&gt;&#13;&#10;  &lt;Box style={{ flexDirection: 'row', justifyContent: 'space-between', alignItems: 'flex-end', height: 72 }}&gt;&#13;&#10;    &lt;Text style={{ fontSize: 40, fontWeight: 'bold', color: '#1F3A34', lineHeight: 1.2 }}&gt;板书：三次生长&lt;/Text&gt;&#13;&#10;    &lt;Text style={{ fontSize: 24, color: '#6B6B6B' }}&gt;环节六 · 小结&lt;/Text&gt;&#13;&#10;  &lt;/Box&gt;&#13;&#10;  &lt;Box style={{ height: 472, marginTop: 20, flexDirection: 'column' }}&gt;&#13;&#10;  &lt;Box style={{ height: 472, flexDirection: 'column', justifyContent: 'center', gap: 16 }}&gt;&#13;&#10;    &lt;Box style={{ flexDirection: 'row', gap: 16, height: 130 }}&gt;&#13;&#10;      &lt;Box style={{ flex: 1, background: 'rgba(31,58,52,0.06)', padding: 20 }}&gt;&#13;&#10;        &lt;Text style={{ fontSize: 24, color: '#6B6B6B' }}&gt;一 · 由外入内&lt;/Text&gt;&#13;&#10;        &lt;Text style={{ fontSize: 26, color: '#1F3A34', marginTop: 6 }}&gt;冷冷（外）→ 清清（内）→ 戚戚（肠痛心碎）&lt;/Text&gt;&#13;&#10;      &lt;/Box&gt;&#13;&#10;    &lt;/Box&gt;&#13;&#10;    &lt;Box style={{ flexDirection: 'row', gap: 16, height: 130 }}&gt;&#13;&#10;      &lt;Box style={{ flex: 1, background: 'rgba(31,58,52,0.07)', padding: 20 }}&gt;&#13;&#10;        &lt;Text style={{ fontSize: 24, color: '#6B6B6B' }}&gt;二 · 传统的词&lt;/Text&gt;&#13;&#10;        &lt;Text style={{ fontSize: 26, color: '#1F3A34', marginTop: 6 }}&gt;雁 · 梧桐 · 黄花 → 转向如今&lt;/Text&gt;&#13;&#10;      &lt;/Box&gt;&#13;&#10;      &lt;Box style={{ flex: 1, background: 'rgba(180,85,45,0.10)', padding: 20 }}&gt;&#13;&#10;        &lt;Text style={{ fontSize: 24, color: '#6B6B6B' }}&gt;三 · 末句&lt;/Text&gt;&#13;&#10;        &lt;Text style={{ fontSize: 26, color: '#1F3A34', marginTop: 6 }}&gt;入声收住；有人说它伧气&lt;/Text&gt;&#13;&#10;      &lt;/Box&gt;&#13;&#10;    &lt;/Box&gt;&#13;&#10;    &lt;Box style={{ height: 90, background: 'rgba(31,58,52,0.10)', justifyContent: 'center', paddingLeft: 20 }}&gt;&#13;&#10;      &lt;Text style={{ fontSize: 30, fontWeight: 'bold', color: '#B4552D' }}&gt;怎一个愁字了得&lt;/Text&gt;&#13;&#10;    &lt;/Box&gt;&#13;&#10;  &lt;/Box&gt;&#13;&#10;  &lt;/Box&gt;&#13;&#10;  &lt;Box style={{ height: 40, marginTop: 12, borderTop: '1px solid rgba(31,58,52,0.2)', flexDirection: 'row', justifyContent: 'space-between', alignItems: 'center', paddingTop: 8 }}&gt;&#13;&#10;    &lt;Text style={{ fontSize: 24, color: '#6B6B6B' }}&gt;《声声慢》· 李清照&lt;/Text&gt;&#13;&#10;    &lt;Text style={{ fontSize: 24, color: '#B4552D' }}&gt;15/16&lt;/Text&gt;&#13;&#10;  &lt;/Box&gt;&#13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5F1E6"/>
          </a:solidFill>
          <a:ln/>
        </p:spPr>
        <p:txBody>
          <a:bodyPr/>
          <a:p/>
        </p:txBody>
      </p:sp>
      <p:sp>
        <p:nvSpPr>
          <p:cNvPr id="99" name="" descr="{&quot;isTemplate&quot;:true,&quot;type&quot;:&quot;text&quot;}"/>
          <p:cNvSpPr txBox="1"/>
          <p:nvPr/>
        </p:nvSpPr>
        <p:spPr>
          <a:xfrm rot="0" flipH="0" flipV="0">
            <a:off x="609600" y="590550"/>
            <a:ext cx="2667000" cy="552450"/>
          </a:xfrm>
          <a:prstGeom prst="rect"/>
        </p:spPr>
        <p:txBody>
          <a:bodyPr wrap="none" lIns="0" tIns="0" rIns="0" bIns="0"/>
          <a:p>
            <a:pPr>
              <a:lnSpc>
                <a:spcPct val="120000"/>
              </a:lnSpc>
            </a:pPr>
            <a:r>
              <a:rPr lang="zh-CN" sz="3000" b="1">
                <a:solidFill>
                  <a:srgbClr val="1F3A34"/>
                </a:solidFill>
                <a:latin typeface="宋体"/>
                <a:ea typeface="宋体"/>
              </a:rPr>
              <a:t>板书：三次生长</a:t>
            </a:r>
            <a:endParaRPr/>
          </a:p>
        </p:txBody>
      </p:sp>
      <p:sp>
        <p:nvSpPr>
          <p:cNvPr id="100" name="" descr="{&quot;isTemplate&quot;:true,&quot;type&quot;:&quot;text&quot;}"/>
          <p:cNvSpPr txBox="1"/>
          <p:nvPr/>
        </p:nvSpPr>
        <p:spPr>
          <a:xfrm rot="0" flipH="0" flipV="0">
            <a:off x="10210800" y="866775"/>
            <a:ext cx="137160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>
                <a:solidFill>
                  <a:srgbClr val="6B6B6B"/>
                </a:solidFill>
                <a:latin typeface="宋体"/>
                <a:ea typeface="宋体"/>
              </a:rPr>
              <a:t>环节六</a:t>
            </a:r>
            <a:r>
              <a:rPr lang="en-US" sz="1800">
                <a:solidFill>
                  <a:srgbClr val="6B6B6B"/>
                </a:solidFill>
                <a:latin typeface="宋体"/>
                <a:ea typeface="宋体"/>
              </a:rPr>
              <a:t xml:space="preserve"> · </a:t>
            </a:r>
            <a:r>
              <a:rPr lang="zh-CN" sz="1800">
                <a:solidFill>
                  <a:srgbClr val="6B6B6B"/>
                </a:solidFill>
                <a:latin typeface="宋体"/>
                <a:ea typeface="宋体"/>
              </a:rPr>
              <a:t>小结</a:t>
            </a:r>
            <a:endParaRPr/>
          </a:p>
        </p:txBody>
      </p:sp>
      <p:sp>
        <p:nvSpPr>
          <p:cNvPr id="101" name=""/>
          <p:cNvSpPr/>
          <p:nvPr/>
        </p:nvSpPr>
        <p:spPr>
          <a:xfrm rot="0" flipH="0" flipV="0">
            <a:off x="609600" y="1762125"/>
            <a:ext cx="10972800" cy="1238250"/>
          </a:xfrm>
          <a:prstGeom prst="rect">
            <a:avLst/>
          </a:prstGeom>
          <a:solidFill>
            <a:srgbClr val="1F3A34">
              <a:alpha val="6000"/>
            </a:srgbClr>
          </a:solidFill>
          <a:ln/>
        </p:spPr>
        <p:txBody>
          <a:bodyPr/>
          <a:p/>
        </p:txBody>
      </p:sp>
      <p:sp>
        <p:nvSpPr>
          <p:cNvPr id="102" name="" descr="{&quot;isTemplate&quot;:true,&quot;type&quot;:&quot;text&quot;}"/>
          <p:cNvSpPr txBox="1"/>
          <p:nvPr/>
        </p:nvSpPr>
        <p:spPr>
          <a:xfrm rot="0" flipH="0" flipV="0">
            <a:off x="800100" y="1952625"/>
            <a:ext cx="1059180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>
                <a:solidFill>
                  <a:srgbClr val="6B6B6B"/>
                </a:solidFill>
                <a:latin typeface="宋体"/>
                <a:ea typeface="宋体"/>
              </a:rPr>
              <a:t>一</a:t>
            </a:r>
            <a:r>
              <a:rPr lang="en-US" sz="1800">
                <a:solidFill>
                  <a:srgbClr val="6B6B6B"/>
                </a:solidFill>
                <a:latin typeface="宋体"/>
                <a:ea typeface="宋体"/>
              </a:rPr>
              <a:t xml:space="preserve"> · </a:t>
            </a:r>
            <a:r>
              <a:rPr lang="zh-CN" sz="1800">
                <a:solidFill>
                  <a:srgbClr val="6B6B6B"/>
                </a:solidFill>
                <a:latin typeface="宋体"/>
                <a:ea typeface="宋体"/>
              </a:rPr>
              <a:t>由外入内</a:t>
            </a:r>
            <a:endParaRPr/>
          </a:p>
        </p:txBody>
      </p:sp>
      <p:sp>
        <p:nvSpPr>
          <p:cNvPr id="103" name="" descr="{&quot;isTemplate&quot;:true,&quot;type&quot;:&quot;text&quot;}"/>
          <p:cNvSpPr txBox="1"/>
          <p:nvPr/>
        </p:nvSpPr>
        <p:spPr>
          <a:xfrm rot="0" flipH="0" flipV="0">
            <a:off x="800100" y="2286000"/>
            <a:ext cx="10591800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950">
                <a:solidFill>
                  <a:srgbClr val="1F3A34"/>
                </a:solidFill>
                <a:latin typeface="宋体"/>
                <a:ea typeface="宋体"/>
              </a:rPr>
              <a:t>冷冷（外）→</a:t>
            </a:r>
            <a:r>
              <a:rPr lang="en-US" sz="1950">
                <a:solidFill>
                  <a:srgbClr val="1F3A34"/>
                </a:solidFill>
                <a:latin typeface="宋体"/>
                <a:ea typeface="宋体"/>
              </a:rPr>
              <a:t xml:space="preserve"> </a:t>
            </a:r>
            <a:r>
              <a:rPr lang="zh-CN" sz="1950">
                <a:solidFill>
                  <a:srgbClr val="1F3A34"/>
                </a:solidFill>
                <a:latin typeface="宋体"/>
                <a:ea typeface="宋体"/>
              </a:rPr>
              <a:t>清清（内）→</a:t>
            </a:r>
            <a:r>
              <a:rPr lang="en-US" sz="1950">
                <a:solidFill>
                  <a:srgbClr val="1F3A34"/>
                </a:solidFill>
                <a:latin typeface="宋体"/>
                <a:ea typeface="宋体"/>
              </a:rPr>
              <a:t xml:space="preserve"> </a:t>
            </a:r>
            <a:r>
              <a:rPr lang="zh-CN" sz="1950">
                <a:solidFill>
                  <a:srgbClr val="1F3A34"/>
                </a:solidFill>
                <a:latin typeface="宋体"/>
                <a:ea typeface="宋体"/>
              </a:rPr>
              <a:t>戚戚（肠痛心碎）</a:t>
            </a:r>
            <a:endParaRPr/>
          </a:p>
        </p:txBody>
      </p:sp>
      <p:sp>
        <p:nvSpPr>
          <p:cNvPr id="104" name=""/>
          <p:cNvSpPr/>
          <p:nvPr/>
        </p:nvSpPr>
        <p:spPr>
          <a:xfrm rot="0" flipH="0" flipV="0">
            <a:off x="609600" y="3152775"/>
            <a:ext cx="5410200" cy="1238250"/>
          </a:xfrm>
          <a:prstGeom prst="rect">
            <a:avLst/>
          </a:prstGeom>
          <a:solidFill>
            <a:srgbClr val="1F3A34">
              <a:alpha val="7000"/>
            </a:srgbClr>
          </a:solidFill>
          <a:ln/>
        </p:spPr>
        <p:txBody>
          <a:bodyPr/>
          <a:p/>
        </p:txBody>
      </p:sp>
      <p:sp>
        <p:nvSpPr>
          <p:cNvPr id="105" name="" descr="{&quot;isTemplate&quot;:true,&quot;type&quot;:&quot;text&quot;}"/>
          <p:cNvSpPr txBox="1"/>
          <p:nvPr/>
        </p:nvSpPr>
        <p:spPr>
          <a:xfrm rot="0" flipH="0" flipV="0">
            <a:off x="800100" y="3343275"/>
            <a:ext cx="502920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>
                <a:solidFill>
                  <a:srgbClr val="6B6B6B"/>
                </a:solidFill>
                <a:latin typeface="宋体"/>
                <a:ea typeface="宋体"/>
              </a:rPr>
              <a:t>二</a:t>
            </a:r>
            <a:r>
              <a:rPr lang="en-US" sz="1800">
                <a:solidFill>
                  <a:srgbClr val="6B6B6B"/>
                </a:solidFill>
                <a:latin typeface="宋体"/>
                <a:ea typeface="宋体"/>
              </a:rPr>
              <a:t xml:space="preserve"> · </a:t>
            </a:r>
            <a:r>
              <a:rPr lang="zh-CN" sz="1800">
                <a:solidFill>
                  <a:srgbClr val="6B6B6B"/>
                </a:solidFill>
                <a:latin typeface="宋体"/>
                <a:ea typeface="宋体"/>
              </a:rPr>
              <a:t>传统的词</a:t>
            </a:r>
            <a:endParaRPr/>
          </a:p>
        </p:txBody>
      </p:sp>
      <p:sp>
        <p:nvSpPr>
          <p:cNvPr id="106" name="" descr="{&quot;isTemplate&quot;:true,&quot;type&quot;:&quot;text&quot;}"/>
          <p:cNvSpPr txBox="1"/>
          <p:nvPr/>
        </p:nvSpPr>
        <p:spPr>
          <a:xfrm rot="0" flipH="0" flipV="0">
            <a:off x="800100" y="3676650"/>
            <a:ext cx="5029200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950">
                <a:solidFill>
                  <a:srgbClr val="1F3A34"/>
                </a:solidFill>
                <a:latin typeface="宋体"/>
                <a:ea typeface="宋体"/>
              </a:rPr>
              <a:t>雁</a:t>
            </a:r>
            <a:r>
              <a:rPr lang="en-US" sz="1950">
                <a:solidFill>
                  <a:srgbClr val="1F3A34"/>
                </a:solidFill>
                <a:latin typeface="宋体"/>
                <a:ea typeface="宋体"/>
              </a:rPr>
              <a:t xml:space="preserve"> · </a:t>
            </a:r>
            <a:r>
              <a:rPr lang="zh-CN" sz="1950">
                <a:solidFill>
                  <a:srgbClr val="1F3A34"/>
                </a:solidFill>
                <a:latin typeface="宋体"/>
                <a:ea typeface="宋体"/>
              </a:rPr>
              <a:t>梧桐</a:t>
            </a:r>
            <a:r>
              <a:rPr lang="en-US" sz="1950">
                <a:solidFill>
                  <a:srgbClr val="1F3A34"/>
                </a:solidFill>
                <a:latin typeface="宋体"/>
                <a:ea typeface="宋体"/>
              </a:rPr>
              <a:t xml:space="preserve"> · </a:t>
            </a:r>
            <a:r>
              <a:rPr lang="zh-CN" sz="1950">
                <a:solidFill>
                  <a:srgbClr val="1F3A34"/>
                </a:solidFill>
                <a:latin typeface="宋体"/>
                <a:ea typeface="宋体"/>
              </a:rPr>
              <a:t>黄花</a:t>
            </a:r>
            <a:r>
              <a:rPr lang="en-US" sz="1950">
                <a:solidFill>
                  <a:srgbClr val="1F3A34"/>
                </a:solidFill>
                <a:latin typeface="宋体"/>
                <a:ea typeface="宋体"/>
              </a:rPr>
              <a:t xml:space="preserve"> → </a:t>
            </a:r>
            <a:r>
              <a:rPr lang="zh-CN" sz="1950">
                <a:solidFill>
                  <a:srgbClr val="1F3A34"/>
                </a:solidFill>
                <a:latin typeface="宋体"/>
                <a:ea typeface="宋体"/>
              </a:rPr>
              <a:t>转向如今</a:t>
            </a:r>
            <a:endParaRPr/>
          </a:p>
        </p:txBody>
      </p:sp>
      <p:sp>
        <p:nvSpPr>
          <p:cNvPr id="107" name=""/>
          <p:cNvSpPr/>
          <p:nvPr/>
        </p:nvSpPr>
        <p:spPr>
          <a:xfrm rot="0" flipH="0" flipV="0">
            <a:off x="6172200" y="3152775"/>
            <a:ext cx="5410200" cy="1238250"/>
          </a:xfrm>
          <a:prstGeom prst="rect">
            <a:avLst/>
          </a:prstGeom>
          <a:solidFill>
            <a:srgbClr val="B4552D">
              <a:alpha val="10000"/>
            </a:srgbClr>
          </a:solidFill>
          <a:ln/>
        </p:spPr>
        <p:txBody>
          <a:bodyPr/>
          <a:p/>
        </p:txBody>
      </p:sp>
      <p:sp>
        <p:nvSpPr>
          <p:cNvPr id="108" name="" descr="{&quot;isTemplate&quot;:true,&quot;type&quot;:&quot;text&quot;}"/>
          <p:cNvSpPr txBox="1"/>
          <p:nvPr/>
        </p:nvSpPr>
        <p:spPr>
          <a:xfrm rot="0" flipH="0" flipV="0">
            <a:off x="6362700" y="3343275"/>
            <a:ext cx="502920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>
                <a:solidFill>
                  <a:srgbClr val="6B6B6B"/>
                </a:solidFill>
                <a:latin typeface="宋体"/>
                <a:ea typeface="宋体"/>
              </a:rPr>
              <a:t>三</a:t>
            </a:r>
            <a:r>
              <a:rPr lang="en-US" sz="1800">
                <a:solidFill>
                  <a:srgbClr val="6B6B6B"/>
                </a:solidFill>
                <a:latin typeface="宋体"/>
                <a:ea typeface="宋体"/>
              </a:rPr>
              <a:t xml:space="preserve"> · </a:t>
            </a:r>
            <a:r>
              <a:rPr lang="zh-CN" sz="1800">
                <a:solidFill>
                  <a:srgbClr val="6B6B6B"/>
                </a:solidFill>
                <a:latin typeface="宋体"/>
                <a:ea typeface="宋体"/>
              </a:rPr>
              <a:t>末句</a:t>
            </a:r>
            <a:endParaRPr/>
          </a:p>
        </p:txBody>
      </p:sp>
      <p:sp>
        <p:nvSpPr>
          <p:cNvPr id="109" name="" descr="{&quot;isTemplate&quot;:true,&quot;type&quot;:&quot;text&quot;}"/>
          <p:cNvSpPr txBox="1"/>
          <p:nvPr/>
        </p:nvSpPr>
        <p:spPr>
          <a:xfrm rot="0" flipH="0" flipV="0">
            <a:off x="6362700" y="3676650"/>
            <a:ext cx="5029200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950">
                <a:solidFill>
                  <a:srgbClr val="1F3A34"/>
                </a:solidFill>
                <a:latin typeface="宋体"/>
                <a:ea typeface="宋体"/>
              </a:rPr>
              <a:t>入声收住；有人说它伧气</a:t>
            </a:r>
            <a:endParaRPr/>
          </a:p>
        </p:txBody>
      </p:sp>
      <p:sp>
        <p:nvSpPr>
          <p:cNvPr id="110" name=""/>
          <p:cNvSpPr/>
          <p:nvPr/>
        </p:nvSpPr>
        <p:spPr>
          <a:xfrm rot="0" flipH="0" flipV="0">
            <a:off x="609600" y="4543425"/>
            <a:ext cx="10972800" cy="857250"/>
          </a:xfrm>
          <a:prstGeom prst="rect">
            <a:avLst/>
          </a:prstGeom>
          <a:solidFill>
            <a:srgbClr val="1F3A34">
              <a:alpha val="10000"/>
            </a:srgbClr>
          </a:solidFill>
          <a:ln/>
        </p:spPr>
        <p:txBody>
          <a:bodyPr/>
          <a:p/>
        </p:txBody>
      </p:sp>
      <p:sp>
        <p:nvSpPr>
          <p:cNvPr id="111" name="" descr="{&quot;isTemplate&quot;:true,&quot;type&quot;:&quot;text&quot;}"/>
          <p:cNvSpPr txBox="1"/>
          <p:nvPr/>
        </p:nvSpPr>
        <p:spPr>
          <a:xfrm rot="0" flipH="0" flipV="0">
            <a:off x="800100" y="4800600"/>
            <a:ext cx="10782300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250" b="1">
                <a:solidFill>
                  <a:srgbClr val="B4552D"/>
                </a:solidFill>
                <a:latin typeface="宋体"/>
                <a:ea typeface="宋体"/>
              </a:rPr>
              <a:t>怎一个愁字了得</a:t>
            </a:r>
            <a:endParaRPr/>
          </a:p>
        </p:txBody>
      </p:sp>
      <p:sp>
        <p:nvSpPr>
          <p:cNvPr id="112" name=""/>
          <p:cNvSpPr/>
          <p:nvPr/>
        </p:nvSpPr>
        <p:spPr>
          <a:xfrm rot="0" flipH="0" flipV="0">
            <a:off x="609600" y="5943600"/>
            <a:ext cx="10972800" cy="381000"/>
          </a:xfrm>
          <a:custGeom>
            <a:pathLst>
              <a:path w="1152" h="40">
                <a:moveTo>
                  <a:pt x="0" y="0"/>
                </a:moveTo>
                <a:lnTo>
                  <a:pt x="1152" y="0"/>
                </a:lnTo>
                <a:lnTo>
                  <a:pt x="1152" y="1"/>
                </a:lnTo>
                <a:lnTo>
                  <a:pt x="0" y="1"/>
                </a:lnTo>
                <a:close/>
              </a:path>
            </a:pathLst>
          </a:custGeom>
          <a:solidFill>
            <a:srgbClr val="1F3A34">
              <a:alpha val="20000"/>
            </a:srgbClr>
          </a:solidFill>
          <a:ln/>
        </p:spPr>
        <p:txBody>
          <a:bodyPr/>
          <a:p/>
        </p:txBody>
      </p:sp>
      <p:sp>
        <p:nvSpPr>
          <p:cNvPr id="113" name="" descr="{&quot;isTemplate&quot;:true,&quot;type&quot;:&quot;text&quot;}"/>
          <p:cNvSpPr txBox="1"/>
          <p:nvPr/>
        </p:nvSpPr>
        <p:spPr>
          <a:xfrm rot="0" flipH="0" flipV="0">
            <a:off x="609600" y="6038850"/>
            <a:ext cx="198120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>
                <a:solidFill>
                  <a:srgbClr val="6B6B6B"/>
                </a:solidFill>
                <a:latin typeface="宋体"/>
                <a:ea typeface="宋体"/>
              </a:rPr>
              <a:t>《声声慢》·</a:t>
            </a:r>
            <a:r>
              <a:rPr lang="en-US" sz="1800">
                <a:solidFill>
                  <a:srgbClr val="6B6B6B"/>
                </a:solidFill>
                <a:latin typeface="宋体"/>
                <a:ea typeface="宋体"/>
              </a:rPr>
              <a:t xml:space="preserve"> </a:t>
            </a:r>
            <a:r>
              <a:rPr lang="zh-CN" sz="1800">
                <a:solidFill>
                  <a:srgbClr val="6B6B6B"/>
                </a:solidFill>
                <a:latin typeface="宋体"/>
                <a:ea typeface="宋体"/>
              </a:rPr>
              <a:t>李清照</a:t>
            </a:r>
            <a:endParaRPr/>
          </a:p>
        </p:txBody>
      </p:sp>
      <p:sp>
        <p:nvSpPr>
          <p:cNvPr id="114" name="" descr="{&quot;isTemplate&quot;:true,&quot;type&quot;:&quot;text&quot;}"/>
          <p:cNvSpPr txBox="1"/>
          <p:nvPr/>
        </p:nvSpPr>
        <p:spPr>
          <a:xfrm rot="0" flipH="0" flipV="0">
            <a:off x="10991850" y="6038850"/>
            <a:ext cx="59055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800">
                <a:solidFill>
                  <a:srgbClr val="B4552D"/>
                </a:solidFill>
                <a:latin typeface="宋体"/>
                <a:ea typeface="宋体"/>
              </a:rPr>
              <a:t>15/16</a:t>
            </a:r>
            <a:endParaRPr/>
          </a:p>
        </p:txBody>
      </p:sp>
    </p:spTree>
  </p:cSld>
</p:sld>
</file>

<file path=ppt/slides/slide16.xml><?xml version="1.0" encoding="utf-8"?>
<p:sld xmlns:p="http://schemas.openxmlformats.org/presentationml/2006/main" xmlns:a="http://schemas.openxmlformats.org/drawingml/2006/main">
  <p:cSld>
    <p:spTree>
      <p:nvGrpSpPr>
        <p:cNvPr id="115" name="" descr="&lt;Slide style={{ background: '#F5F1E6', padding: '48px 64px', fontFamily: '宋体' }}&gt;&#13;&#10;  &lt;Box style={{ flexDirection: 'row', justifyContent: 'space-between', alignItems: 'flex-end', height: 72 }}&gt;&#13;&#10;    &lt;Text style={{ fontSize: 40, fontWeight: 'bold', color: '#1F3A34', lineHeight: 1.2 }}&gt;今天的出口&lt;/Text&gt;&#13;&#10;    &lt;Text style={{ fontSize: 24, color: '#6B6B6B' }}&gt;环节六 · 作业&lt;/Text&gt;&#13;&#10;  &lt;/Box&gt;&#13;&#10;  &lt;Box style={{ height: 472, marginTop: 20, flexDirection: 'column' }}&gt;&#13;&#10;  &lt;Box style={{ height: 472, flexDirection: 'column', justifyContent: 'center', gap: 20 }}&gt;&#13;&#10;    &lt;Box style={{ flexDirection: 'row', height: 110, alignItems: 'center', paddingLeft: 24, background: 'rgba(31,58,52,0.07)' }}&gt;&#13;&#10;      &lt;Text style={{ fontSize: 28, fontWeight: 'bold', color: '#1F3A34', width: 200 }}&gt;基础 · 必做&lt;/Text&gt;&#13;&#10;      &lt;Text style={{ fontSize: 27, color: '#1F3A34' }}&gt;给“梧桐更兼细雨”标停顿与重音&lt;/Text&gt;&#13;&#10;    &lt;/Box&gt;&#13;&#10;    &lt;Box style={{ flexDirection: 'row', height: 110, alignItems: 'center', paddingLeft: 24, background: 'rgba(31,58,52,0.07)' }}&gt;&#13;&#10;      &lt;Text style={{ fontSize: 28, fontWeight: 'bold', color: '#1F3A34', width: 200 }}&gt;提高 · 必做&lt;/Text&gt;&#13;&#10;      &lt;Text style={{ fontSize: 27, color: '#1F3A34' }}&gt;用分层或语码分析《醉花阴》一处&lt;/Text&gt;&#13;&#10;    &lt;/Box&gt;&#13;&#10;    &lt;Box style={{ flexDirection: 'row', height: 110, alignItems: 'center', paddingLeft: 24, background: 'rgba(31,58,52,0.07)' }}&gt;&#13;&#10;      &lt;Text style={{ fontSize: 28, fontWeight: 'bold', color: '#B4552D', width: 200 }}&gt;拓展 · 选做&lt;/Text&gt;&#13;&#10;      &lt;Text style={{ fontSize: 27, color: '#1F3A34' }}&gt;找叠词歌词，比它有没有“由外入内”&lt;/Text&gt;&#13;&#10;    &lt;/Box&gt;&#13;&#10;  &lt;/Box&gt;&#13;&#10;  &lt;/Box&gt;&#13;&#10;  &lt;Box style={{ height: 40, marginTop: 12, borderTop: '1px solid rgba(31,58,52,0.2)', flexDirection: 'row', justifyContent: 'space-between', alignItems: 'center', paddingTop: 8 }}&gt;&#13;&#10;    &lt;Text style={{ fontSize: 24, color: '#6B6B6B' }}&gt;《声声慢》· 李清照&lt;/Text&gt;&#13;&#10;    &lt;Text style={{ fontSize: 24, color: '#B4552D' }}&gt;16/16&lt;/Text&gt;&#13;&#10;  &lt;/Box&gt;&#13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5F1E6"/>
          </a:solidFill>
          <a:ln/>
        </p:spPr>
        <p:txBody>
          <a:bodyPr/>
          <a:p/>
        </p:txBody>
      </p:sp>
      <p:sp>
        <p:nvSpPr>
          <p:cNvPr id="117" name="" descr="{&quot;isTemplate&quot;:true,&quot;type&quot;:&quot;text&quot;}"/>
          <p:cNvSpPr txBox="1"/>
          <p:nvPr/>
        </p:nvSpPr>
        <p:spPr>
          <a:xfrm rot="0" flipH="0" flipV="0">
            <a:off x="609600" y="590550"/>
            <a:ext cx="1905000" cy="552450"/>
          </a:xfrm>
          <a:prstGeom prst="rect"/>
        </p:spPr>
        <p:txBody>
          <a:bodyPr wrap="none" lIns="0" tIns="0" rIns="0" bIns="0"/>
          <a:p>
            <a:pPr>
              <a:lnSpc>
                <a:spcPct val="120000"/>
              </a:lnSpc>
            </a:pPr>
            <a:r>
              <a:rPr lang="zh-CN" sz="3000" b="1">
                <a:solidFill>
                  <a:srgbClr val="1F3A34"/>
                </a:solidFill>
                <a:latin typeface="宋体"/>
                <a:ea typeface="宋体"/>
              </a:rPr>
              <a:t>今天的出口</a:t>
            </a:r>
            <a:endParaRPr/>
          </a:p>
        </p:txBody>
      </p:sp>
      <p:sp>
        <p:nvSpPr>
          <p:cNvPr id="118" name="" descr="{&quot;isTemplate&quot;:true,&quot;type&quot;:&quot;text&quot;}"/>
          <p:cNvSpPr txBox="1"/>
          <p:nvPr/>
        </p:nvSpPr>
        <p:spPr>
          <a:xfrm rot="0" flipH="0" flipV="0">
            <a:off x="10210800" y="866775"/>
            <a:ext cx="137160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>
                <a:solidFill>
                  <a:srgbClr val="6B6B6B"/>
                </a:solidFill>
                <a:latin typeface="宋体"/>
                <a:ea typeface="宋体"/>
              </a:rPr>
              <a:t>环节六</a:t>
            </a:r>
            <a:r>
              <a:rPr lang="en-US" sz="1800">
                <a:solidFill>
                  <a:srgbClr val="6B6B6B"/>
                </a:solidFill>
                <a:latin typeface="宋体"/>
                <a:ea typeface="宋体"/>
              </a:rPr>
              <a:t xml:space="preserve"> · </a:t>
            </a:r>
            <a:r>
              <a:rPr lang="zh-CN" sz="1800">
                <a:solidFill>
                  <a:srgbClr val="6B6B6B"/>
                </a:solidFill>
                <a:latin typeface="宋体"/>
                <a:ea typeface="宋体"/>
              </a:rPr>
              <a:t>作业</a:t>
            </a:r>
            <a:endParaRPr/>
          </a:p>
        </p:txBody>
      </p:sp>
      <p:sp>
        <p:nvSpPr>
          <p:cNvPr id="119" name=""/>
          <p:cNvSpPr/>
          <p:nvPr/>
        </p:nvSpPr>
        <p:spPr>
          <a:xfrm rot="0" flipH="0" flipV="0">
            <a:off x="609600" y="1819275"/>
            <a:ext cx="10972800" cy="1047750"/>
          </a:xfrm>
          <a:prstGeom prst="rect">
            <a:avLst/>
          </a:prstGeom>
          <a:solidFill>
            <a:srgbClr val="1F3A34">
              <a:alpha val="7000"/>
            </a:srgbClr>
          </a:solidFill>
          <a:ln/>
        </p:spPr>
        <p:txBody>
          <a:bodyPr/>
          <a:p/>
        </p:txBody>
      </p:sp>
      <p:sp>
        <p:nvSpPr>
          <p:cNvPr id="120" name="" descr="{&quot;isTemplate&quot;:true,&quot;type&quot;:&quot;text&quot;}"/>
          <p:cNvSpPr txBox="1"/>
          <p:nvPr/>
        </p:nvSpPr>
        <p:spPr>
          <a:xfrm rot="0" flipH="0" flipV="0">
            <a:off x="838200" y="2181225"/>
            <a:ext cx="1905000" cy="3238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100" b="1">
                <a:solidFill>
                  <a:srgbClr val="1F3A34"/>
                </a:solidFill>
                <a:latin typeface="宋体"/>
                <a:ea typeface="宋体"/>
              </a:rPr>
              <a:t>基础</a:t>
            </a:r>
            <a:r>
              <a:rPr lang="en-US" sz="2100" b="1">
                <a:solidFill>
                  <a:srgbClr val="1F3A34"/>
                </a:solidFill>
                <a:latin typeface="宋体"/>
                <a:ea typeface="宋体"/>
              </a:rPr>
              <a:t xml:space="preserve"> · </a:t>
            </a:r>
            <a:r>
              <a:rPr lang="zh-CN" sz="2100" b="1">
                <a:solidFill>
                  <a:srgbClr val="1F3A34"/>
                </a:solidFill>
                <a:latin typeface="宋体"/>
                <a:ea typeface="宋体"/>
              </a:rPr>
              <a:t>必做</a:t>
            </a:r>
            <a:endParaRPr/>
          </a:p>
        </p:txBody>
      </p:sp>
      <p:sp>
        <p:nvSpPr>
          <p:cNvPr id="121" name="" descr="{&quot;isTemplate&quot;:true,&quot;type&quot;:&quot;text&quot;}"/>
          <p:cNvSpPr txBox="1"/>
          <p:nvPr/>
        </p:nvSpPr>
        <p:spPr>
          <a:xfrm rot="0" flipH="0" flipV="0">
            <a:off x="2743200" y="2190750"/>
            <a:ext cx="3552825" cy="3143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025">
                <a:solidFill>
                  <a:srgbClr val="1F3A34"/>
                </a:solidFill>
                <a:latin typeface="宋体"/>
                <a:ea typeface="宋体"/>
              </a:rPr>
              <a:t>给“梧桐更兼细雨”标停顿与重音</a:t>
            </a:r>
            <a:endParaRPr/>
          </a:p>
        </p:txBody>
      </p:sp>
      <p:sp>
        <p:nvSpPr>
          <p:cNvPr id="122" name=""/>
          <p:cNvSpPr/>
          <p:nvPr/>
        </p:nvSpPr>
        <p:spPr>
          <a:xfrm rot="0" flipH="0" flipV="0">
            <a:off x="609600" y="3057525"/>
            <a:ext cx="10972800" cy="1047750"/>
          </a:xfrm>
          <a:prstGeom prst="rect">
            <a:avLst/>
          </a:prstGeom>
          <a:solidFill>
            <a:srgbClr val="1F3A34">
              <a:alpha val="7000"/>
            </a:srgbClr>
          </a:solidFill>
          <a:ln/>
        </p:spPr>
        <p:txBody>
          <a:bodyPr/>
          <a:p/>
        </p:txBody>
      </p:sp>
      <p:sp>
        <p:nvSpPr>
          <p:cNvPr id="123" name="" descr="{&quot;isTemplate&quot;:true,&quot;type&quot;:&quot;text&quot;}"/>
          <p:cNvSpPr txBox="1"/>
          <p:nvPr/>
        </p:nvSpPr>
        <p:spPr>
          <a:xfrm rot="0" flipH="0" flipV="0">
            <a:off x="838200" y="3419475"/>
            <a:ext cx="1905000" cy="3238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100" b="1">
                <a:solidFill>
                  <a:srgbClr val="1F3A34"/>
                </a:solidFill>
                <a:latin typeface="宋体"/>
                <a:ea typeface="宋体"/>
              </a:rPr>
              <a:t>提高</a:t>
            </a:r>
            <a:r>
              <a:rPr lang="en-US" sz="2100" b="1">
                <a:solidFill>
                  <a:srgbClr val="1F3A34"/>
                </a:solidFill>
                <a:latin typeface="宋体"/>
                <a:ea typeface="宋体"/>
              </a:rPr>
              <a:t xml:space="preserve"> · </a:t>
            </a:r>
            <a:r>
              <a:rPr lang="zh-CN" sz="2100" b="1">
                <a:solidFill>
                  <a:srgbClr val="1F3A34"/>
                </a:solidFill>
                <a:latin typeface="宋体"/>
                <a:ea typeface="宋体"/>
              </a:rPr>
              <a:t>必做</a:t>
            </a:r>
            <a:endParaRPr/>
          </a:p>
        </p:txBody>
      </p:sp>
      <p:sp>
        <p:nvSpPr>
          <p:cNvPr id="124" name="" descr="{&quot;isTemplate&quot;:true,&quot;type&quot;:&quot;text&quot;}"/>
          <p:cNvSpPr txBox="1"/>
          <p:nvPr/>
        </p:nvSpPr>
        <p:spPr>
          <a:xfrm rot="0" flipH="0" flipV="0">
            <a:off x="2743200" y="3429000"/>
            <a:ext cx="3857625" cy="3143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025">
                <a:solidFill>
                  <a:srgbClr val="1F3A34"/>
                </a:solidFill>
                <a:latin typeface="宋体"/>
                <a:ea typeface="宋体"/>
              </a:rPr>
              <a:t>用分层或语码分析《醉花阴》一处</a:t>
            </a:r>
            <a:endParaRPr/>
          </a:p>
        </p:txBody>
      </p:sp>
      <p:sp>
        <p:nvSpPr>
          <p:cNvPr id="125" name=""/>
          <p:cNvSpPr/>
          <p:nvPr/>
        </p:nvSpPr>
        <p:spPr>
          <a:xfrm rot="0" flipH="0" flipV="0">
            <a:off x="609600" y="4295775"/>
            <a:ext cx="10972800" cy="1047750"/>
          </a:xfrm>
          <a:prstGeom prst="rect">
            <a:avLst/>
          </a:prstGeom>
          <a:solidFill>
            <a:srgbClr val="1F3A34">
              <a:alpha val="7000"/>
            </a:srgbClr>
          </a:solidFill>
          <a:ln/>
        </p:spPr>
        <p:txBody>
          <a:bodyPr/>
          <a:p/>
        </p:txBody>
      </p:sp>
      <p:sp>
        <p:nvSpPr>
          <p:cNvPr id="126" name="" descr="{&quot;isTemplate&quot;:true,&quot;type&quot;:&quot;text&quot;}"/>
          <p:cNvSpPr txBox="1"/>
          <p:nvPr/>
        </p:nvSpPr>
        <p:spPr>
          <a:xfrm rot="0" flipH="0" flipV="0">
            <a:off x="838200" y="4657725"/>
            <a:ext cx="1905000" cy="3238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100" b="1">
                <a:solidFill>
                  <a:srgbClr val="B4552D"/>
                </a:solidFill>
                <a:latin typeface="宋体"/>
                <a:ea typeface="宋体"/>
              </a:rPr>
              <a:t>拓展</a:t>
            </a:r>
            <a:r>
              <a:rPr lang="en-US" sz="2100" b="1">
                <a:solidFill>
                  <a:srgbClr val="B4552D"/>
                </a:solidFill>
                <a:latin typeface="宋体"/>
                <a:ea typeface="宋体"/>
              </a:rPr>
              <a:t xml:space="preserve"> · </a:t>
            </a:r>
            <a:r>
              <a:rPr lang="zh-CN" sz="2100" b="1">
                <a:solidFill>
                  <a:srgbClr val="B4552D"/>
                </a:solidFill>
                <a:latin typeface="宋体"/>
                <a:ea typeface="宋体"/>
              </a:rPr>
              <a:t>选做</a:t>
            </a:r>
            <a:endParaRPr/>
          </a:p>
        </p:txBody>
      </p:sp>
      <p:sp>
        <p:nvSpPr>
          <p:cNvPr id="127" name="" descr="{&quot;isTemplate&quot;:true,&quot;type&quot;:&quot;text&quot;}"/>
          <p:cNvSpPr txBox="1"/>
          <p:nvPr/>
        </p:nvSpPr>
        <p:spPr>
          <a:xfrm rot="0" flipH="0" flipV="0">
            <a:off x="2743200" y="4667250"/>
            <a:ext cx="4067175" cy="3143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025">
                <a:solidFill>
                  <a:srgbClr val="1F3A34"/>
                </a:solidFill>
                <a:latin typeface="宋体"/>
                <a:ea typeface="宋体"/>
              </a:rPr>
              <a:t>找叠词歌词，比它有没有“由外入内”</a:t>
            </a:r>
            <a:endParaRPr/>
          </a:p>
        </p:txBody>
      </p:sp>
      <p:sp>
        <p:nvSpPr>
          <p:cNvPr id="128" name=""/>
          <p:cNvSpPr/>
          <p:nvPr/>
        </p:nvSpPr>
        <p:spPr>
          <a:xfrm rot="0" flipH="0" flipV="0">
            <a:off x="609600" y="5943600"/>
            <a:ext cx="10972800" cy="381000"/>
          </a:xfrm>
          <a:custGeom>
            <a:pathLst>
              <a:path w="1152" h="40">
                <a:moveTo>
                  <a:pt x="0" y="0"/>
                </a:moveTo>
                <a:lnTo>
                  <a:pt x="1152" y="0"/>
                </a:lnTo>
                <a:lnTo>
                  <a:pt x="1152" y="1"/>
                </a:lnTo>
                <a:lnTo>
                  <a:pt x="0" y="1"/>
                </a:lnTo>
                <a:close/>
              </a:path>
            </a:pathLst>
          </a:custGeom>
          <a:solidFill>
            <a:srgbClr val="1F3A34">
              <a:alpha val="20000"/>
            </a:srgbClr>
          </a:solidFill>
          <a:ln/>
        </p:spPr>
        <p:txBody>
          <a:bodyPr/>
          <a:p/>
        </p:txBody>
      </p:sp>
      <p:sp>
        <p:nvSpPr>
          <p:cNvPr id="129" name="" descr="{&quot;isTemplate&quot;:true,&quot;type&quot;:&quot;text&quot;}"/>
          <p:cNvSpPr txBox="1"/>
          <p:nvPr/>
        </p:nvSpPr>
        <p:spPr>
          <a:xfrm rot="0" flipH="0" flipV="0">
            <a:off x="609600" y="6038850"/>
            <a:ext cx="198120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>
                <a:solidFill>
                  <a:srgbClr val="6B6B6B"/>
                </a:solidFill>
                <a:latin typeface="宋体"/>
                <a:ea typeface="宋体"/>
              </a:rPr>
              <a:t>《声声慢》·</a:t>
            </a:r>
            <a:r>
              <a:rPr lang="en-US" sz="1800">
                <a:solidFill>
                  <a:srgbClr val="6B6B6B"/>
                </a:solidFill>
                <a:latin typeface="宋体"/>
                <a:ea typeface="宋体"/>
              </a:rPr>
              <a:t xml:space="preserve"> </a:t>
            </a:r>
            <a:r>
              <a:rPr lang="zh-CN" sz="1800">
                <a:solidFill>
                  <a:srgbClr val="6B6B6B"/>
                </a:solidFill>
                <a:latin typeface="宋体"/>
                <a:ea typeface="宋体"/>
              </a:rPr>
              <a:t>李清照</a:t>
            </a:r>
            <a:endParaRPr/>
          </a:p>
        </p:txBody>
      </p:sp>
      <p:sp>
        <p:nvSpPr>
          <p:cNvPr id="130" name="" descr="{&quot;isTemplate&quot;:true,&quot;type&quot;:&quot;text&quot;}"/>
          <p:cNvSpPr txBox="1"/>
          <p:nvPr/>
        </p:nvSpPr>
        <p:spPr>
          <a:xfrm rot="0" flipH="0" flipV="0">
            <a:off x="10991850" y="6038850"/>
            <a:ext cx="59055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800">
                <a:solidFill>
                  <a:srgbClr val="B4552D"/>
                </a:solidFill>
                <a:latin typeface="宋体"/>
                <a:ea typeface="宋体"/>
              </a:rPr>
              <a:t>16/16</a:t>
            </a:r>
            <a:endParaRPr/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Tencent office</Applicat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2026-10-26T00:24:25Z</dcterms:created>
  <dcterms:modified xsi:type="dcterms:W3CDTF">2026-10-26T00:24:25Z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{"AIGC":{"Label":"1","ContentProducer":"00119111010856365494821B355","ProduceID":"01a173d089bd771793a1bcd3fdfd555b","ReservedCode1":"","ContentPropagator":"00119111010856365494821B355","PropagateID":"01a173d089bd771793a1bcd3fdfd555b","ReservedCode2":""}}</vt:lpwstr>
  </property>
</Properties>
</file>