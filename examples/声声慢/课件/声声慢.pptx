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7" Type="http://schemas.openxmlformats.org/officeDocument/2006/relationships/slide" Target="slides/slide7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20" Type="http://schemas.openxmlformats.org/officeDocument/2006/relationships/viewProps" Target="viewProps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3" Type="http://schemas.openxmlformats.org/officeDocument/2006/relationships/slide" Target="slides/slide3.xml" /><Relationship Id="rId17" Type="http://schemas.openxmlformats.org/officeDocument/2006/relationships/notesMaster" Target="notesMasters/notesMaster1.xml" /><Relationship Id="rId5" Type="http://schemas.openxmlformats.org/officeDocument/2006/relationships/slide" Target="slides/slide5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background: '#F5F1E6', padding: '48px 64px', fontFamily: '宋体' }}&gt;&#13;&#10;  &lt;Box style={{ height: 560, flexDirection: 'row', alignItems: 'center' }}&gt;&#13;&#10;    &lt;Box style={{ width: 6, height: 300, background: '#B4552D' }} /&gt;&#13;&#10;    &lt;Box style={{ marginLeft: 48, flexDirection: 'column' }}&gt;&#13;&#10;      &lt;Text style={{ fontSize: 96, fontWeight: 'bold', color: '#1F3A34', lineHeight: 1.1 }}&gt;声声慢&lt;/Text&gt;&#13;&#10;      &lt;Text style={{ fontSize: 34, color: '#1F3A34', marginTop: 20 }}&gt;李清照 · 寻寻觅觅&lt;/Text&gt;&#13;&#10;      &lt;Text style={{ fontSize: 28, color: '#6B6B6B', marginTop: 32 }}&gt;一节课，把“愁”读成看得见的东西&lt;/Text&gt;&#13;&#10;    &lt;/Box&gt;&#13;&#10;  &lt;/Box&gt;&#13;&#10;  &lt;Box style={{ height: 40, borderTop: '1px solid rgba(31,58,52,0.2)', flexDirection: 'row', justifyContent: 'space-between', alignItems: 'center', paddingTop: 8 }}&gt;&#13;&#10;    &lt;Text style={{ fontSize: 24, color: '#6B6B6B' }}&gt;统编版必修上 · 第三单元&lt;/Text&gt;&#13;&#10;    &lt;Text style={{ fontSize: 24, color: '#B4552D' }}&gt;01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609600" y="1695450"/>
            <a:ext cx="57150" cy="2857500"/>
          </a:xfrm>
          <a:prstGeom prst="rect">
            <a:avLst/>
          </a:prstGeom>
          <a:solidFill>
            <a:srgbClr val="B4552D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123950" y="1914525"/>
            <a:ext cx="3952875" cy="12096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7200" b="1">
                <a:solidFill>
                  <a:srgbClr val="1F3A34"/>
                </a:solidFill>
                <a:latin typeface="宋体"/>
                <a:ea typeface="宋体"/>
              </a:rPr>
              <a:t>声声慢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1123950" y="3314700"/>
            <a:ext cx="39528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>
                <a:solidFill>
                  <a:srgbClr val="1F3A34"/>
                </a:solidFill>
                <a:latin typeface="宋体"/>
                <a:ea typeface="宋体"/>
              </a:rPr>
              <a:t>李清照</a:t>
            </a:r>
            <a:r>
              <a:rPr lang="en-US" sz="2550">
                <a:solidFill>
                  <a:srgbClr val="1F3A34"/>
                </a:solidFill>
                <a:latin typeface="宋体"/>
                <a:ea typeface="宋体"/>
              </a:rPr>
              <a:t xml:space="preserve"> · </a:t>
            </a:r>
            <a:r>
              <a:rPr lang="zh-CN" sz="2550">
                <a:solidFill>
                  <a:srgbClr val="1F3A34"/>
                </a:solidFill>
                <a:latin typeface="宋体"/>
                <a:ea typeface="宋体"/>
              </a:rPr>
              <a:t>寻寻觅觅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123950" y="4010025"/>
            <a:ext cx="39528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6B6B6B"/>
                </a:solidFill>
                <a:latin typeface="宋体"/>
                <a:ea typeface="宋体"/>
              </a:rPr>
              <a:t>一节课，把“愁”读成看得见的东西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609600" y="57912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5886450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统编版必修上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第三单元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0991850" y="58864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01/16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0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一次广播导赏&lt;/Text&gt;&#13;&#10;    &lt;Text style={{ fontSize: 24, color: '#6B6B6B' }}&gt;环节一 · 导入与诊断&lt;/Text&gt;&#13;&#10;  &lt;/Box&gt;&#13;&#10;  &lt;Box style={{ height: 472, marginTop: 20, flexDirection: 'column' }}&gt;&#13;&#10;  &lt;Box style={{ flexDirection: 'row', height: 472 }}&gt;&#13;&#10;    &lt;Box style={{ width: 620, paddingRight: 40, flexDirection: 'column', justifyContent: 'center' }}&gt;&#13;&#10;      &lt;Text style={{ fontSize: 28, color: '#1F3A34', lineHeight: 1.8 }}&gt;学校“词的声音”栏目要做一期朗读导赏。&lt;/Text&gt;&#13;&#10;      &lt;Text style={{ fontSize: 28, color: '#1F3A34', lineHeight: 1.8, marginTop: 24 }}&gt;导赏稿不能说“这首词很悲伤”，要说清：哪一句该怎么读，为什么这么读。&lt;/Text&gt;&#13;&#10;    &lt;/Box&gt;&#13;&#10;    &lt;Box style={{ flex: 1, background: 'rgba(31,58,52,0.06)', padding: 32, flexDirection: 'column', justifyContent: 'center' }}&gt;&#13;&#10;      &lt;Text style={{ fontSize: 28, fontWeight: 'bold', color: '#1F3A34' }}&gt;导赏稿要回答三件事&lt;/Text&gt;&#13;&#10;      &lt;Text style={{ fontSize: 28, color: '#1F3A34', lineHeight: 2, marginTop: 16 }}&gt;一、哪里放慢&lt;/Text&gt;&#13;&#10;      &lt;Text style={{ fontSize: 28, color: '#1F3A34', lineHeight: 2 }}&gt;二、哪里压住&lt;/Text&gt;&#13;&#10;      &lt;Text style={{ fontSize: 28, color: '#1F3A34', lineHeight: 2 }}&gt;三、末句怎么收&lt;/Text&gt;&#13;&#10;    &lt;/Box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2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2286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一次广播导赏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9525000" y="866775"/>
            <a:ext cx="2057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环节一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导入与诊断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09600" y="2600325"/>
            <a:ext cx="5524500" cy="5810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学校“词的声音”栏目要做一期朗读导赏。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09600" y="3409950"/>
            <a:ext cx="5524500" cy="1152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导赏稿不能说“这首词很悲伤”，要说清：哪一句该怎么读，为什么这么读。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6515100" y="1333500"/>
            <a:ext cx="5067300" cy="449580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19900" y="2371725"/>
            <a:ext cx="4457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导赏稿要回答三件事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819900" y="2847975"/>
            <a:ext cx="4457700" cy="647700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一、哪里放慢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6819900" y="3495675"/>
            <a:ext cx="4457700" cy="647700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二、哪里压住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819900" y="4143375"/>
            <a:ext cx="4457700" cy="647700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三、末句怎么收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02/16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44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三个词，三种直觉&lt;/Text&gt;&#13;&#10;    &lt;Text style={{ fontSize: 24, color: '#6B6B6B' }}&gt;环节一 · 导入与诊断&lt;/Text&gt;&#13;&#10;  &lt;/Box&gt;&#13;&#10;  &lt;Box style={{ height: 472, marginTop: 20, flexDirection: 'column' }}&gt;&#13;&#10;  &lt;Box style={{ flexDirection: 'row', gap: 24, height: 200 }}&gt;&#13;&#10;    &lt;Box style={{ flex: 1, background: 'rgba(31,58,52,0.06)', alignItems: 'center', justifyContent: 'center', flexDirection: 'column' }}&gt;&#13;&#10;      &lt;Text style={{ fontSize: 40, fontWeight: 'bold', color: '#1F3A34' }}&gt;梧桐&lt;/Text&gt;&#13;&#10;    &lt;/Box&gt;&#13;&#10;    &lt;Box style={{ flex: 1, background: 'rgba(31,58,52,0.06)', alignItems: 'center', justifyContent: 'center', flexDirection: 'column' }}&gt;&#13;&#10;      &lt;Text style={{ fontSize: 40, fontWeight: 'bold', color: '#1F3A34' }}&gt;细雨&lt;/Text&gt;&#13;&#10;    &lt;/Box&gt;&#13;&#10;    &lt;Box style={{ flex: 1, background: 'rgba(31,58,52,0.06)', alignItems: 'center', justifyContent: 'center', flexDirection: 'column' }}&gt;&#13;&#10;      &lt;Text style={{ fontSize: 40, fontWeight: 'bold', color: '#1F3A34' }}&gt;黄花&lt;/Text&gt;&#13;&#10;    &lt;/Box&gt;&#13;&#10;  &lt;/Box&gt;&#13;&#10;  &lt;Box style={{ marginTop: 28, borderLeft: '4px solid #B4552D', paddingLeft: 24, flexDirection: 'column' }}&gt;&#13;&#10;    &lt;Text style={{ fontSize: 28, color: '#1F3A34', lineHeight: 1.8 }}&gt;各写一个形容词，再圈出词里让你这么写的那个字。&lt;/Text&gt;&#13;&#10;    &lt;Text style={{ fontSize: 24, color: '#6B6B6B', marginTop: 12 }}&gt;写不出“哪个字”，先放着，这节课就是来解决它的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3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048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三个词，三种直觉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525000" y="866775"/>
            <a:ext cx="2057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环节一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导入与诊断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09600" y="1333500"/>
            <a:ext cx="3505200" cy="190500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981200" y="2057400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梧桐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4343400" y="1333500"/>
            <a:ext cx="3505200" cy="190500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715000" y="2057400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细雨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077200" y="1333500"/>
            <a:ext cx="3505200" cy="190500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448800" y="2057400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黄花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09600" y="3505200"/>
            <a:ext cx="11010900" cy="971550"/>
          </a:xfrm>
          <a:custGeom>
            <a:pathLst>
              <a:path w="1156" h="102">
                <a:moveTo>
                  <a:pt x="0" y="0"/>
                </a:moveTo>
                <a:lnTo>
                  <a:pt x="4" y="0"/>
                </a:lnTo>
                <a:lnTo>
                  <a:pt x="4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B4552D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76300" y="3505200"/>
            <a:ext cx="10706100" cy="5810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各写一个形容词，再圈出词里让你这么写的那个字。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76300" y="4200525"/>
            <a:ext cx="10706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写不出“哪个字”，先放着，这节课就是来解决它的。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03/16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0" name="" descr="&lt;Slide style={{ background: '#F5F1E6', padding: '48px 64px', fontFamily: '宋体' }}&gt;&#13;&#10;  &lt;Box style={{ flexDirection: 'row', justifyContent: 'space-between', alignItems: 'flex-end', height: 72 }}&gt;&#13;&#10;    &lt;Text style={{ fontSize: 44, fontWeight: 'bold', color: '#1F3A34', lineHeight: 1.2 }}&gt;一个“愁”字，够不够用&lt;/Text&gt;&#13;&#10;    &lt;Text style={{ fontSize: 24, color: '#6B6B6B' }}&gt;主问题&lt;/Text&gt;&#13;&#10;  &lt;/Box&gt;&#13;&#10;  &lt;Box style={{ height: 472, marginTop: 20, flexDirection: 'column' }}&gt;&#13;&#10;  &lt;Box style={{ height: 472, justifyContent: 'center', flexDirection: 'column' }}&gt;&#13;&#10;    &lt;Text style={{ fontSize: 56, fontWeight: 'bold', color: '#1F3A34', lineHeight: 1.5 }}&gt;全词只写一个“愁”，&lt;/Text&gt;&#13;&#10;    &lt;Text style={{ fontSize: 56, fontWeight: 'bold', color: '#1F3A34', lineHeight: 1.5 }}&gt;为什么结尾说“怎一个愁字了得”？&lt;/Text&gt;&#13;&#10;    &lt;Text style={{ fontSize: 24, color: '#6B6B6B', marginTop: 40 }}&gt;这个问题，全课只答一次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4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533400"/>
            <a:ext cx="4191000" cy="6096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1F3A34"/>
                </a:solidFill>
                <a:latin typeface="宋体"/>
                <a:ea typeface="宋体"/>
              </a:rPr>
              <a:t>一个“愁”字，够不够用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0896600" y="866775"/>
            <a:ext cx="685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主问题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09600" y="2295525"/>
            <a:ext cx="10972800" cy="9620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4200" b="1">
                <a:solidFill>
                  <a:srgbClr val="1F3A34"/>
                </a:solidFill>
                <a:latin typeface="宋体"/>
                <a:ea typeface="宋体"/>
              </a:rPr>
              <a:t>全词只写一个“愁”，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09600" y="3257550"/>
            <a:ext cx="10972800" cy="9620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4200" b="1">
                <a:solidFill>
                  <a:srgbClr val="1F3A34"/>
                </a:solidFill>
                <a:latin typeface="宋体"/>
                <a:ea typeface="宋体"/>
              </a:rPr>
              <a:t>为什么结尾说“怎一个愁字了得”？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09600" y="4600575"/>
            <a:ext cx="1097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这个问题，全课只答一次。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04/16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70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任务一：十四字怎么走&lt;/Text&gt;&#13;&#10;    &lt;Text style={{ fontSize: 24, color: '#6B6B6B' }}&gt;环节二 · 任务一&lt;/Text&gt;&#13;&#10;  &lt;/Box&gt;&#13;&#10;  &lt;Box style={{ height: 472, marginTop: 20, flexDirection: 'column' }}&gt;&#13;&#10;  &lt;Box style={{ marginTop: 40, padding: '36px 40px', background: 'rgba(31,58,52,0.05)', flexDirection: 'column' }}&gt;&#13;&#10;    &lt;Text style={{ fontSize: 34, color: '#1F3A34', lineHeight: 2.1, letterSpacing: 2 }}&gt;寻寻觅觅，冷冷清清，凄凄惨惨戚戚。&lt;/Text&gt;&#13;&#10;  &lt;/Box&gt;&#13;&#10;  &lt;Box style={{ marginTop: 32, flexDirection: 'row', alignItems: 'center' }}&gt;&#13;&#10;    &lt;Text style={{ fontSize: 28, color: '#1F3A34' }}&gt;先读一遍，数一数你在哪里停过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5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810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任务一：十四字怎么走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环节二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任务一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09600" y="1714500"/>
            <a:ext cx="10972800" cy="1504950"/>
          </a:xfrm>
          <a:prstGeom prst="rect">
            <a:avLst/>
          </a:prstGeom>
          <a:solidFill>
            <a:srgbClr val="1F3A34">
              <a:alpha val="5000"/>
            </a:srgbClr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90600" y="2057400"/>
            <a:ext cx="10210800" cy="819150"/>
          </a:xfrm>
          <a:prstGeom prst="rect"/>
        </p:spPr>
        <p:txBody>
          <a:bodyPr wrap="none" lIns="0" tIns="0" rIns="0" bIns="0"/>
          <a:p>
            <a:pPr>
              <a:lnSpc>
                <a:spcPct val="210000"/>
              </a:lnSpc>
            </a:pPr>
            <a:r>
              <a:rPr lang="zh-CN" sz="2550" spc="150">
                <a:solidFill>
                  <a:srgbClr val="1F3A34"/>
                </a:solidFill>
                <a:latin typeface="宋体"/>
                <a:ea typeface="宋体"/>
              </a:rPr>
              <a:t>寻寻觅觅，冷冷清清，凄凄惨惨戚戚。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09600" y="3524250"/>
            <a:ext cx="40005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先读一遍，数一数你在哪里停过。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05/16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0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标一动，标一态&lt;/Text&gt;&#13;&#10;    &lt;Text style={{ fontSize: 24, color: '#6B6B6B' }}&gt;环节二 · 任务一&lt;/Text&gt;&#13;&#10;  &lt;/Box&gt;&#13;&#10;  &lt;Box style={{ height: 472, marginTop: 20, flexDirection: 'column' }}&gt;&#13;&#10;  &lt;Box style={{ flexDirection: 'row', height: 472 }}&gt;&#13;&#10;    &lt;Box style={{ width: 420, paddingRight: 40, flexDirection: 'column', justifyContent: 'center' }}&gt;&#13;&#10;      &lt;Text style={{ fontSize: 28, color: '#1F3A34', lineHeight: 1.9 }}&gt;给十四个字逐个标注：&lt;/Text&gt;&#13;&#10;      &lt;Text style={{ fontSize: 28, fontWeight: 'bold', color: '#B4552D', lineHeight: 1.9 }}&gt;写“找”的动作，还是“找不到”的状态？&lt;/Text&gt;&#13;&#10;      &lt;Text style={{ fontSize: 24, color: '#6B6B6B', marginTop: 20, lineHeight: 1.7 }}&gt;标完再读一遍，听听语速有没有变。&lt;/Text&gt;&#13;&#10;    &lt;/Box&gt;&#13;&#10;    &lt;Box style={{ flex: 1, flexDirection: 'column', justifyContent: 'center' }}&gt;&#13;&#10;      &lt;Box style={{ flexDirection: 'row', gap: 10 }}&gt;&#13;&#10;        &lt;Box style={{ width: 52, height: 150, border: '1px solid rgba(31,58,52,0.35)', alignItems: 'center', justifyContent: 'flex-start', paddingTop: 12 }}&gt;&#13;&#10;          &lt;Text style={{ fontSize: 28, color: '#1F3A34' }}&gt;寻&lt;/Text&gt;&#13;&#10;        &lt;/Box&gt;&lt;Box style={{ width: 52, height: 150, border: '1px solid rgba(31,58,52,0.35)', alignItems: 'center', justifyContent: 'flex-start', paddingTop: 12 }}&gt;&#13;&#10;          &lt;Text style={{ fontSize: 28, color: '#1F3A34' }}&gt;寻&lt;/Text&gt;&#13;&#10;        &lt;/Box&gt;&lt;Box style={{ width: 52, height: 150, border: '1px solid rgba(31,58,52,0.35)', alignItems: 'center', justifyContent: 'flex-start', paddingTop: 12 }}&gt;&#13;&#10;          &lt;Text style={{ fontSize: 28, color: '#1F3A34' }}&gt;觅&lt;/Text&gt;&#13;&#10;        &lt;/Box&gt;&lt;Box style={{ width: 52, height: 150, border: '1px solid rgba(31,58,52,0.35)', alignItems: 'center', justifyContent: 'flex-start', paddingTop: 12 }}&gt;&#13;&#10;          &lt;Text style={{ fontSize: 28, color: '#1F3A34' }}&gt;觅&lt;/Text&gt;&#13;&#10;        &lt;/Box&gt;&lt;Box style={{ width: 52, height: 150, border: '1px solid rgba(31,58,52,0.35)', alignItems: 'center', justifyContent: 'flex-start', paddingTop: 12 }}&gt;&#13;&#10;          &lt;Text style={{ fontSize: 28, color: '#1F3A34' }}&gt;冷&lt;/Text&gt;&#13;&#10;        &lt;/Box&gt;&lt;Box style={{ width: 52, height: 150, border: '1px solid rgba(31,58,52,0.35)', alignItems: 'center', justifyContent: 'flex-start', paddingTop: 12 }}&gt;&#13;&#10;          &lt;Text style={{ fontSize: 28, color: '#1F3A34' }}&gt;冷&lt;/Text&gt;&#13;&#10;        &lt;/Box&gt;&lt;Box style={{ width: 52, height: 150, border: '1px solid rgba(31,58,52,0.35)', alignItems: 'center', justifyContent: 'flex-start', paddingTop: 12 }}&gt;&#13;&#10;          &lt;Text style={{ fontSize: 28, color: '#1F3A34' }}&gt;清&lt;/Text&gt;&#13;&#10;        &lt;/Box&gt;&lt;Box style={{ width: 52, height: 150, border: '1px solid rgba(31,58,52,0.35)', alignItems: 'center', justifyContent: 'flex-start', paddingTop: 12 }}&gt;&#13;&#10;          &lt;Text style={{ fontSize: 28, color: '#1F3A34' }}&gt;清&lt;/Text&gt;&#13;&#10;        &lt;/Box&gt;&#13;&#10;      &lt;/Box&gt;&#13;&#10;      &lt;Box style={{ flexDirection: 'row', gap: 10, marginTop: 14 }}&gt;&#13;&#10;        &lt;Box style={{ width: 52, height: 150, border: '1px solid rgba(31,58,52,0.35)', alignItems: 'center', justifyContent: 'flex-start', paddingTop: 12 }}&gt;&#13;&#10;          &lt;Text style={{ fontSize: 28, color: '#1F3A34' }}&gt;凄&lt;/Text&gt;&#13;&#10;        &lt;/Box&gt;&lt;Box style={{ width: 52, height: 150, border: '1px solid rgba(31,58,52,0.35)', alignItems: 'center', justifyContent: 'flex-start', paddingTop: 12 }}&gt;&#13;&#10;          &lt;Text style={{ fontSize: 28, color: '#1F3A34' }}&gt;凄&lt;/Text&gt;&#13;&#10;        &lt;/Box&gt;&lt;Box style={{ width: 52, height: 150, border: '1px solid rgba(31,58,52,0.35)', alignItems: 'center', justifyContent: 'flex-start', paddingTop: 12 }}&gt;&#13;&#10;          &lt;Text style={{ fontSize: 28, color: '#1F3A34' }}&gt;惨&lt;/Text&gt;&#13;&#10;        &lt;/Box&gt;&lt;Box style={{ width: 52, height: 150, border: '1px solid rgba(31,58,52,0.35)', alignItems: 'center', justifyContent: 'flex-start', paddingTop: 12 }}&gt;&#13;&#10;          &lt;Text style={{ fontSize: 28, color: '#1F3A34' }}&gt;惨&lt;/Text&gt;&#13;&#10;        &lt;/Box&gt;&lt;Box style={{ width: 52, height: 150, border: '1px solid rgba(31,58,52,0.35)', alignItems: 'center', justifyContent: 'flex-start', paddingTop: 12 }}&gt;&#13;&#10;          &lt;Text style={{ fontSize: 28, color: '#1F3A34' }}&gt;戚&lt;/Text&gt;&#13;&#10;        &lt;/Box&gt;&lt;Box style={{ width: 52, height: 150, border: '1px solid rgba(31,58,52,0.35)', alignItems: 'center', justifyContent: 'flex-start', paddingTop: 12 }}&gt;&#13;&#10;          &lt;Text style={{ fontSize: 28, color: '#1F3A34' }}&gt;戚&lt;/Text&gt;&#13;&#10;        &lt;/Box&gt;&#13;&#10;      &lt;/Box&gt;&#13;&#10;      &lt;Text style={{ fontSize: 24, color: '#6B6B6B', marginTop: 20 }}&gt;每格一个字；下面留白处写“动”或“态”。&lt;/Text&gt;&#13;&#10;    &lt;/Box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6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2667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标一动，标一态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环节二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任务一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2105025"/>
            <a:ext cx="3619500" cy="609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给十四个字逐个标注：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09600" y="2714625"/>
            <a:ext cx="3619500" cy="1219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写“找”的动作，还是“找不到”的状态？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09600" y="4124325"/>
            <a:ext cx="36195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标完再读一遍，听听语速有没有变。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461010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72440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寻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520065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31495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寻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579120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590550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觅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38175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49605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觅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697230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08660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冷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756285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767715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冷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815340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26770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清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8743950" y="18573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858250" y="19716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清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4610100" y="34194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724400" y="35337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凄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5200650" y="34194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314950" y="35337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凄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5791200" y="34194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905500" y="35337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惨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381750" y="34194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496050" y="35337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惨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6972300" y="34194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086600" y="35337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戚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562850" y="3419475"/>
            <a:ext cx="495300" cy="142875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677150" y="3533775"/>
            <a:ext cx="266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戚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610100" y="5038725"/>
            <a:ext cx="6972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每格一个字；下面留白处写“动”或“态”。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06/16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19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从“找”到“找不到”&lt;/Text&gt;&#13;&#10;    &lt;Text style={{ fontSize: 24, color: '#6B6B6B' }}&gt;环节二 · 任务一&lt;/Text&gt;&#13;&#10;  &lt;/Box&gt;&#13;&#10;  &lt;Box style={{ height: 472, marginTop: 20, flexDirection: 'column' }}&gt;&#13;&#10;  &lt;Box style={{ height: 472, flexDirection: 'column', justifyContent: 'center', gap: 24 }}&gt;&#13;&#10;    &lt;Box style={{ height: 120, background: 'rgba(31,58,52,0.06)', flexDirection: 'row', alignItems: 'center', paddingLeft: 32 }}&gt;&#13;&#10;      &lt;Text style={{ fontSize: 34, fontWeight: 'bold', color: '#1F3A34' }}&gt;寻寻觅觅&lt;/Text&gt;&#13;&#10;      &lt;Text style={{ fontSize: 28, color: '#6B6B6B', marginLeft: 24 }}&gt;找 —— 而且是找了很久&lt;/Text&gt;&#13;&#10;    &lt;/Box&gt;&#13;&#10;    &lt;Box style={{ height: 120, background: 'rgba(31,58,52,0.09)', flexDirection: 'row', alignItems: 'center', paddingLeft: 32 }}&gt;&#13;&#10;      &lt;Text style={{ fontSize: 34, fontWeight: 'bold', color: '#1F3A34' }}&gt;冷冷清清&lt;/Text&gt;&#13;&#10;      &lt;Text style={{ fontSize: 28, color: '#6B6B6B', marginLeft: 24 }}&gt;找不到 —— 屋子空，人也空&lt;/Text&gt;&#13;&#10;    &lt;/Box&gt;&#13;&#10;    &lt;Box style={{ height: 120, background: 'rgba(180,85,45,0.12)', flexDirection: 'row', alignItems: 'center', paddingLeft: 32 }}&gt;&#13;&#10;      &lt;Text style={{ fontSize: 34, fontWeight: 'bold', color: '#B4552D' }}&gt;凄凄惨惨戚戚&lt;/Text&gt;&#13;&#10;      &lt;Text style={{ fontSize: 28, color: '#1F3A34', marginLeft: 24 }}&gt;连自己也没找回来&lt;/Text&gt;&#13;&#10;    &lt;/Box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7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038475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从“找”到“找不到”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环节二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任务一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09600" y="1638300"/>
            <a:ext cx="10972800" cy="114300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914400" y="20193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寻寻觅觅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2438400" y="2047875"/>
            <a:ext cx="27908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6B6B6B"/>
                </a:solidFill>
                <a:latin typeface="宋体"/>
                <a:ea typeface="宋体"/>
              </a:rPr>
              <a:t>找</a:t>
            </a:r>
            <a:r>
              <a:rPr lang="en-US" sz="2100">
                <a:solidFill>
                  <a:srgbClr val="6B6B6B"/>
                </a:solidFill>
                <a:latin typeface="宋体"/>
                <a:ea typeface="宋体"/>
              </a:rPr>
              <a:t xml:space="preserve"> —— </a:t>
            </a:r>
            <a:r>
              <a:rPr lang="zh-CN" sz="2100">
                <a:solidFill>
                  <a:srgbClr val="6B6B6B"/>
                </a:solidFill>
                <a:latin typeface="宋体"/>
                <a:ea typeface="宋体"/>
              </a:rPr>
              <a:t>而且是找了很久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09600" y="3009900"/>
            <a:ext cx="10972800" cy="1143000"/>
          </a:xfrm>
          <a:prstGeom prst="rect">
            <a:avLst/>
          </a:prstGeom>
          <a:solidFill>
            <a:srgbClr val="1F3A34">
              <a:alpha val="9000"/>
            </a:srgbClr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14400" y="33909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冷冷清清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2438400" y="3419475"/>
            <a:ext cx="33242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6B6B6B"/>
                </a:solidFill>
                <a:latin typeface="宋体"/>
                <a:ea typeface="宋体"/>
              </a:rPr>
              <a:t>找不到</a:t>
            </a:r>
            <a:r>
              <a:rPr lang="en-US" sz="2100">
                <a:solidFill>
                  <a:srgbClr val="6B6B6B"/>
                </a:solidFill>
                <a:latin typeface="宋体"/>
                <a:ea typeface="宋体"/>
              </a:rPr>
              <a:t xml:space="preserve"> —— </a:t>
            </a:r>
            <a:r>
              <a:rPr lang="zh-CN" sz="2100">
                <a:solidFill>
                  <a:srgbClr val="6B6B6B"/>
                </a:solidFill>
                <a:latin typeface="宋体"/>
                <a:ea typeface="宋体"/>
              </a:rPr>
              <a:t>屋子空，人也空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09600" y="4381500"/>
            <a:ext cx="10972800" cy="1143000"/>
          </a:xfrm>
          <a:prstGeom prst="rect">
            <a:avLst/>
          </a:prstGeom>
          <a:solidFill>
            <a:srgbClr val="B4552D">
              <a:alpha val="12000"/>
            </a:srgbClr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14400" y="4762500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B4552D"/>
                </a:solidFill>
                <a:latin typeface="宋体"/>
                <a:ea typeface="宋体"/>
              </a:rPr>
              <a:t>凄凄惨惨戚戚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3086100" y="4791075"/>
            <a:ext cx="21336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连自己也没找回来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07/16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35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六样东西，两个时候&lt;/Text&gt;&#13;&#10;    &lt;Text style={{ fontSize: 24, color: '#6B6B6B' }}&gt;环节三 · 任务二&lt;/Text&gt;&#13;&#10;  &lt;/Box&gt;&#13;&#10;  &lt;Box style={{ height: 472, marginTop: 20, flexDirection: 'column' }}&gt;&#13;&#10;  &lt;Box style={{ height: 472, flexDirection: 'column', justifyContent: 'center' }}&gt;&#13;&#10;    &lt;Text style={{ fontSize: 28, color: '#6B6B6B' }}&gt;词里写着六样东西——&lt;/Text&gt;&#13;&#10;    &lt;Box style={{ flexDirection: 'row', gap: 20, marginTop: 24, height: 150 }}&gt;&#13;&#10;      &lt;Box style={{ flex: 1, background: 'rgba(31,58,52,0.06)', alignItems: 'center', justifyContent: 'center' }}&gt;&lt;Text style={{ fontSize: 40, fontWeight: 'bold', color: '#1F3A34' }}&gt;淡酒&lt;/Text&gt;&lt;/Box&gt;&#13;&#10;      &lt;Box style={{ flex: 1, background: 'rgba(31,58,52,0.06)', alignItems: 'center', justifyContent: 'center' }}&gt;&lt;Text style={{ fontSize: 40, fontWeight: 'bold', color: '#1F3A34' }}&gt;晚风&lt;/Text&gt;&lt;/Box&gt;&#13;&#10;      &lt;Box style={{ flex: 1, background: 'rgba(31,58,52,0.06)', alignItems: 'center', justifyContent: 'center' }}&gt;&lt;Text style={{ fontSize: 40, fontWeight: 'bold', color: '#1F3A34' }}&gt;过雁&lt;/Text&gt;&lt;/Box&gt;&#13;&#10;    &lt;/Box&gt;&#13;&#10;    &lt;Box style={{ flexDirection: 'row', gap: 20, marginTop: 20, height: 150 }}&gt;&#13;&#10;      &lt;Box style={{ flex: 1, background: 'rgba(31,58,52,0.06)', alignItems: 'center', justifyContent: 'center' }}&gt;&lt;Text style={{ fontSize: 40, fontWeight: 'bold', color: '#1F3A34' }}&gt;黄花&lt;/Text&gt;&lt;/Box&gt;&#13;&#10;      &lt;Box style={{ flex: 1, background: 'rgba(31,58,52,0.06)', alignItems: 'center', justifyContent: 'center' }}&gt;&lt;Text style={{ fontSize: 40, fontWeight: 'bold', color: '#1F3A34' }}&gt;梧桐&lt;/Text&gt;&lt;/Box&gt;&#13;&#10;      &lt;Box style={{ flex: 1, background: 'rgba(31,58,52,0.06)', alignItems: 'center', justifyContent: 'center' }}&gt;&lt;Text style={{ fontSize: 40, fontWeight: 'bold', color: '#1F3A34' }}&gt;细雨&lt;/Text&gt;&lt;/Box&gt;&#13;&#10;    &lt;/Box&gt;&#13;&#10;    &lt;Text style={{ fontSize: 28, color: '#1F3A34', marginTop: 24 }}&gt;它们都在词里，但不在同一个“时候”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8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429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六样东西，两个时候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环节三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任务二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150495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6B6B6B"/>
                </a:solidFill>
                <a:latin typeface="宋体"/>
                <a:ea typeface="宋体"/>
              </a:rPr>
              <a:t>词里写着六样东西——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09600" y="2057400"/>
            <a:ext cx="3533775" cy="1428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000250" y="2543175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淡酒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4333875" y="2057400"/>
            <a:ext cx="3524250" cy="1428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715000" y="2543175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晚风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048625" y="2057400"/>
            <a:ext cx="3533775" cy="1428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9439275" y="2543175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过雁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09600" y="3676650"/>
            <a:ext cx="3533775" cy="1428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000250" y="4162425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黄花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4333875" y="3676650"/>
            <a:ext cx="3524250" cy="1428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5715000" y="4162425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梧桐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048625" y="3676650"/>
            <a:ext cx="3533775" cy="1428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9439275" y="4162425"/>
            <a:ext cx="762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细雨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33400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它们都在词里，但不在同一个“时候”。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08/16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56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每一项都要一个依据字&lt;/Text&gt;&#13;&#10;    &lt;Text style={{ fontSize: 24, color: '#6B6B6B' }}&gt;环节三 · 任务二&lt;/Text&gt;&#13;&#10;  &lt;/Box&gt;&#13;&#10;  &lt;Box style={{ height: 472, marginTop: 20, flexDirection: 'column' }}&gt;&#13;&#10;  &lt;Box style={{ height: 472, flexDirection: 'column' }}&gt;&#13;&#10;    &lt;Text style={{ fontSize: 28, color: '#1F3A34' }}&gt;把六样东西分进两栏，并在每样后面写一个“依据字”。&lt;/Text&gt;&#13;&#10;    &lt;Box style={{ flexDirection: 'row', gap: 24, marginTop: 24, height: 300 }}&gt;&#13;&#10;      &lt;Box style={{ flex: 1, border: '1px solid rgba(31,58,52,0.35)', padding: 20, flexDirection: 'column' }}&gt;&#13;&#10;        &lt;Text style={{ fontSize: 28, fontWeight: 'bold', color: '#1F3A34' }}&gt;旧时就有的&lt;/Text&gt;&#13;&#10;        &lt;Text style={{ fontSize: 24, color: '#6B6B6B', marginTop: 16 }}&gt;依据：______&lt;/Text&gt;&#13;&#10;      &lt;/Box&gt;&#13;&#10;      &lt;Box style={{ flex: 1, border: '1px solid rgba(180,85,45,0.45)', padding: 20, flexDirection: 'column' }}&gt;&#13;&#10;        &lt;Text style={{ fontSize: 28, fontWeight: 'bold', color: '#B4552D' }}&gt;如今才这样的&lt;/Text&gt;&#13;&#10;        &lt;Text style={{ fontSize: 24, color: '#6B6B6B', marginTop: 16 }}&gt;依据：______&lt;/Text&gt;&#13;&#10;      &lt;/Box&gt;&#13;&#10;    &lt;/Box&gt;&#13;&#10;    &lt;Text style={{ fontSize: 24, color: '#6B6B6B', marginTop: 20 }}&gt;“依据字”就是那个告诉你答案的字，不是你的感觉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09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810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每一项都要一个依据字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环节三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任务二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09600" y="133350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把六样东西分进两栏，并在每样后面写一个“依据字”。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09600" y="1885950"/>
            <a:ext cx="5372100" cy="285750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00100" y="2076450"/>
            <a:ext cx="4991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旧时就有的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800100" y="2552700"/>
            <a:ext cx="4991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依据：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>______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210300" y="1885950"/>
            <a:ext cx="5372100" cy="2857500"/>
          </a:xfrm>
          <a:prstGeom prst="rect">
            <a:avLst/>
          </a:prstGeom>
          <a:ln w="12700">
            <a:solidFill>
              <a:srgbClr val="B4552D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400800" y="2076450"/>
            <a:ext cx="49911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如今才这样的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400800" y="2552700"/>
            <a:ext cx="4991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依据：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>______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09600" y="4933950"/>
            <a:ext cx="1097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“依据字”就是那个告诉你答案的字，不是你的感觉。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09/16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0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“旧时相识”与“有谁堪摘”&lt;/Text&gt;&#13;&#10;    &lt;Text style={{ fontSize: 24, color: '#6B6B6B' }}&gt;环节三 · 任务二&lt;/Text&gt;&#13;&#10;  &lt;/Box&gt;&#13;&#10;  &lt;Box style={{ height: 472, marginTop: 20, flexDirection: 'column' }}&gt;&#13;&#10;  &lt;Box style={{ height: 472, flexDirection: 'column' }}&gt;&#13;&#10;    &lt;Box style={{ flexDirection: 'row', gap: 24, height: 300, marginTop: 16 }}&gt;&#13;&#10;      &lt;Box style={{ flex: 1, background: 'rgba(31,58,52,0.07)', padding: 24, flexDirection: 'column' }}&gt;&#13;&#10;        &lt;Text style={{ fontSize: 28, fontWeight: 'bold', color: '#1F3A34' }}&gt;旧时&lt;/Text&gt;&#13;&#10;        &lt;Text style={{ fontSize: 28, color: '#1F3A34', marginTop: 20, lineHeight: 1.9 }}&gt;过雁&lt;/Text&gt;&#13;&#10;        &lt;Text style={{ fontSize: 24, color: '#6B6B6B', marginTop: 8 }}&gt;依据：旧时相识&lt;/Text&gt;&#13;&#10;      &lt;/Box&gt;&#13;&#10;      &lt;Box style={{ flex: 1, background: 'rgba(180,85,45,0.10)', padding: 24, flexDirection: 'column' }}&gt;&#13;&#10;        &lt;Text style={{ fontSize: 28, fontWeight: 'bold', color: '#B4552D' }}&gt;如今&lt;/Text&gt;&#13;&#10;        &lt;Text style={{ fontSize: 28, color: '#1F3A34', marginTop: 20, lineHeight: 1.9 }}&gt;黄花&lt;/Text&gt;&#13;&#10;        &lt;Text style={{ fontSize: 24, color: '#6B6B6B', marginTop: 8 }}&gt;依据：有谁堪摘&lt;/Text&gt;&#13;&#10;      &lt;/Box&gt;&#13;&#10;    &lt;/Box&gt;&#13;&#10;    &lt;Text style={{ fontSize: 28, color: '#1F3A34', marginTop: 24 }}&gt;花还在开，摘花的人不在了——东西没变，时候变了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0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4181475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“旧时相识”与“有谁堪摘”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环节三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任务二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09600" y="1485900"/>
            <a:ext cx="5372100" cy="2857500"/>
          </a:xfrm>
          <a:prstGeom prst="rect">
            <a:avLst/>
          </a:prstGeom>
          <a:solidFill>
            <a:srgbClr val="1F3A34">
              <a:alpha val="7000"/>
            </a:srgbClr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38200" y="1714500"/>
            <a:ext cx="4914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旧时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838200" y="2228850"/>
            <a:ext cx="4914900" cy="609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过雁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38200" y="2914650"/>
            <a:ext cx="4914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依据：旧时相识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6210300" y="1485900"/>
            <a:ext cx="5372100" cy="2857500"/>
          </a:xfrm>
          <a:prstGeom prst="rect">
            <a:avLst/>
          </a:prstGeom>
          <a:solidFill>
            <a:srgbClr val="B4552D">
              <a:alpha val="10000"/>
            </a:srgbClr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714500"/>
            <a:ext cx="4914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如今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2228850"/>
            <a:ext cx="4914900" cy="609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黄花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438900" y="2914650"/>
            <a:ext cx="4914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依据：有谁堪摘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457200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花还在开，摘花的人不在了——东西没变，时候变了。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10/16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26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修订：把“我觉得”换成“因为”&lt;/Text&gt;&#13;&#10;    &lt;Text style={{ fontSize: 24, color: '#6B6B6B' }}&gt;环节四 · 修订&lt;/Text&gt;&#13;&#10;  &lt;/Box&gt;&#13;&#10;  &lt;Box style={{ height: 472, marginTop: 20, flexDirection: 'column' }}&gt;&#13;&#10;  &lt;Box style={{ height: 472, flexDirection: 'column', justifyContent: 'center' }}&gt;&#13;&#10;    &lt;Text style={{ fontSize: 34, fontWeight: 'bold', color: '#1F3A34' }}&gt;改一句话：把“我觉得凄凉”改成“因为某字……”&lt;/Text&gt;&#13;&#10;    &lt;Box style={{ marginTop: 28, borderLeft: '4px solid #B4552D', paddingLeft: 24, flexDirection: 'column' }}&gt;&#13;&#10;      &lt;Text style={{ fontSize: 28, color: '#1F3A34', lineHeight: 1.9 }}&gt;达标：指出依据字，并说出它在哪一句。&lt;/Text&gt;&#13;&#10;      &lt;Text style={{ fontSize: 28, color: '#1F3A34', lineHeight: 1.9, marginTop: 8 }}&gt;优秀：还能说出这个字有几种讲法。&lt;/Text&gt;&#13;&#10;    &lt;/Box&gt;&#13;&#10;    &lt;Text style={{ fontSize: 28, color: '#B4552D', marginTop: 28 }}&gt;只改“依据字”那一列，3 分钟，不重抄表格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1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4943475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修订：把“我觉得”换成“因为”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210800" y="86677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环节四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修订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609600" y="23145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改一句话：把“我觉得凄凉”改成“因为某字……”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09600" y="2971800"/>
            <a:ext cx="11010900" cy="1295400"/>
          </a:xfrm>
          <a:custGeom>
            <a:pathLst>
              <a:path w="1156" h="136">
                <a:moveTo>
                  <a:pt x="0" y="0"/>
                </a:moveTo>
                <a:lnTo>
                  <a:pt x="4" y="0"/>
                </a:lnTo>
                <a:lnTo>
                  <a:pt x="4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B4552D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76300" y="2971800"/>
            <a:ext cx="10706100" cy="609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达标：指出依据字，并说出它在哪一句。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876300" y="3657600"/>
            <a:ext cx="10706100" cy="609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优秀：还能说出这个字有几种讲法。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453390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B4552D"/>
                </a:solidFill>
                <a:latin typeface="宋体"/>
                <a:ea typeface="宋体"/>
              </a:rPr>
              <a:t>只改“依据字”那一列，</a:t>
            </a:r>
            <a:r>
              <a:rPr lang="en-US" sz="2100">
                <a:solidFill>
                  <a:srgbClr val="B4552D"/>
                </a:solidFill>
                <a:latin typeface="宋体"/>
                <a:ea typeface="宋体"/>
              </a:rPr>
              <a:t xml:space="preserve">3 </a:t>
            </a:r>
            <a:r>
              <a:rPr lang="zh-CN" sz="2100">
                <a:solidFill>
                  <a:srgbClr val="B4552D"/>
                </a:solidFill>
                <a:latin typeface="宋体"/>
                <a:ea typeface="宋体"/>
              </a:rPr>
              <a:t>分钟，不重抄表格。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11/16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38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再验证：谁在憔悴&lt;/Text&gt;&#13;&#10;    &lt;Text style={{ fontSize: 24, color: '#6B6B6B' }}&gt;环节四 · 再验证&lt;/Text&gt;&#13;&#10;  &lt;/Box&gt;&#13;&#10;  &lt;Box style={{ height: 472, marginTop: 20, flexDirection: 'column' }}&gt;&#13;&#10;  &lt;Box style={{ marginTop: 24, padding: '32px 40px', background: 'rgba(31,58,52,0.05)' }}&gt;&#13;&#10;    &lt;Text style={{ fontSize: 34, color: '#1F3A34', lineHeight: 2, letterSpacing: 1 }}&gt;满地黄花堆积，憔悴损，如今有谁堪摘？&lt;/Text&gt;&#13;&#10;  &lt;/Box&gt;&#13;&#10;  &lt;Box style={{ marginTop: 32, borderLeft: '4px solid #B4552D', paddingLeft: 24 }}&gt;&#13;&#10;    &lt;Text style={{ fontSize: 28, color: '#1F3A34', lineHeight: 1.9 }}&gt;“憔悴损”的“损”，主语是花，还是人？&lt;/Text&gt;&#13;&#10;    &lt;Text style={{ fontSize: 24, color: '#6B6B6B', marginTop: 12 }}&gt;用刚才那个方法答：先说依据，再说结论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2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048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再验证：谁在憔悴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环节四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再验证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09600" y="1562100"/>
            <a:ext cx="10972800" cy="1390650"/>
          </a:xfrm>
          <a:prstGeom prst="rect">
            <a:avLst/>
          </a:prstGeom>
          <a:solidFill>
            <a:srgbClr val="1F3A34">
              <a:alpha val="5000"/>
            </a:srgbClr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990600" y="1866900"/>
            <a:ext cx="10210800" cy="781050"/>
          </a:xfrm>
          <a:prstGeom prst="rect"/>
        </p:spPr>
        <p:txBody>
          <a:bodyPr wrap="none" lIns="0" tIns="0" rIns="0" bIns="0"/>
          <a:p>
            <a:pPr>
              <a:lnSpc>
                <a:spcPct val="200000"/>
              </a:lnSpc>
            </a:pPr>
            <a:r>
              <a:rPr lang="zh-CN" sz="2550" spc="75">
                <a:solidFill>
                  <a:srgbClr val="1F3A34"/>
                </a:solidFill>
                <a:latin typeface="宋体"/>
                <a:ea typeface="宋体"/>
              </a:rPr>
              <a:t>满地黄花堆积，憔悴损，如今有谁堪摘？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9600" y="3257550"/>
            <a:ext cx="11010900" cy="1000125"/>
          </a:xfrm>
          <a:custGeom>
            <a:pathLst>
              <a:path w="1156" h="105">
                <a:moveTo>
                  <a:pt x="0" y="0"/>
                </a:moveTo>
                <a:lnTo>
                  <a:pt x="4" y="0"/>
                </a:lnTo>
                <a:lnTo>
                  <a:pt x="4" y="105"/>
                </a:lnTo>
                <a:lnTo>
                  <a:pt x="0" y="105"/>
                </a:lnTo>
                <a:close/>
              </a:path>
            </a:pathLst>
          </a:custGeom>
          <a:solidFill>
            <a:srgbClr val="B4552D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76300" y="3257550"/>
            <a:ext cx="10706100" cy="609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“憔悴损”的“损”，主语是花，还是人？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876300" y="3981450"/>
            <a:ext cx="10706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用刚才那个方法答：先说依据，再说结论。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12/16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50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这些韵脚，为什么这么短&lt;/Text&gt;&#13;&#10;    &lt;Text style={{ fontSize: 24, color: '#6B6B6B' }}&gt;环节五 · 任务三&lt;/Text&gt;&#13;&#10;  &lt;/Box&gt;&#13;&#10;  &lt;Box style={{ height: 472, marginTop: 20, flexDirection: 'column' }}&gt;&#13;&#10;  &lt;Box style={{ height: 472, justifyContent: 'center', flexDirection: 'column' }}&gt;&#13;&#10;    &lt;Box style={{ flexDirection: 'row', gap: 14 }}&gt;&#13;&#10;      &lt;Box style={{ flex: 1, height: 110, background: 'rgba(31,58,52,0.06)', alignItems: 'center', justifyContent: 'center' }}&gt;&#13;&#10;        &lt;Text style={{ fontSize: 34, fontWeight: 'bold', color: '#1F3A34' }}&gt;觅&lt;/Text&gt;&#13;&#10;      &lt;/Box&gt;&lt;Box style={{ flex: 1, height: 110, background: 'rgba(31,58,52,0.06)', alignItems: 'center', justifyContent: 'center' }}&gt;&#13;&#10;        &lt;Text style={{ fontSize: 34, fontWeight: 'bold', color: '#1F3A34' }}&gt;戚&lt;/Text&gt;&#13;&#10;      &lt;/Box&gt;&lt;Box style={{ flex: 1, height: 110, background: 'rgba(31,58,52,0.06)', alignItems: 'center', justifyContent: 'center' }}&gt;&#13;&#10;        &lt;Text style={{ fontSize: 34, fontWeight: 'bold', color: '#1F3A34' }}&gt;息&lt;/Text&gt;&#13;&#10;      &lt;/Box&gt;&lt;Box style={{ flex: 1, height: 110, background: 'rgba(31,58,52,0.06)', alignItems: 'center', justifyContent: 'center' }}&gt;&#13;&#10;        &lt;Text style={{ fontSize: 34, fontWeight: 'bold', color: '#1F3A34' }}&gt;急&lt;/Text&gt;&#13;&#10;      &lt;/Box&gt;&lt;Box style={{ flex: 1, height: 110, background: 'rgba(31,58,52,0.06)', alignItems: 'center', justifyContent: 'center' }}&gt;&#13;&#10;        &lt;Text style={{ fontSize: 34, fontWeight: 'bold', color: '#1F3A34' }}&gt;识&lt;/Text&gt;&#13;&#10;      &lt;/Box&gt;&lt;Box style={{ flex: 1, height: 110, background: 'rgba(31,58,52,0.06)', alignItems: 'center', justifyContent: 'center' }}&gt;&#13;&#10;        &lt;Text style={{ fontSize: 34, fontWeight: 'bold', color: '#1F3A34' }}&gt;积&lt;/Text&gt;&#13;&#10;      &lt;/Box&gt;&lt;Box style={{ flex: 1, height: 110, background: 'rgba(31,58,52,0.06)', alignItems: 'center', justifyContent: 'center' }}&gt;&#13;&#10;        &lt;Text style={{ fontSize: 34, fontWeight: 'bold', color: '#1F3A34' }}&gt;摘&lt;/Text&gt;&#13;&#10;      &lt;/Box&gt;&lt;Box style={{ flex: 1, height: 110, background: 'rgba(31,58,52,0.06)', alignItems: 'center', justifyContent: 'center' }}&gt;&#13;&#10;        &lt;Text style={{ fontSize: 34, fontWeight: 'bold', color: '#1F3A34' }}&gt;黑&lt;/Text&gt;&#13;&#10;      &lt;/Box&gt;&lt;Box style={{ flex: 1, height: 110, background: 'rgba(31,58,52,0.06)', alignItems: 'center', justifyContent: 'center' }}&gt;&#13;&#10;        &lt;Text style={{ fontSize: 34, fontWeight: 'bold', color: '#1F3A34' }}&gt;滴&lt;/Text&gt;&#13;&#10;      &lt;/Box&gt;&lt;Box style={{ flex: 1, height: 110, background: 'rgba(31,58,52,0.06)', alignItems: 'center', justifyContent: 'center' }}&gt;&#13;&#10;        &lt;Text style={{ fontSize: 34, fontWeight: 'bold', color: '#1F3A34' }}&gt;得&lt;/Text&gt;&#13;&#10;      &lt;/Box&gt;&#13;&#10;    &lt;/Box&gt;&#13;&#10;    &lt;Text style={{ fontSize: 28, color: '#1F3A34', marginTop: 36 }}&gt;十个韵脚连起来读，声音是被拖长，还是被收住？&lt;/Text&gt;&#13;&#10;    &lt;Text style={{ fontSize: 24, color: '#6B6B6B', marginTop: 12 }}&gt;这一句的感觉，不是想出来的，是读出来的。&lt;/Text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3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4191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这些韵脚，为什么这么短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环节五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任务三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09600" y="2533650"/>
            <a:ext cx="981075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42975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觅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724025" y="2533650"/>
            <a:ext cx="971550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2047875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戚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2828925" y="2533650"/>
            <a:ext cx="981075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162300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息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3943350" y="2533650"/>
            <a:ext cx="971550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267200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急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5048250" y="2533650"/>
            <a:ext cx="981075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381625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识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162675" y="2533650"/>
            <a:ext cx="981075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496050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积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7277100" y="2533650"/>
            <a:ext cx="971550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600950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摘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8382000" y="2533650"/>
            <a:ext cx="981075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8715375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黑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9496425" y="2533650"/>
            <a:ext cx="971550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9820275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滴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10601325" y="2533650"/>
            <a:ext cx="981075" cy="10477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0934700" y="2867025"/>
            <a:ext cx="323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F3A34"/>
                </a:solidFill>
                <a:latin typeface="宋体"/>
                <a:ea typeface="宋体"/>
              </a:rPr>
              <a:t>得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十个韵脚连起来读，声音是被拖长，还是被收住？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09600" y="4362450"/>
            <a:ext cx="1097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这一句的感觉，不是想出来的，是读出来的。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13/16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79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末句：拖长，还是收住&lt;/Text&gt;&#13;&#10;    &lt;Text style={{ fontSize: 24, color: '#6B6B6B' }}&gt;环节五 · 任务三&lt;/Text&gt;&#13;&#10;  &lt;/Box&gt;&#13;&#10;  &lt;Box style={{ height: 472, marginTop: 20, flexDirection: 'column' }}&gt;&#13;&#10;  &lt;Box style={{ marginTop: 20, padding: '24px 40px', background: 'rgba(31,58,52,0.05)' }}&gt;&#13;&#10;    &lt;Text style={{ fontSize: 34, color: '#1F3A34', lineHeight: 1.9 }}&gt;这次第，怎一个愁字了得！&lt;/Text&gt;&#13;&#10;  &lt;/Box&gt;&#13;&#10;  &lt;Box style={{ flexDirection: 'row', gap: 24, marginTop: 28, height: 180 }}&gt;&#13;&#10;    &lt;Box style={{ flex: 1, border: '1px solid rgba(31,58,52,0.35)', padding: 24, justifyContent: 'center' }}&gt;&#13;&#10;      &lt;Text style={{ fontSize: 28, fontWeight: 'bold', color: '#1F3A34' }}&gt;读法 A：拖长&lt;/Text&gt;&#13;&#10;      &lt;Text style={{ fontSize: 24, color: '#6B6B6B', marginTop: 12 }}&gt;把“了得”放开，声音散出去&lt;/Text&gt;&#13;&#10;    &lt;/Box&gt;&#13;&#10;    &lt;Box style={{ flex: 1, border: '1px solid rgba(180,85,45,0.5)', padding: 24, justifyContent: 'center' }}&gt;&#13;&#10;      &lt;Text style={{ fontSize: 28, fontWeight: 'bold', color: '#B4552D' }}&gt;读法 B：收住&lt;/Text&gt;&#13;&#10;      &lt;Text style={{ fontSize: 24, color: '#6B6B6B', marginTop: 12 }}&gt;把“得”压实，声音咽回去&lt;/Text&gt;&#13;&#10;    &lt;/Box&gt;&#13;&#10;  &lt;/Box&gt;&#13;&#10;  &lt;Text style={{ fontSize: 28, color: '#1F3A34', marginTop: 24 }}&gt;选一种，说一句“为什么”。&lt;/Text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4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3810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末句：拖长，还是收住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9982200" y="8667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环节五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任务三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609600" y="1524000"/>
            <a:ext cx="10972800" cy="1200150"/>
          </a:xfrm>
          <a:prstGeom prst="rect">
            <a:avLst/>
          </a:prstGeom>
          <a:solidFill>
            <a:srgbClr val="1F3A34">
              <a:alpha val="5000"/>
            </a:srgbClr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90600" y="1752600"/>
            <a:ext cx="10210800" cy="7429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2550">
                <a:solidFill>
                  <a:srgbClr val="1F3A34"/>
                </a:solidFill>
                <a:latin typeface="宋体"/>
                <a:ea typeface="宋体"/>
              </a:rPr>
              <a:t>这次第，怎一个愁字了得！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09600" y="2990850"/>
            <a:ext cx="5372100" cy="1714500"/>
          </a:xfrm>
          <a:prstGeom prst="rect">
            <a:avLst/>
          </a:prstGeom>
          <a:ln w="12700">
            <a:solidFill>
              <a:srgbClr val="1F3A3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38200" y="3495675"/>
            <a:ext cx="4914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读法</a:t>
            </a:r>
            <a:r>
              <a:rPr lang="en-US" sz="2100" b="1">
                <a:solidFill>
                  <a:srgbClr val="1F3A34"/>
                </a:solidFill>
                <a:latin typeface="宋体"/>
                <a:ea typeface="宋体"/>
              </a:rPr>
              <a:t xml:space="preserve"> A</a:t>
            </a: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：拖长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38200" y="3933825"/>
            <a:ext cx="4914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把“了得”放开，声音散出去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6210300" y="2990850"/>
            <a:ext cx="5372100" cy="1714500"/>
          </a:xfrm>
          <a:prstGeom prst="rect">
            <a:avLst/>
          </a:prstGeom>
          <a:ln w="12700">
            <a:solidFill>
              <a:srgbClr val="B4552D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438900" y="3495675"/>
            <a:ext cx="4914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读法</a:t>
            </a:r>
            <a:r>
              <a:rPr lang="en-US" sz="2100" b="1">
                <a:solidFill>
                  <a:srgbClr val="B4552D"/>
                </a:solidFill>
                <a:latin typeface="宋体"/>
                <a:ea typeface="宋体"/>
              </a:rPr>
              <a:t xml:space="preserve"> B</a:t>
            </a: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：收住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438900" y="3933825"/>
            <a:ext cx="4914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把“得”压实，声音咽回去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09600" y="4933950"/>
            <a:ext cx="10972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选一种，说一句“为什么”。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14/16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95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板书：三次生长&lt;/Text&gt;&#13;&#10;    &lt;Text style={{ fontSize: 24, color: '#6B6B6B' }}&gt;环节六 · 小结&lt;/Text&gt;&#13;&#10;  &lt;/Box&gt;&#13;&#10;  &lt;Box style={{ height: 472, marginTop: 20, flexDirection: 'column' }}&gt;&#13;&#10;  &lt;Box style={{ height: 472, flexDirection: 'column', justifyContent: 'center', gap: 16 }}&gt;&#13;&#10;    &lt;Box style={{ flexDirection: 'row', gap: 16, height: 130 }}&gt;&#13;&#10;      &lt;Box style={{ flex: 1, background: 'rgba(31,58,52,0.06)', padding: 20 }}&gt;&#13;&#10;        &lt;Text style={{ fontSize: 24, color: '#6B6B6B' }}&gt;第一层&lt;/Text&gt;&#13;&#10;        &lt;Text style={{ fontSize: 28, color: '#1F3A34', marginTop: 6 }}&gt;找 → 找不到 → 连自己也没找回来&lt;/Text&gt;&#13;&#10;      &lt;/Box&gt;&#13;&#10;    &lt;/Box&gt;&#13;&#10;    &lt;Box style={{ flexDirection: 'row', gap: 16, height: 130 }}&gt;&#13;&#10;      &lt;Box style={{ flex: 1, background: 'rgba(31,58,52,0.07)', padding: 20 }}&gt;&#13;&#10;        &lt;Text style={{ fontSize: 24, color: '#6B6B6B' }}&gt;第二层 · 旧时&lt;/Text&gt;&#13;&#10;        &lt;Text style={{ fontSize: 28, color: '#1F3A34', marginTop: 6 }}&gt;淡酒 · 过雁（旧时相识）&lt;/Text&gt;&#13;&#10;      &lt;/Box&gt;&#13;&#10;      &lt;Box style={{ flex: 1, background: 'rgba(180,85,45,0.10)', padding: 20 }}&gt;&#13;&#10;        &lt;Text style={{ fontSize: 24, color: '#6B6B6B' }}&gt;第二层 · 如今&lt;/Text&gt;&#13;&#10;        &lt;Text style={{ fontSize: 28, color: '#1F3A34', marginTop: 6 }}&gt;黄花（有谁堪摘）· 梧桐 · 细雨&lt;/Text&gt;&#13;&#10;      &lt;/Box&gt;&#13;&#10;    &lt;/Box&gt;&#13;&#10;    &lt;Box style={{ height: 130, background: 'rgba(31,58,52,0.10)', justifyContent: 'center', paddingLeft: 20 }}&gt;&#13;&#10;      &lt;Text style={{ fontSize: 34, fontWeight: 'bold', color: '#B4552D' }}&gt;怎一个愁字了得&lt;/Text&gt;&#13;&#10;      &lt;Text style={{ fontSize: 24, color: '#1F3A34', marginTop: 6 }}&gt;不是说不出来，是九十七个字也说不完&lt;/Text&gt;&#13;&#10;    &lt;/Box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5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2667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板书：三次生长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0210800" y="86677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环节六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小结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09600" y="1571625"/>
            <a:ext cx="10972800" cy="1238250"/>
          </a:xfrm>
          <a:prstGeom prst="rect">
            <a:avLst/>
          </a:prstGeom>
          <a:solidFill>
            <a:srgbClr val="1F3A34">
              <a:alpha val="6000"/>
            </a:srgbClr>
          </a:solidFill>
          <a:ln/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00100" y="1762125"/>
            <a:ext cx="10591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第一层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00100" y="2095500"/>
            <a:ext cx="10591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找</a:t>
            </a:r>
            <a:r>
              <a:rPr lang="en-US" sz="2100">
                <a:solidFill>
                  <a:srgbClr val="1F3A34"/>
                </a:solidFill>
                <a:latin typeface="宋体"/>
                <a:ea typeface="宋体"/>
              </a:rPr>
              <a:t xml:space="preserve"> → </a:t>
            </a: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找不到</a:t>
            </a:r>
            <a:r>
              <a:rPr lang="en-US" sz="2100">
                <a:solidFill>
                  <a:srgbClr val="1F3A34"/>
                </a:solidFill>
                <a:latin typeface="宋体"/>
                <a:ea typeface="宋体"/>
              </a:rPr>
              <a:t xml:space="preserve"> → </a:t>
            </a: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连自己也没找回来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09600" y="2962275"/>
            <a:ext cx="5410200" cy="1238250"/>
          </a:xfrm>
          <a:prstGeom prst="rect">
            <a:avLst/>
          </a:prstGeom>
          <a:solidFill>
            <a:srgbClr val="1F3A34">
              <a:alpha val="7000"/>
            </a:srgbClr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800100" y="31527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第二层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旧时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00100" y="3486150"/>
            <a:ext cx="5029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淡酒</a:t>
            </a:r>
            <a:r>
              <a:rPr lang="en-US" sz="2100">
                <a:solidFill>
                  <a:srgbClr val="1F3A34"/>
                </a:solidFill>
                <a:latin typeface="宋体"/>
                <a:ea typeface="宋体"/>
              </a:rPr>
              <a:t xml:space="preserve"> · </a:t>
            </a: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过雁（旧时相识）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6172200" y="2962275"/>
            <a:ext cx="5410200" cy="1238250"/>
          </a:xfrm>
          <a:prstGeom prst="rect">
            <a:avLst/>
          </a:prstGeom>
          <a:solidFill>
            <a:srgbClr val="B4552D">
              <a:alpha val="10000"/>
            </a:srgbClr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62700" y="31527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第二层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如今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362700" y="3486150"/>
            <a:ext cx="5029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黄花（有谁堪摘）·</a:t>
            </a:r>
            <a:r>
              <a:rPr lang="en-US" sz="2100">
                <a:solidFill>
                  <a:srgbClr val="1F3A34"/>
                </a:solidFill>
                <a:latin typeface="宋体"/>
                <a:ea typeface="宋体"/>
              </a:rPr>
              <a:t xml:space="preserve"> </a:t>
            </a: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梧桐</a:t>
            </a:r>
            <a:r>
              <a:rPr lang="en-US" sz="2100">
                <a:solidFill>
                  <a:srgbClr val="1F3A34"/>
                </a:solidFill>
                <a:latin typeface="宋体"/>
                <a:ea typeface="宋体"/>
              </a:rPr>
              <a:t xml:space="preserve"> · </a:t>
            </a: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细雨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609600" y="4352925"/>
            <a:ext cx="10972800" cy="1238250"/>
          </a:xfrm>
          <a:prstGeom prst="rect">
            <a:avLst/>
          </a:prstGeom>
          <a:solidFill>
            <a:srgbClr val="1F3A34">
              <a:alpha val="10000"/>
            </a:srgbClr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800100" y="4610100"/>
            <a:ext cx="107823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B4552D"/>
                </a:solidFill>
                <a:latin typeface="宋体"/>
                <a:ea typeface="宋体"/>
              </a:rPr>
              <a:t>怎一个愁字了得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800100" y="5057775"/>
            <a:ext cx="10782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1F3A34"/>
                </a:solidFill>
                <a:latin typeface="宋体"/>
                <a:ea typeface="宋体"/>
              </a:rPr>
              <a:t>不是说不出来，是九十七个字也说不完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15/16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4" name="" descr="&lt;Slide style={{ background: '#F5F1E6', padding: '48px 64px', fontFamily: '宋体' }}&gt;&#13;&#10;  &lt;Box style={{ flexDirection: 'row', justifyContent: 'space-between', alignItems: 'flex-end', height: 72 }}&gt;&#13;&#10;    &lt;Text style={{ fontSize: 40, fontWeight: 'bold', color: '#1F3A34', lineHeight: 1.2 }}&gt;今天的出口&lt;/Text&gt;&#13;&#10;    &lt;Text style={{ fontSize: 24, color: '#6B6B6B' }}&gt;环节六 · 作业&lt;/Text&gt;&#13;&#10;  &lt;/Box&gt;&#13;&#10;  &lt;Box style={{ height: 472, marginTop: 20, flexDirection: 'column' }}&gt;&#13;&#10;  &lt;Box style={{ height: 472, flexDirection: 'column', justifyContent: 'center', gap: 20 }}&gt;&#13;&#10;    &lt;Box style={{ flexDirection: 'row', height: 110, alignItems: 'center', paddingLeft: 24, background: 'rgba(31,58,52,0.07)' }}&gt;&#13;&#10;      &lt;Text style={{ fontSize: 28, fontWeight: 'bold', color: '#1F3A34', width: 200 }}&gt;基础 · 必做&lt;/Text&gt;&#13;&#10;      &lt;Text style={{ fontSize: 28, color: '#1F3A34' }}&gt;给“梧桐更兼细雨”标停顿与重音，写一句理由&lt;/Text&gt;&#13;&#10;    &lt;/Box&gt;&#13;&#10;    &lt;Box style={{ flexDirection: 'row', height: 110, alignItems: 'center', paddingLeft: 24, background: 'rgba(31,58,52,0.07)' }}&gt;&#13;&#10;      &lt;Text style={{ fontSize: 28, fontWeight: 'bold', color: '#1F3A34', width: 200 }}&gt;提高 · 必做&lt;/Text&gt;&#13;&#10;      &lt;Text style={{ fontSize: 28, color: '#1F3A34' }}&gt;比《醉花阴》的“愁”，各举一句为证&lt;/Text&gt;&#13;&#10;    &lt;/Box&gt;&#13;&#10;    &lt;Box style={{ flexDirection: 'row', height: 110, alignItems: 'center', paddingLeft: 24, background: 'rgba(31,58,52,0.07)' }}&gt;&#13;&#10;      &lt;Text style={{ fontSize: 28, fontWeight: 'bold', color: '#B4552D', width: 200 }}&gt;拓展 · 选做&lt;/Text&gt;&#13;&#10;      &lt;Text style={{ fontSize: 28, color: '#1F3A34' }}&gt;找一句用叠词写失落的歌词，比一比&lt;/Text&gt;&#13;&#10;    &lt;/Box&gt;&#13;&#10;  &lt;/Box&gt;&#13;&#10;  &lt;/Box&gt;&#13;&#10;  &lt;Box style={{ height: 40, marginTop: 12, borderTop: '1px solid rgba(31,58,52,0.2)', flexDirection: 'row', justifyContent: 'space-between', alignItems: 'center', paddingTop: 8 }}&gt;&#13;&#10;    &lt;Text style={{ fontSize: 24, color: '#6B6B6B' }}&gt;《声声慢》· 李清照&lt;/Text&gt;&#13;&#10;    &lt;Text style={{ fontSize: 24, color: '#B4552D' }}&gt;16/16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1E6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09600" y="590550"/>
            <a:ext cx="1905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3A34"/>
                </a:solidFill>
                <a:latin typeface="宋体"/>
                <a:ea typeface="宋体"/>
              </a:rPr>
              <a:t>今天的出口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210800" y="86677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环节六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·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作业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609600" y="1819275"/>
            <a:ext cx="10972800" cy="1047750"/>
          </a:xfrm>
          <a:prstGeom prst="rect">
            <a:avLst/>
          </a:prstGeom>
          <a:solidFill>
            <a:srgbClr val="1F3A34">
              <a:alpha val="7000"/>
            </a:srgbClr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38200" y="218122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基础</a:t>
            </a:r>
            <a:r>
              <a:rPr lang="en-US" sz="2100" b="1">
                <a:solidFill>
                  <a:srgbClr val="1F3A34"/>
                </a:solidFill>
                <a:latin typeface="宋体"/>
                <a:ea typeface="宋体"/>
              </a:rPr>
              <a:t xml:space="preserve"> · </a:t>
            </a: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必做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2743200" y="2181225"/>
            <a:ext cx="52863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给“梧桐更兼细雨”标停顿与重音，写一句理由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609600" y="3057525"/>
            <a:ext cx="10972800" cy="1047750"/>
          </a:xfrm>
          <a:prstGeom prst="rect">
            <a:avLst/>
          </a:prstGeom>
          <a:solidFill>
            <a:srgbClr val="1F3A34">
              <a:alpha val="7000"/>
            </a:srgbClr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38200" y="341947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提高</a:t>
            </a:r>
            <a:r>
              <a:rPr lang="en-US" sz="2100" b="1">
                <a:solidFill>
                  <a:srgbClr val="1F3A34"/>
                </a:solidFill>
                <a:latin typeface="宋体"/>
                <a:ea typeface="宋体"/>
              </a:rPr>
              <a:t xml:space="preserve"> · </a:t>
            </a:r>
            <a:r>
              <a:rPr lang="zh-CN" sz="2100" b="1">
                <a:solidFill>
                  <a:srgbClr val="1F3A34"/>
                </a:solidFill>
                <a:latin typeface="宋体"/>
                <a:ea typeface="宋体"/>
              </a:rPr>
              <a:t>必做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2743200" y="3419475"/>
            <a:ext cx="42195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比《醉花阴》的“愁”，各举一句为证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09600" y="4295775"/>
            <a:ext cx="10972800" cy="1047750"/>
          </a:xfrm>
          <a:prstGeom prst="rect">
            <a:avLst/>
          </a:prstGeom>
          <a:solidFill>
            <a:srgbClr val="1F3A34">
              <a:alpha val="7000"/>
            </a:srgbClr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38200" y="4657725"/>
            <a:ext cx="19050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拓展</a:t>
            </a:r>
            <a:r>
              <a:rPr lang="en-US" sz="2100" b="1">
                <a:solidFill>
                  <a:srgbClr val="B4552D"/>
                </a:solidFill>
                <a:latin typeface="宋体"/>
                <a:ea typeface="宋体"/>
              </a:rPr>
              <a:t xml:space="preserve"> · </a:t>
            </a:r>
            <a:r>
              <a:rPr lang="zh-CN" sz="2100" b="1">
                <a:solidFill>
                  <a:srgbClr val="B4552D"/>
                </a:solidFill>
                <a:latin typeface="宋体"/>
                <a:ea typeface="宋体"/>
              </a:rPr>
              <a:t>选做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2743200" y="465772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1F3A34"/>
                </a:solidFill>
                <a:latin typeface="宋体"/>
                <a:ea typeface="宋体"/>
              </a:rPr>
              <a:t>找一句用叠词写失落的歌词，比一比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09600" y="5943600"/>
            <a:ext cx="10972800" cy="381000"/>
          </a:xfrm>
          <a:custGeom>
            <a:pathLst>
              <a:path w="1152" h="40">
                <a:moveTo>
                  <a:pt x="0" y="0"/>
                </a:moveTo>
                <a:lnTo>
                  <a:pt x="1152" y="0"/>
                </a:lnTo>
                <a:lnTo>
                  <a:pt x="1152" y="1"/>
                </a:lnTo>
                <a:lnTo>
                  <a:pt x="0" y="1"/>
                </a:lnTo>
                <a:close/>
              </a:path>
            </a:pathLst>
          </a:custGeom>
          <a:solidFill>
            <a:srgbClr val="1F3A34">
              <a:alpha val="20000"/>
            </a:srgbClr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09600" y="6038850"/>
            <a:ext cx="1981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《声声慢》·</a:t>
            </a:r>
            <a:r>
              <a:rPr lang="en-US" sz="1800">
                <a:solidFill>
                  <a:srgbClr val="6B6B6B"/>
                </a:solidFill>
                <a:latin typeface="宋体"/>
                <a:ea typeface="宋体"/>
              </a:rPr>
              <a:t xml:space="preserve"> </a:t>
            </a:r>
            <a:r>
              <a:rPr lang="zh-CN" sz="1800">
                <a:solidFill>
                  <a:srgbClr val="6B6B6B"/>
                </a:solidFill>
                <a:latin typeface="宋体"/>
                <a:ea typeface="宋体"/>
              </a:rPr>
              <a:t>李清照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0991850" y="6038850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>
                <a:solidFill>
                  <a:srgbClr val="B4552D"/>
                </a:solidFill>
                <a:latin typeface="宋体"/>
                <a:ea typeface="宋体"/>
              </a:rPr>
              <a:t>16/16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2026-10-25T19:02:13Z</dcterms:created>
  <dcterms:modified xsi:type="dcterms:W3CDTF">2026-10-25T19:02:13Z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{"AIGC":{"Label":"1","ContentProducer":"00119111010856365494821B355","ProduceID":"01a172a677607c7586922b4ba4d64c0b","ReservedCode1":"","ContentPropagator":"00119111010856365494821B355","PropagateID":"01a172a677607c7586922b4ba4d64c0b","ReservedCode2":""}}</vt:lpwstr>
  </property>
</Properties>
</file>