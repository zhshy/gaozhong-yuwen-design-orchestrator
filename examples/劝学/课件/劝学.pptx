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4F1E9', position: 'relative', flexDirection: 'column', justifyContent: 'center', padding: '0 96px' }}&gt;&#10;  &lt;Text style={{ position: 'absolute', right: 40, top: 8, fontFamily: 'KaiTi', fontSize: 460, fontWeight: 'bold', color: '#9C2E22', opacity: 0.055, lineHeight: 1 }}&gt;学&lt;/Text&gt;&#10;&#10;  &lt;Box style={{ flexDirection: 'row', alignItems: 'center', gap: 16, marginBottom: 30 }}&gt;&#10;    &lt;Box style={{ width: 6, height: 36, background: '#9C2E22' }} /&gt;&#10;    &lt;Text style={{ fontFamily: 'Microsoft YaHei', fontSize: 24, color: '#4B463F', letterSpacing: 6 }}&gt;必修上 · 第六单元「学习之道」&lt;/Text&gt;&#10;  &lt;/Box&gt;&#10;&#10;  &lt;Text style={{ fontFamily: 'KaiTi', fontSize: 116, fontWeight: 'bold', color: '#1C1A17', lineHeight: 1.1, letterSpacing: 10 }}&gt;劝　学&lt;/Text&gt;&#10;&#10;  &lt;Box style={{ width: 100, height: 4, background: '#9C2E22', marginTop: 28, marginBottom: 28 }} /&gt;&#10;&#10;  &lt;Text style={{ fontFamily: 'KaiTi', fontSize: 46, color: '#4B463F', letterSpacing: 4 }}&gt;荀　子&lt;/Text&gt;&#10;&#10;  &lt;Box style={{ position: 'absolute', left: 96, bottom: 68, borderLeft: '4px solid rgba(156,46,34,0.6)', paddingLeft: 22 }}&gt;&#10;    &lt;Text style={{ fontFamily: 'KaiTi', fontSize: 34, color: '#4B463F', lineHeight: 1.6 }}&gt;学不可以已。&lt;/Text&gt;&#10;  &lt;/Box&gt;&#10;&#10;  &lt;Text style={{ position: 'absolute', right: 64, bottom: 40, fontFamily: 'Microsoft YaHei', fontSize: 24, color: '#4B463F' }}&gt;01 / 17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14400" y="1828800"/>
            <a:ext cx="57150" cy="3429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23950" y="1866900"/>
            <a:ext cx="407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450">
                <a:solidFill>
                  <a:srgbClr val="4B463F"/>
                </a:solidFill>
                <a:latin typeface="Microsoft YaHei"/>
                <a:ea typeface="Microsoft YaHei"/>
              </a:rPr>
              <a:t>必修上</a:t>
            </a:r>
            <a:r>
              <a:rPr lang="en-US" sz="1800" spc="45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 spc="450">
                <a:solidFill>
                  <a:srgbClr val="4B463F"/>
                </a:solidFill>
                <a:latin typeface="Microsoft YaHei"/>
                <a:ea typeface="Microsoft YaHei"/>
              </a:rPr>
              <a:t>第六单元「学习之道」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2457450"/>
            <a:ext cx="10363200" cy="1466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8700" b="1" spc="750">
                <a:solidFill>
                  <a:srgbClr val="1C1A17"/>
                </a:solidFill>
                <a:latin typeface="KaiTi"/>
                <a:ea typeface="KaiTi"/>
              </a:rPr>
              <a:t>劝　学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4191000"/>
            <a:ext cx="952500" cy="381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4495800"/>
            <a:ext cx="10363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spc="300">
                <a:solidFill>
                  <a:srgbClr val="4B463F"/>
                </a:solidFill>
                <a:latin typeface="KaiTi"/>
                <a:ea typeface="KaiTi"/>
              </a:rPr>
              <a:t>荀　子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429500" y="76200"/>
            <a:ext cx="4381500" cy="5257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0" b="1">
                <a:solidFill>
                  <a:srgbClr val="9C2E22">
                    <a:alpha val="5500"/>
                  </a:srgbClr>
                </a:solidFill>
                <a:latin typeface="KaiTi"/>
                <a:ea typeface="KaiTi"/>
              </a:rPr>
              <a:t>学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14400" y="5581650"/>
            <a:ext cx="2228850" cy="628650"/>
          </a:xfrm>
          <a:custGeom>
            <a:pathLst>
              <a:path w="234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9C2E22">
              <a:alpha val="60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62050" y="5581650"/>
            <a:ext cx="194310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学不可以已。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810875" y="6200775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01 / 17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9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他是在说靛青吗？&lt;/Text&gt;&#10;    &lt;/Box&gt;&#10;    &lt;Text style={{ fontFamily: 'Microsoft YaHei', fontSize: 24, color: '#4B463F' }}&gt;导入&lt;/Text&gt;&#10;  &lt;/Box&gt;&#10;&#10;  &lt;Box style={{ height: 540, flexDirection: 'row', gap: 48, alignItems: 'center' }}&gt;&#10;    &lt;Box style={{ flex: 1, flexDirection: 'column', justifyContent: 'center', gap: 32 }}&gt;&#10;      &lt;Text style={{ fontFamily: 'KaiTi', fontSize: 52, fontWeight: 'bold', color: '#1C1A17', lineHeight: 1.5 }}&gt;&#10;        青，取之于蓝，&lt;br /&gt;而青于蓝。&#10;      &lt;/Text&gt;&#10;      &lt;Box style={{ width: 72, height: 3, background: 'rgba(28,26,23,0.25)' }} /&gt;&#10;      &lt;Text style={{ fontFamily: 'Microsoft YaHei', fontSize: 28, color: '#4B463F', lineHeight: 1.7 }}&gt;&#10;        这是《劝学》的第一句，&lt;br /&gt;说的却是靛青。&#10;      &lt;/Text&gt;&#10;    &lt;/Box&gt;&#10;    &lt;Image src=&quot;assets/img_1_indigo.jpg&quot; style={{ width: 512, height: 432, objectFit: 'cover' }} /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2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304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他是在说靛青吗？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25200" y="5334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导入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5638800" cy="1790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900" b="1">
                <a:solidFill>
                  <a:srgbClr val="1C1A17"/>
                </a:solidFill>
                <a:latin typeface="KaiTi"/>
                <a:ea typeface="KaiTi"/>
              </a:rPr>
              <a:t>青，取之于蓝，</a:t>
            </a:r>
            <a:endParaRPr/>
          </a:p>
          <a:p>
            <a:pPr>
              <a:lnSpc>
                <a:spcPct val="150000"/>
              </a:lnSpc>
            </a:pPr>
            <a:r>
              <a:rPr lang="zh-CN" sz="3900" b="1">
                <a:solidFill>
                  <a:srgbClr val="1C1A17"/>
                </a:solidFill>
                <a:latin typeface="KaiTi"/>
                <a:ea typeface="KaiTi"/>
              </a:rPr>
              <a:t>而青于蓝。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4048125"/>
            <a:ext cx="685800" cy="28575"/>
          </a:xfrm>
          <a:prstGeom prst="rect">
            <a:avLst/>
          </a:prstGeom>
          <a:solidFill>
            <a:srgbClr val="1C1A17">
              <a:alpha val="25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4381500"/>
            <a:ext cx="5638800" cy="1095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100">
                <a:solidFill>
                  <a:srgbClr val="4B463F"/>
                </a:solidFill>
                <a:latin typeface="Microsoft YaHei"/>
                <a:ea typeface="Microsoft YaHei"/>
              </a:rPr>
              <a:t>这是《劝学》的第一句，</a:t>
            </a:r>
            <a:endParaRPr/>
          </a:p>
          <a:p>
            <a:pPr>
              <a:lnSpc>
                <a:spcPct val="170000"/>
              </a:lnSpc>
            </a:pPr>
            <a:r>
              <a:rPr lang="zh-CN" sz="2100">
                <a:solidFill>
                  <a:srgbClr val="4B463F"/>
                </a:solidFill>
                <a:latin typeface="Microsoft YaHei"/>
                <a:ea typeface="Microsoft YaHei"/>
              </a:rPr>
              <a:t>说的却是靛青。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 r:embed="rId1"/>
          <a:srcRect l="10507" t="0" r="10507" b="0"/>
          <a:stretch>
            <a:fillRect/>
          </a:stretch>
        </p:blipFill>
        <p:spPr>
          <a:xfrm rot="0" flipH="0" flipV="0">
            <a:off x="6705600" y="1657350"/>
            <a:ext cx="4876800" cy="41148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02 / 17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70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他为什么说「学不可以已」？&lt;/Text&gt;&#10;    &lt;/Box&gt;&#10;    &lt;Text style={{ fontFamily: 'Microsoft YaHei', fontSize: 24, color: '#4B463F' }}&gt;作者&lt;/Text&gt;&#10;  &lt;/Box&gt;&#10;&#10;  &lt;Box style={{ height: 540, flexDirection: 'row', gap: 48, alignItems: 'center' }}&gt;&#10;    &lt;Box style={{ width: 452, height: 452, position: 'relative' }}&gt;&#10;      &lt;Image src=&quot;assets/img_2_author.jpg&quot; style={{ width: 452, height: 452, objectFit: 'cover' }} /&gt;&#10;      &lt;Text style={{ position: 'absolute', left: 0, bottom: 0, fontFamily: 'Microsoft YaHei', fontSize: 24, color: '#F4F1E9', background: 'rgba(28,26,23,0.62)', padding: '5px 14px' }}&gt;意象化形象 · 示意图&lt;/Text&gt;&#10;    &lt;/Box&gt;&#10;&#10;    &lt;Box style={{ flex: 1, flexDirection: 'column', gap: 42 }}&gt;&#10;      &lt;Box style={{ flexDirection: 'row', gap: 22, alignItems: 'flex-start' }}&gt;&#10;        &lt;Text style={{ fontFamily: 'KaiTi', fontSize: 56, fontWeight: 'bold', color: '#9C2E22', lineHeight: 1 }}&gt;①&lt;/Text&gt;&#10;        &lt;Box&gt;&#10;          &lt;Text style={{ fontFamily: 'KaiTi', fontSize: 40, fontWeight: 'bold', color: '#1C1A17' }}&gt;人性本恶&lt;/Text&gt;&#10;          &lt;Text style={{ fontFamily: 'Microsoft YaHei', fontSize: 28, color: '#4B463F', marginTop: 12, lineHeight: 1.6 }}&gt;所以必须靠「学」改造。&lt;/Text&gt;&#10;        &lt;/Box&gt;&#10;      &lt;/Box&gt;&#10;&#10;      &lt;Box style={{ width: '100%', height: 1, background: 'rgba(28,26,23,0.14)' }} /&gt;&#10;&#10;      &lt;Box style={{ flexDirection: 'row', gap: 22, alignItems: 'flex-start' }}&gt;&#10;        &lt;Text style={{ fontFamily: 'KaiTi', fontSize: 56, fontWeight: 'bold', color: '#4B463F', lineHeight: 1 }}&gt;②&lt;/Text&gt;&#10;        &lt;Box&gt;&#10;          &lt;Text style={{ fontFamily: 'KaiTi', fontSize: 40, fontWeight: 'bold', color: '#1C1A17' }}&gt;稷下讲学&lt;/Text&gt;&#10;          &lt;Text style={{ fontFamily: 'Microsoft YaHei', fontSize: 28, color: '#4B463F', marginTop: 12, lineHeight: 1.6 }}&gt;《劝学》是《荀子》开篇。&lt;/Text&gt;&#10;        &lt;/Box&gt;&#10;      &lt;/Box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3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4953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他为什么说「学不可以已」？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125200" y="5334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作者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72100" y="2228850"/>
            <a:ext cx="533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 b="1">
                <a:solidFill>
                  <a:srgbClr val="9C2E22"/>
                </a:solidFill>
                <a:latin typeface="KaiTi"/>
                <a:ea typeface="KaiTi"/>
              </a:rPr>
              <a:t>①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115050" y="2228850"/>
            <a:ext cx="2933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人性本恶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115050" y="2800350"/>
            <a:ext cx="29337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00">
                <a:solidFill>
                  <a:srgbClr val="4B463F"/>
                </a:solidFill>
                <a:latin typeface="Microsoft YaHei"/>
                <a:ea typeface="Microsoft YaHei"/>
              </a:rPr>
              <a:t>所以必须靠「学」改造。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372100" y="3714750"/>
            <a:ext cx="6210300" cy="9525"/>
          </a:xfrm>
          <a:prstGeom prst="rect">
            <a:avLst/>
          </a:prstGeom>
          <a:solidFill>
            <a:srgbClr val="1C1A17">
              <a:alpha val="14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72100" y="4124325"/>
            <a:ext cx="533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 b="1">
                <a:solidFill>
                  <a:srgbClr val="4B463F"/>
                </a:solidFill>
                <a:latin typeface="KaiTi"/>
                <a:ea typeface="KaiTi"/>
              </a:rPr>
              <a:t>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115050" y="4124325"/>
            <a:ext cx="3200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稷下讲学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115050" y="4695825"/>
            <a:ext cx="32004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00">
                <a:solidFill>
                  <a:srgbClr val="4B463F"/>
                </a:solidFill>
                <a:latin typeface="Microsoft YaHei"/>
                <a:ea typeface="Microsoft YaHei"/>
              </a:rPr>
              <a:t>《劝学》是《荀子》开篇。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03 / 17</a:t>
            </a:r>
            <a:endParaRPr/>
          </a:p>
        </p:txBody>
      </p:sp>
      <p:pic>
        <p:nvPicPr>
          <p:cNvPr id="184" name=""/>
          <p:cNvPicPr>
            <a:picLocks noChangeAspect="1"/>
          </p:cNvPicPr>
          <p:nvPr/>
        </p:nvPicPr>
        <p:blipFill>
          <a:blip r:embed="rId1"/>
          <a:srcRect l="16678" t="0" r="16678" b="0"/>
          <a:stretch>
            <a:fillRect/>
          </a:stretch>
        </p:blipFill>
        <p:spPr>
          <a:xfrm rot="0" flipH="0" flipV="0">
            <a:off x="609600" y="1562100"/>
            <a:ext cx="4305300" cy="4305300"/>
          </a:xfrm>
          <a:prstGeom prst="rect">
            <a:avLst/>
          </a:prstGeom>
          <a:ln/>
        </p:spPr>
      </p:pic>
      <p:sp>
        <p:nvSpPr>
          <p:cNvPr id="185" name=""/>
          <p:cNvSpPr/>
          <p:nvPr/>
        </p:nvSpPr>
        <p:spPr>
          <a:xfrm rot="0" flipH="0" flipV="0">
            <a:off x="609600" y="5495925"/>
            <a:ext cx="2286000" cy="371475"/>
          </a:xfrm>
          <a:prstGeom prst="rect">
            <a:avLst/>
          </a:prstGeom>
          <a:solidFill>
            <a:srgbClr val="1C1A17">
              <a:alpha val="62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5495925"/>
            <a:ext cx="2286000" cy="371475"/>
          </a:xfrm>
          <a:prstGeom prst="rect"/>
        </p:spPr>
        <p:txBody>
          <a:bodyPr wrap="none" lIns="100013" tIns="35719" rIns="100013" bIns="35719"/>
          <a:p>
            <a:pPr>
              <a:lnSpc>
                <a:spcPct val="100000"/>
              </a:lnSpc>
            </a:pPr>
            <a:r>
              <a:rPr lang="zh-CN" sz="1800">
                <a:solidFill>
                  <a:srgbClr val="F4F1E9"/>
                </a:solidFill>
                <a:highlight>
                  <a:srgbClr val="1C1A17">
                    <a:alpha val="62000"/>
                  </a:srgbClr>
                </a:highlight>
                <a:latin typeface="Microsoft YaHei"/>
                <a:ea typeface="Microsoft YaHei"/>
              </a:rPr>
              <a:t>意象化形象</a:t>
            </a:r>
            <a:r>
              <a:rPr lang="en-US" sz="1800">
                <a:solidFill>
                  <a:srgbClr val="F4F1E9"/>
                </a:solidFill>
                <a:highlight>
                  <a:srgbClr val="1C1A17">
                    <a:alpha val="62000"/>
                  </a:srgbClr>
                </a:highlight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F4F1E9"/>
                </a:solidFill>
                <a:highlight>
                  <a:srgbClr val="1C1A17">
                    <a:alpha val="62000"/>
                  </a:srgbClr>
                </a:highlight>
                <a:latin typeface="Microsoft YaHei"/>
                <a:ea typeface="Microsoft YaHei"/>
              </a:rPr>
              <a:t>示意图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padding: '20px 64px', background: '#F4F1E9', flexDirection: 'column', justifyContent: 'center', position: 'relative' }}&gt;&#10;  &lt;Box style={{ flexDirection: 'row', alignItems: 'center', gap: 16, marginBottom: 48 }}&gt;&#10;    &lt;Box style={{ width: 6, height: 36, background: '#9C2E22' }} /&gt;&#10;    &lt;Text style={{ fontFamily: 'Microsoft YaHei', fontSize: 26, color: '#4B463F', letterSpacing: 6 }}&gt;本课主问题&lt;/Text&gt;&#10;  &lt;/Box&gt;&#10;&#10;  &lt;Text style={{ fontFamily: 'KaiTi', fontSize: 56, fontWeight: 'bold', color: '#1C1A17', lineHeight: 1.6 }}&gt;&#10;    谈「学」却只写&lt;span style={{ color: '#4B463F' }}&gt;自然物象&lt;/span&gt;——&lt;br /&gt;&#10;    这样的「劝」，为什么&lt;span style={{ color: '#9C2E22' }}&gt;更有说服力&lt;/span&gt;？&#10;  &lt;/Text&gt;&#10;&#10;  &lt;Box style={{ width: 120, height: 5, background: '#9C2E22', marginTop: 54 }} /&gt;&#10;&#10;  &lt;Text style={{ position: 'absolute', left: 64, bottom: 40, fontFamily: 'Microsoft YaHei', fontSize: 24, color: '#4B463F' }}&gt;劝学 · 荀子&lt;/Text&gt;&#10;  &lt;Text style={{ position: 'absolute', right: 64, bottom: 40, fontFamily: 'Microsoft YaHei', fontSize: 24, color: '#4B463F' }}&gt;04 / 17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09600" y="1724025"/>
            <a:ext cx="57150" cy="3429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19150" y="1743075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450">
                <a:solidFill>
                  <a:srgbClr val="4B463F"/>
                </a:solidFill>
                <a:latin typeface="Microsoft YaHei"/>
                <a:ea typeface="Microsoft YaHei"/>
              </a:rPr>
              <a:t>本课主问题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10972800" cy="20574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4200" b="1">
                <a:solidFill>
                  <a:srgbClr val="1C1A17"/>
                </a:solidFill>
                <a:latin typeface="KaiTi"/>
                <a:ea typeface="KaiTi"/>
              </a:rPr>
              <a:t>谈「学」却只写</a:t>
            </a:r>
            <a:r>
              <a:rPr lang="zh-CN" sz="4200" b="1">
                <a:solidFill>
                  <a:srgbClr val="4B463F"/>
                </a:solidFill>
                <a:latin typeface="KaiTi"/>
                <a:ea typeface="KaiTi"/>
              </a:rPr>
              <a:t>自然物象</a:t>
            </a:r>
            <a:r>
              <a:rPr sz="4200" b="1">
                <a:solidFill>
                  <a:srgbClr val="1C1A17"/>
                </a:solidFill>
                <a:latin typeface="KaiTi"/>
                <a:ea typeface="KaiTi"/>
              </a:rPr>
              <a:t>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4200" b="1">
                <a:solidFill>
                  <a:srgbClr val="1C1A17"/>
                </a:solidFill>
                <a:latin typeface="KaiTi"/>
                <a:ea typeface="KaiTi"/>
              </a:rPr>
              <a:t>这样的「劝」，为什么</a:t>
            </a:r>
            <a:r>
              <a:rPr lang="zh-CN" sz="4200" b="1">
                <a:solidFill>
                  <a:srgbClr val="9C2E22"/>
                </a:solidFill>
                <a:latin typeface="KaiTi"/>
                <a:ea typeface="KaiTi"/>
              </a:rPr>
              <a:t>更有说服力</a:t>
            </a:r>
            <a:r>
              <a:rPr lang="zh-CN" sz="4200" b="1">
                <a:solidFill>
                  <a:srgbClr val="1C1A17"/>
                </a:solidFill>
                <a:latin typeface="KaiTi"/>
                <a:ea typeface="KaiTi"/>
              </a:rPr>
              <a:t>？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5095875"/>
            <a:ext cx="1143000" cy="47625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200775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810875" y="6200775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04 / 17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5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讲给初一同学听：三件事&lt;/Text&gt;&#10;    &lt;/Box&gt;&#10;    &lt;Text style={{ fontFamily: 'Microsoft YaHei', fontSize: 24, color: '#4B463F' }}&gt;任务链&lt;/Text&gt;&#10;  &lt;/Box&gt;&#10;&#10;  &lt;Box style={{ height: 540, flexDirection: 'row', gap: 26 }}&gt;&#10;    &lt;Box style={{ flex: 1, background: 'rgba(75,70,63,0.06)', padding: '42px 30px', flexDirection: 'column', justifyContent: 'space-between' }}&gt;&#10;      &lt;Text style={{ fontFamily: 'KaiTi', fontSize: 96, fontWeight: 'bold', color: '#9C2E22', opacity: 0.4, lineHeight: 1 }}&gt;01&lt;/Text&gt;&#10;      &lt;Box&gt;&#10;        &lt;Text style={{ fontFamily: 'KaiTi', fontSize: 44, fontWeight: 'bold', color: '#1C1A17' }}&gt;找喻体&lt;/Text&gt;&#10;        &lt;Text style={{ fontFamily: 'Microsoft YaHei', fontSize: 26, color: '#4B463F', marginTop: 14, lineHeight: 1.5 }}&gt;它们的共同点&lt;/Text&gt;&#10;      &lt;/Box&gt;&#10;    &lt;/Box&gt;&#10;&#10;    &lt;Box style={{ flex: 1, background: 'rgba(75,70,63,0.06)', padding: '42px 30px', flexDirection: 'column', justifyContent: 'space-between' }}&gt;&#10;      &lt;Text style={{ fontFamily: 'KaiTi', fontSize: 96, fontWeight: 'bold', color: '#9C2E22', opacity: 0.4, lineHeight: 1 }}&gt;02&lt;/Text&gt;&#10;      &lt;Box&gt;&#10;        &lt;Text style={{ fontFamily: 'KaiTi', fontSize: 44, fontWeight: 'bold', color: '#1C1A17' }}&gt;找借力&lt;/Text&gt;&#10;        &lt;Text style={{ fontFamily: 'Microsoft YaHei', fontSize: 26, color: '#4B463F', marginTop: 14, lineHeight: 1.5 }}&gt;借什么，得什么&lt;/Text&gt;&#10;      &lt;/Box&gt;&#10;    &lt;/Box&gt;&#10;&#10;    &lt;Box style={{ flex: 1, background: 'rgba(75,70,63,0.06)', padding: '42px 30px', flexDirection: 'column', justifyContent: 'space-between' }}&gt;&#10;      &lt;Text style={{ fontFamily: 'KaiTi', fontSize: 96, fontWeight: 'bold', color: '#9C2E22', opacity: 0.4, lineHeight: 1 }}&gt;03&lt;/Text&gt;&#10;      &lt;Box&gt;&#10;        &lt;Text style={{ fontFamily: 'KaiTi', fontSize: 44, fontWeight: 'bold', color: '#1C1A17' }}&gt;找对照&lt;/Text&gt;&#10;        &lt;Text style={{ fontFamily: 'Microsoft YaHei', fontSize: 26, color: '#4B463F', marginTop: 14, lineHeight: 1.5 }}&gt;为什么放在一起&lt;/Text&gt;&#10;      &lt;/Box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5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4191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讲给初一同学听：三件事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任务链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1143000"/>
            <a:ext cx="3495675" cy="5143500"/>
          </a:xfrm>
          <a:prstGeom prst="rect">
            <a:avLst/>
          </a:prstGeom>
          <a:solidFill>
            <a:srgbClr val="4B463F">
              <a:alpha val="6000"/>
            </a:srgbClr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95350" y="4800600"/>
            <a:ext cx="29241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C1A17"/>
                </a:solidFill>
                <a:latin typeface="KaiTi"/>
                <a:ea typeface="KaiTi"/>
              </a:rPr>
              <a:t>找喻体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95350" y="5438775"/>
            <a:ext cx="29241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它们的共同点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352925" y="1143000"/>
            <a:ext cx="3486150" cy="5143500"/>
          </a:xfrm>
          <a:prstGeom prst="rect">
            <a:avLst/>
          </a:prstGeom>
          <a:solidFill>
            <a:srgbClr val="4B463F">
              <a:alpha val="6000"/>
            </a:srgbClr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638675" y="4800600"/>
            <a:ext cx="29146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C1A17"/>
                </a:solidFill>
                <a:latin typeface="KaiTi"/>
                <a:ea typeface="KaiTi"/>
              </a:rPr>
              <a:t>找借力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638675" y="5438775"/>
            <a:ext cx="29146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借什么，得什么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086725" y="1143000"/>
            <a:ext cx="3495675" cy="5143500"/>
          </a:xfrm>
          <a:prstGeom prst="rect">
            <a:avLst/>
          </a:prstGeom>
          <a:solidFill>
            <a:srgbClr val="4B463F">
              <a:alpha val="6000"/>
            </a:srgbClr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72475" y="4800600"/>
            <a:ext cx="29241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C1A17"/>
                </a:solidFill>
                <a:latin typeface="KaiTi"/>
                <a:ea typeface="KaiTi"/>
              </a:rPr>
              <a:t>找对照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72475" y="5438775"/>
            <a:ext cx="2924175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为什么放在一起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05 / 17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95350" y="1543050"/>
            <a:ext cx="2924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9C2E22">
                    <a:alpha val="40000"/>
                  </a:srgbClr>
                </a:solidFill>
                <a:latin typeface="KaiTi"/>
                <a:ea typeface="KaiTi"/>
              </a:rPr>
              <a:t>01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638675" y="1543050"/>
            <a:ext cx="29146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9C2E22">
                    <a:alpha val="40000"/>
                  </a:srgbClr>
                </a:solidFill>
                <a:latin typeface="KaiTi"/>
                <a:ea typeface="KaiTi"/>
              </a:rPr>
              <a:t>02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72475" y="1543050"/>
            <a:ext cx="2924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9C2E22">
                    <a:alpha val="40000"/>
                  </a:srgbClr>
                </a:solidFill>
                <a:latin typeface="KaiTi"/>
                <a:ea typeface="KaiTi"/>
              </a:rPr>
              <a:t>03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4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他为什么只说青、冰、木、金？&lt;/Text&gt;&#10;    &lt;/Box&gt;&#10;    &lt;Text style={{ fontFamily: 'Microsoft YaHei', fontSize: 24, color: '#4B463F' }}&gt;任务一&lt;/Text&gt;&#10;  &lt;/Box&gt;&#10;&#10;  &lt;Box style={{ height: 540, flexDirection: 'row', gap: 44, alignItems: 'center' }}&gt;&#10;    &lt;Box style={{ width: 560, flexDirection: 'column', gap: 20 }}&gt;&#10;      &lt;Box style={{ flexDirection: 'row', gap: 20, height: 208 }}&gt;&#10;        &lt;Box style={{ flex: 1, background: 'rgba(75,70,63,0.07)', alignItems: 'center', justifyContent: 'center' }}&gt;&#10;          &lt;Text style={{ fontFamily: 'KaiTi', fontSize: 104, fontWeight: 'bold', color: '#1C1A17', lineHeight: 1 }}&gt;青&lt;/Text&gt;&#10;        &lt;/Box&gt;&#10;        &lt;Box style={{ flex: 1, background: 'rgba(75,70,63,0.07)', alignItems: 'center', justifyContent: 'center' }}&gt;&#10;          &lt;Text style={{ fontFamily: 'KaiTi', fontSize: 104, fontWeight: 'bold', color: '#1C1A17', lineHeight: 1 }}&gt;冰&lt;/Text&gt;&#10;        &lt;/Box&gt;&#10;      &lt;/Box&gt;&#10;      &lt;Box style={{ flexDirection: 'row', gap: 20, height: 208 }}&gt;&#10;        &lt;Box style={{ flex: 1, background: 'rgba(75,70,63,0.07)', alignItems: 'center', justifyContent: 'center' }}&gt;&#10;          &lt;Text style={{ fontFamily: 'KaiTi', fontSize: 104, fontWeight: 'bold', color: '#1C1A17', lineHeight: 1 }}&gt;木&lt;/Text&gt;&#10;        &lt;/Box&gt;&#10;        &lt;Box style={{ flex: 1, background: 'rgba(75,70,63,0.07)', alignItems: 'center', justifyContent: 'center' }}&gt;&#10;          &lt;Text style={{ fontFamily: 'KaiTi', fontSize: 104, fontWeight: 'bold', color: '#1C1A17', lineHeight: 1 }}&gt;金&lt;/Text&gt;&#10;        &lt;/Box&gt;&#10;      &lt;/Box&gt;&#10;    &lt;/Box&gt;&#10;&#10;    &lt;Image src=&quot;assets/img_3_wheel.jpg&quot; style={{ width: 548, height: 436, objectFit: 'cover' }} /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6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5334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他为什么只说青、冰、木、金？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任务一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638300"/>
            <a:ext cx="2571750" cy="19812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400175" y="2038350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1C1A17"/>
                </a:solidFill>
                <a:latin typeface="KaiTi"/>
                <a:ea typeface="KaiTi"/>
              </a:rPr>
              <a:t>青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3371850" y="1638300"/>
            <a:ext cx="2571750" cy="19812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162425" y="2038350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1C1A17"/>
                </a:solidFill>
                <a:latin typeface="KaiTi"/>
                <a:ea typeface="KaiTi"/>
              </a:rPr>
              <a:t>冰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3810000"/>
            <a:ext cx="2571750" cy="19812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400175" y="4210050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1C1A17"/>
                </a:solidFill>
                <a:latin typeface="KaiTi"/>
                <a:ea typeface="KaiTi"/>
              </a:rPr>
              <a:t>木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371850" y="3810000"/>
            <a:ext cx="2571750" cy="19812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162425" y="4210050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1C1A17"/>
                </a:solidFill>
                <a:latin typeface="KaiTi"/>
                <a:ea typeface="KaiTi"/>
              </a:rPr>
              <a:t>金</a:t>
            </a:r>
            <a:endParaRPr/>
          </a:p>
        </p:txBody>
      </p:sp>
      <p:pic>
        <p:nvPicPr>
          <p:cNvPr id="227" name=""/>
          <p:cNvPicPr>
            <a:picLocks noChangeAspect="1"/>
          </p:cNvPicPr>
          <p:nvPr/>
        </p:nvPicPr>
        <p:blipFill>
          <a:blip r:embed="rId1"/>
          <a:srcRect l="8118" t="0" r="8118" b="0"/>
          <a:stretch>
            <a:fillRect/>
          </a:stretch>
        </p:blipFill>
        <p:spPr>
          <a:xfrm rot="0" flipH="0" flipV="0">
            <a:off x="6362700" y="1638300"/>
            <a:ext cx="5219700" cy="41529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06 / 17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30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它们都指向一个字&lt;/Text&gt;&#10;    &lt;/Box&gt;&#10;    &lt;Text style={{ fontFamily: 'Microsoft YaHei', fontSize: 24, color: '#4B463F' }}&gt;任务一&lt;/Text&gt;&#10;  &lt;/Box&gt;&#10;&#10;  &lt;Box style={{ height: 540, flexDirection: 'row', gap: 48, alignItems: 'center' }}&gt;&#10;    &lt;Box style={{ flex: 1, flexDirection: 'column', gap: 16 }}&gt;&#10;      &lt;Box style={{ flexDirection: 'row', alignItems: 'center', gap: 18, height: 62 }}&gt;&#10;        &lt;Box style={{ width: 12, height: 12, background: '#9C2E22' }} /&gt;&#10;        &lt;Text style={{ fontFamily: 'KaiTi', fontSize: 38, color: '#4B463F' }}&gt;青于蓝&lt;/Text&gt;&#10;      &lt;/Box&gt;&#10;      &lt;Box style={{ flexDirection: 'row', alignItems: 'center', gap: 18, height: 62 }}&gt;&#10;        &lt;Box style={{ width: 12, height: 12, background: '#9C2E22' }} /&gt;&#10;        &lt;Text style={{ fontFamily: 'KaiTi', fontSize: 38, color: '#4B463F' }}&gt;寒于水&lt;/Text&gt;&#10;      &lt;/Box&gt;&#10;      &lt;Box style={{ flexDirection: 'row', alignItems: 'center', gap: 18, height: 62 }}&gt;&#10;        &lt;Box style={{ width: 12, height: 12, background: '#9C2E22' }} /&gt;&#10;        &lt;Text style={{ fontFamily: 'KaiTi', fontSize: 38, color: '#4B463F' }}&gt;輮以为轮&lt;/Text&gt;&#10;      &lt;/Box&gt;&#10;      &lt;Box style={{ flexDirection: 'row', alignItems: 'center', gap: 18, height: 62 }}&gt;&#10;        &lt;Box style={{ width: 12, height: 12, background: '#9C2E22' }} /&gt;&#10;        &lt;Text style={{ fontFamily: 'KaiTi', fontSize: 38, color: '#4B463F' }}&gt;受绳则直&lt;/Text&gt;&#10;      &lt;/Box&gt;&#10;      &lt;Box style={{ flexDirection: 'row', alignItems: 'center', gap: 18, height: 62 }}&gt;&#10;        &lt;Box style={{ width: 12, height: 12, background: '#9C2E22' }} /&gt;&#10;        &lt;Text style={{ fontFamily: 'KaiTi', fontSize: 38, color: '#4B463F' }}&gt;就砺则利&lt;/Text&gt;&#10;      &lt;/Box&gt;&#10;    &lt;/Box&gt;&#10;&#10;    &lt;Box style={{ width: 400, height: 460, background: 'rgba(156,46,34,0.08)', borderTop: '5px solid #9C2E22', alignItems: 'center', justifyContent: 'center', flexDirection: 'column', gap: 4 }}&gt;&#10;      &lt;Text style={{ fontFamily: 'Microsoft YaHei', fontSize: 26, color: '#4B463F', letterSpacing: 4 }}&gt;共同点&lt;/Text&gt;&#10;      &lt;Text style={{ fontFamily: 'KaiTi', fontSize: 200, fontWeight: 'bold', color: '#9C2E22', lineHeight: 1 }}&gt;变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7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304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它们都指向一个字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任务一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2171700"/>
            <a:ext cx="114300" cy="1143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95350" y="2009775"/>
            <a:ext cx="1085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4B463F"/>
                </a:solidFill>
                <a:latin typeface="KaiTi"/>
                <a:ea typeface="KaiTi"/>
              </a:rPr>
              <a:t>青于蓝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2914650"/>
            <a:ext cx="114300" cy="1143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95350" y="2752725"/>
            <a:ext cx="1085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4B463F"/>
                </a:solidFill>
                <a:latin typeface="KaiTi"/>
                <a:ea typeface="KaiTi"/>
              </a:rPr>
              <a:t>寒于水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3657600"/>
            <a:ext cx="114300" cy="1143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95350" y="3495675"/>
            <a:ext cx="1447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4B463F"/>
                </a:solidFill>
                <a:latin typeface="KaiTi"/>
                <a:ea typeface="KaiTi"/>
              </a:rPr>
              <a:t>輮以为轮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4400550"/>
            <a:ext cx="114300" cy="1143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95350" y="4238625"/>
            <a:ext cx="1447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4B463F"/>
                </a:solidFill>
                <a:latin typeface="KaiTi"/>
                <a:ea typeface="KaiTi"/>
              </a:rPr>
              <a:t>受绳则直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5143500"/>
            <a:ext cx="114300" cy="1143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95350" y="4981575"/>
            <a:ext cx="1447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4B463F"/>
                </a:solidFill>
                <a:latin typeface="KaiTi"/>
                <a:ea typeface="KaiTi"/>
              </a:rPr>
              <a:t>就砺则利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772400" y="1571625"/>
            <a:ext cx="3810000" cy="4333875"/>
          </a:xfrm>
          <a:prstGeom prst="rect">
            <a:avLst/>
          </a:prstGeom>
          <a:solidFill>
            <a:srgbClr val="9C2E22">
              <a:alpha val="8000"/>
            </a:srgbClr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7772400" y="1524000"/>
            <a:ext cx="3810000" cy="4381500"/>
          </a:xfrm>
          <a:custGeom>
            <a:pathLst>
              <a:path w="400" h="460">
                <a:moveTo>
                  <a:pt x="0" y="0"/>
                </a:moveTo>
                <a:lnTo>
                  <a:pt x="400" y="0"/>
                </a:lnTo>
                <a:lnTo>
                  <a:pt x="400" y="5"/>
                </a:lnTo>
                <a:lnTo>
                  <a:pt x="0" y="5"/>
                </a:lnTo>
                <a:close/>
              </a:path>
            </a:pathLst>
          </a:custGeom>
          <a:solidFill>
            <a:srgbClr val="9C2E22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248775" y="2428875"/>
            <a:ext cx="857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4B463F"/>
                </a:solidFill>
                <a:latin typeface="Microsoft YaHei"/>
                <a:ea typeface="Microsoft YaHei"/>
              </a:rPr>
              <a:t>共同点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724900" y="2771775"/>
            <a:ext cx="1905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0" b="1">
                <a:solidFill>
                  <a:srgbClr val="9C2E22"/>
                </a:solidFill>
                <a:latin typeface="KaiTi"/>
                <a:ea typeface="KaiTi"/>
              </a:rPr>
              <a:t>变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07 / 17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变，靠的是什么&lt;/Text&gt;&#10;    &lt;/Box&gt;&#10;    &lt;Text style={{ fontFamily: 'Microsoft YaHei', fontSize: 24, color: '#4B463F' }}&gt;任务一&lt;/Text&gt;&#10;  &lt;/Box&gt;&#10;&#10;  &lt;Box style={{ height: 540, flexDirection: 'column', justifyContent: 'center', gap: 24 }}&gt;&#10;    &lt;Box style={{ flexDirection: 'row', gap: 26, height: 160 }}&gt;&#10;      &lt;Box style={{ flex: 1, background: 'rgba(75,70,63,0.07)', alignItems: 'center', justifyContent: 'center' }}&gt;&#10;        &lt;Text style={{ fontFamily: 'KaiTi', fontSize: 38, color: '#1C1A17' }}&gt;輮使之然也&lt;/Text&gt;&#10;      &lt;/Box&gt;&#10;      &lt;Box style={{ flex: 1, background: 'rgba(75,70,63,0.07)', alignItems: 'center', justifyContent: 'center' }}&gt;&#10;        &lt;Text style={{ fontFamily: 'KaiTi', fontSize: 38, color: '#1C1A17' }}&gt;受绳则直&lt;/Text&gt;&#10;      &lt;/Box&gt;&#10;      &lt;Box style={{ flex: 1, background: 'rgba(75,70,63,0.07)', alignItems: 'center', justifyContent: 'center' }}&gt;&#10;        &lt;Text style={{ fontFamily: 'KaiTi', fontSize: 38, color: '#1C1A17' }}&gt;就砺则利&lt;/Text&gt;&#10;      &lt;/Box&gt;&#10;    &lt;/Box&gt;&#10;&#10;    &lt;Box style={{ flexDirection: 'row', gap: 26, height: 56, alignItems: 'center' }}&gt;&#10;      &lt;Box style={{ flex: 1, alignItems: 'center' }}&gt;&#10;        &lt;Box style={{ width: 2, height: 44, background: 'rgba(28,26,23,0.28)' }} /&gt;&#10;      &lt;/Box&gt;&#10;      &lt;Box style={{ flex: 1, alignItems: 'center' }}&gt;&#10;        &lt;Box style={{ width: 2, height: 44, background: 'rgba(28,26,23,0.28)' }} /&gt;&#10;      &lt;/Box&gt;&#10;      &lt;Box style={{ flex: 1, alignItems: 'center' }}&gt;&#10;        &lt;Box style={{ width: 2, height: 44, background: 'rgba(28,26,23,0.28)' }} /&gt;&#10;      &lt;/Box&gt;&#10;    &lt;/Box&gt;&#10;&#10;    &lt;Box style={{ alignItems: 'center' }}&gt;&#10;      &lt;Text style={{ fontFamily: 'KaiTi', fontSize: 104, fontWeight: 'bold', color: '#9C2E22', lineHeight: 1.1 }}&gt;外力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8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2667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变，靠的是什么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任务一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1800225"/>
            <a:ext cx="3495675" cy="15240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457325" y="2343150"/>
            <a:ext cx="18097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1C1A17"/>
                </a:solidFill>
                <a:latin typeface="KaiTi"/>
                <a:ea typeface="KaiTi"/>
              </a:rPr>
              <a:t>輮使之然也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4352925" y="1800225"/>
            <a:ext cx="3486150" cy="15240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372100" y="2343150"/>
            <a:ext cx="1447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1C1A17"/>
                </a:solidFill>
                <a:latin typeface="KaiTi"/>
                <a:ea typeface="KaiTi"/>
              </a:rPr>
              <a:t>受绳则直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086725" y="1800225"/>
            <a:ext cx="3495675" cy="15240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115425" y="2343150"/>
            <a:ext cx="1447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>
                <a:solidFill>
                  <a:srgbClr val="1C1A17"/>
                </a:solidFill>
                <a:latin typeface="KaiTi"/>
                <a:ea typeface="KaiTi"/>
              </a:rPr>
              <a:t>就砺则利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2352675" y="3609975"/>
            <a:ext cx="19050" cy="419100"/>
          </a:xfrm>
          <a:prstGeom prst="rect">
            <a:avLst/>
          </a:prstGeom>
          <a:solidFill>
            <a:srgbClr val="1C1A17">
              <a:alpha val="28000"/>
            </a:srgbClr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086475" y="3609975"/>
            <a:ext cx="19050" cy="419100"/>
          </a:xfrm>
          <a:prstGeom prst="rect">
            <a:avLst/>
          </a:prstGeom>
          <a:solidFill>
            <a:srgbClr val="1C1A17">
              <a:alpha val="28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9829800" y="3609975"/>
            <a:ext cx="19050" cy="419100"/>
          </a:xfrm>
          <a:prstGeom prst="rect">
            <a:avLst/>
          </a:prstGeom>
          <a:solidFill>
            <a:srgbClr val="1C1A17">
              <a:alpha val="28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105400" y="4314825"/>
            <a:ext cx="1981200" cy="1314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7800" b="1">
                <a:solidFill>
                  <a:srgbClr val="9C2E22"/>
                </a:solidFill>
                <a:latin typeface="KaiTi"/>
                <a:ea typeface="KaiTi"/>
              </a:rPr>
              <a:t>外力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8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哪些是「假于物」？&lt;/Text&gt;&#10;    &lt;/Box&gt;&#10;    &lt;Text style={{ fontFamily: 'Microsoft YaHei', fontSize: 24, color: '#4B463F' }}&gt;任务二&lt;/Text&gt;&#10;  &lt;/Box&gt;&#10;&#10;  &lt;Box style={{ height: 540, flexDirection: 'row', gap: 44, alignItems: 'center' }}&gt;&#10;    &lt;Box style={{ width: 628, flexDirection: 'column', gap: 22 }}&gt;&#10;      &lt;Box style={{ flexDirection: 'row', alignItems: 'center', gap: 12 }}&gt;&#10;        &lt;Box style={{ width: 26, height: 3, background: '#9C2E22' }} /&gt;&#10;        &lt;Text style={{ fontFamily: 'Microsoft YaHei', fontSize: 24, color: '#4B463F', letterSpacing: 2 }}&gt;原文 · 第二段&lt;/Text&gt;&#10;      &lt;/Box&gt;&#10;      &lt;Text style={{ fontFamily: 'KaiTi', fontSize: 32, color: '#1C1A17', lineHeight: 1.75 }}&gt;&#10;        登高而招，臂非加长也，而见者远；&lt;br /&gt;&#10;        顺风而呼，声非加疾也，而闻者彰。&lt;br /&gt;&#10;        假舆马者，非利足也，而致千里；&lt;br /&gt;&#10;        假舟楫者，非能水也，而绝江河。&#10;      &lt;/Text&gt;&#10;    &lt;/Box&gt;&#10;&#10;    &lt;Image src=&quot;assets/img_4_boat.jpg&quot; style={{ width: 480, height: 440, objectFit: 'cover' }} /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09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342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哪些是「假于物」？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任务二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2314575"/>
            <a:ext cx="247650" cy="28575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71550" y="2190750"/>
            <a:ext cx="1485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4B463F"/>
                </a:solidFill>
                <a:latin typeface="Microsoft YaHei"/>
                <a:ea typeface="Microsoft YaHei"/>
              </a:rPr>
              <a:t>原文</a:t>
            </a:r>
            <a:r>
              <a:rPr lang="en-US" sz="1800" spc="15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 spc="150">
                <a:solidFill>
                  <a:srgbClr val="4B463F"/>
                </a:solidFill>
                <a:latin typeface="Microsoft YaHei"/>
                <a:ea typeface="Microsoft YaHei"/>
              </a:rPr>
              <a:t>第二段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5981700" cy="2562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2400">
                <a:solidFill>
                  <a:srgbClr val="1C1A17"/>
                </a:solidFill>
                <a:latin typeface="KaiTi"/>
                <a:ea typeface="KaiTi"/>
              </a:rPr>
              <a:t>登高而招，臂非加长也，而见者远；</a:t>
            </a:r>
            <a:endParaRPr/>
          </a:p>
          <a:p>
            <a:pPr>
              <a:lnSpc>
                <a:spcPct val="175000"/>
              </a:lnSpc>
            </a:pPr>
            <a:r>
              <a:rPr lang="zh-CN" sz="2400">
                <a:solidFill>
                  <a:srgbClr val="1C1A17"/>
                </a:solidFill>
                <a:latin typeface="KaiTi"/>
                <a:ea typeface="KaiTi"/>
              </a:rPr>
              <a:t>顺风而呼，声非加疾也，而闻者彰。</a:t>
            </a:r>
            <a:endParaRPr/>
          </a:p>
          <a:p>
            <a:pPr>
              <a:lnSpc>
                <a:spcPct val="175000"/>
              </a:lnSpc>
            </a:pPr>
            <a:r>
              <a:rPr lang="zh-CN" sz="2400">
                <a:solidFill>
                  <a:srgbClr val="1C1A17"/>
                </a:solidFill>
                <a:latin typeface="KaiTi"/>
                <a:ea typeface="KaiTi"/>
              </a:rPr>
              <a:t>假舆马者，非利足也，而致千里；</a:t>
            </a:r>
            <a:endParaRPr/>
          </a:p>
          <a:p>
            <a:pPr>
              <a:lnSpc>
                <a:spcPct val="175000"/>
              </a:lnSpc>
            </a:pPr>
            <a:r>
              <a:rPr lang="zh-CN" sz="2400">
                <a:solidFill>
                  <a:srgbClr val="1C1A17"/>
                </a:solidFill>
                <a:latin typeface="KaiTi"/>
                <a:ea typeface="KaiTi"/>
              </a:rPr>
              <a:t>假舟楫者，非能水也，而绝江河。</a:t>
            </a:r>
            <a:endParaRPr/>
          </a:p>
        </p:txBody>
      </p:sp>
      <p:pic>
        <p:nvPicPr>
          <p:cNvPr id="276" name=""/>
          <p:cNvPicPr>
            <a:picLocks noChangeAspect="1"/>
          </p:cNvPicPr>
          <p:nvPr/>
        </p:nvPicPr>
        <p:blipFill>
          <a:blip r:embed="rId1"/>
          <a:srcRect l="13649" t="0" r="13649" b="0"/>
          <a:stretch>
            <a:fillRect/>
          </a:stretch>
        </p:blipFill>
        <p:spPr>
          <a:xfrm rot="0" flipH="0" flipV="0">
            <a:off x="7010400" y="1619250"/>
            <a:ext cx="4572000" cy="419100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借什么，得了什么&lt;/Text&gt;&#10;    &lt;/Box&gt;&#10;    &lt;Text style={{ fontFamily: 'Microsoft YaHei', fontSize: 24, color: '#4B463F' }}&gt;任务二&lt;/Text&gt;&#10;  &lt;/Box&gt;&#10;&#10;  &lt;Box style={{ height: 540, flexDirection: 'column', justifyContent: 'center', gap: 22 }}&gt;&#10;    &lt;Box style={{ flexDirection: 'row', alignItems: 'center', height: 86, background: 'rgba(75,70,63,0.07)' }}&gt;&#10;      &lt;Text style={{ width: 150, textAlign: 'center', fontFamily: 'KaiTi', fontSize: 40, fontWeight: 'bold', color: '#1C1A17' }}&gt;登高&lt;/Text&gt;&#10;      &lt;Text style={{ width: 96, textAlign: 'center', fontFamily: 'Microsoft YaHei', fontSize: 30, color: '#9C2E22' }}&gt;→&lt;/Text&gt;&#10;      &lt;Text style={{ fontFamily: 'KaiTi', fontSize: 40, color: '#1C1A17' }}&gt;见者远&lt;/Text&gt;&#10;    &lt;/Box&gt;&#10;    &lt;Box style={{ flexDirection: 'row', alignItems: 'center', height: 86, background: 'rgba(75,70,63,0.07)' }}&gt;&#10;      &lt;Text style={{ width: 150, textAlign: 'center', fontFamily: 'KaiTi', fontSize: 40, fontWeight: 'bold', color: '#1C1A17' }}&gt;顺风&lt;/Text&gt;&#10;      &lt;Text style={{ width: 96, textAlign: 'center', fontFamily: 'Microsoft YaHei', fontSize: 30, color: '#9C2E22' }}&gt;→&lt;/Text&gt;&#10;      &lt;Text style={{ fontFamily: 'KaiTi', fontSize: 40, color: '#1C1A17' }}&gt;闻者彰&lt;/Text&gt;&#10;    &lt;/Box&gt;&#10;    &lt;Box style={{ flexDirection: 'row', alignItems: 'center', height: 86, background: 'rgba(75,70,63,0.07)' }}&gt;&#10;      &lt;Text style={{ width: 150, textAlign: 'center', fontFamily: 'KaiTi', fontSize: 40, fontWeight: 'bold', color: '#1C1A17' }}&gt;舆马&lt;/Text&gt;&#10;      &lt;Text style={{ width: 96, textAlign: 'center', fontFamily: 'Microsoft YaHei', fontSize: 30, color: '#9C2E22' }}&gt;→&lt;/Text&gt;&#10;      &lt;Text style={{ fontFamily: 'KaiTi', fontSize: 40, color: '#1C1A17' }}&gt;致千里&lt;/Text&gt;&#10;    &lt;/Box&gt;&#10;    &lt;Box style={{ flexDirection: 'row', alignItems: 'center', height: 86, background: 'rgba(75,70,63,0.07)' }}&gt;&#10;      &lt;Text style={{ width: 150, textAlign: 'center', fontFamily: 'KaiTi', fontSize: 40, fontWeight: 'bold', color: '#1C1A17' }}&gt;舟楫&lt;/Text&gt;&#10;      &lt;Text style={{ width: 96, textAlign: 'center', fontFamily: 'Microsoft YaHei', fontSize: 30, color: '#9C2E22' }}&gt;→&lt;/Text&gt;&#10;      &lt;Text style={{ fontFamily: 'KaiTi', fontSize: 40, color: '#1C1A17' }}&gt;绝江河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0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304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借什么，得了什么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任务二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09600" y="1762125"/>
            <a:ext cx="10972800" cy="81915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14287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登高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038350" y="2000250"/>
            <a:ext cx="9144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52750" y="1943100"/>
            <a:ext cx="1143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>
                <a:solidFill>
                  <a:srgbClr val="1C1A17"/>
                </a:solidFill>
                <a:latin typeface="KaiTi"/>
                <a:ea typeface="KaiTi"/>
              </a:rPr>
              <a:t>见者远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09600" y="2790825"/>
            <a:ext cx="10972800" cy="81915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14287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顺风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038350" y="3028950"/>
            <a:ext cx="9144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952750" y="2971800"/>
            <a:ext cx="1143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>
                <a:solidFill>
                  <a:srgbClr val="1C1A17"/>
                </a:solidFill>
                <a:latin typeface="KaiTi"/>
                <a:ea typeface="KaiTi"/>
              </a:rPr>
              <a:t>闻者彰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3819525"/>
            <a:ext cx="10972800" cy="81915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4000500"/>
            <a:ext cx="14287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舆马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2038350" y="4057650"/>
            <a:ext cx="9144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952750" y="4000500"/>
            <a:ext cx="1143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>
                <a:solidFill>
                  <a:srgbClr val="1C1A17"/>
                </a:solidFill>
                <a:latin typeface="KaiTi"/>
                <a:ea typeface="KaiTi"/>
              </a:rPr>
              <a:t>致千里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4848225"/>
            <a:ext cx="10972800" cy="81915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4287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舟楫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038350" y="5086350"/>
            <a:ext cx="9144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952750" y="5029200"/>
            <a:ext cx="1143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>
                <a:solidFill>
                  <a:srgbClr val="1C1A17"/>
                </a:solidFill>
                <a:latin typeface="KaiTi"/>
                <a:ea typeface="KaiTi"/>
              </a:rPr>
              <a:t>绝江河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10 / 17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「生非异」，否定了什么？&lt;/Text&gt;&#10;    &lt;/Box&gt;&#10;    &lt;Text style={{ fontFamily: 'Microsoft YaHei', fontSize: 24, color: '#4B463F' }}&gt;任务二&lt;/Text&gt;&#10;  &lt;/Box&gt;&#10;&#10;  &lt;Box style={{ height: 540, flexDirection: 'column', justifyContent: 'center', gap: 38 }}&gt;&#10;    &lt;Text style={{ fontFamily: 'KaiTi', fontSize: 84, fontWeight: 'bold', color: '#1C1A17', lineHeight: 1.4 }}&gt;&#10;      君子&lt;span style={{ color: '#9C2E22' }}&gt;生非异&lt;/span&gt;也，&lt;br /&gt;&#10;      &lt;span style={{ color: '#9C2E22' }}&gt;善假于物&lt;/span&gt;也。&#10;    &lt;/Text&gt;&#10;&#10;    &lt;Box style={{ width: 84, height: 3, background: 'rgba(28,26,23,0.25)' }} /&gt;&#10;&#10;    &lt;Text style={{ fontFamily: 'Microsoft YaHei', fontSize: 30, color: '#4B463F', lineHeight: 1.7 }}&gt;&#10;      差的不是天赋。&lt;br /&gt;「学」，是人人可走的那条路。&#10;    &lt;/Text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1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457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「生非异」，否定了什么？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任务二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2695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6300" b="1">
                <a:solidFill>
                  <a:srgbClr val="1C1A17"/>
                </a:solidFill>
                <a:latin typeface="KaiTi"/>
                <a:ea typeface="KaiTi"/>
              </a:rPr>
              <a:t>君子</a:t>
            </a:r>
            <a:r>
              <a:rPr lang="zh-CN" sz="6300" b="1">
                <a:solidFill>
                  <a:srgbClr val="9C2E22"/>
                </a:solidFill>
                <a:latin typeface="KaiTi"/>
                <a:ea typeface="KaiTi"/>
              </a:rPr>
              <a:t>生非异</a:t>
            </a:r>
            <a:r>
              <a:rPr lang="zh-CN" sz="6300" b="1">
                <a:solidFill>
                  <a:srgbClr val="1C1A17"/>
                </a:solidFill>
                <a:latin typeface="KaiTi"/>
                <a:ea typeface="KaiTi"/>
              </a:rPr>
              <a:t>也，</a:t>
            </a:r>
            <a:endParaRPr/>
          </a:p>
          <a:p>
            <a:pPr>
              <a:lnSpc>
                <a:spcPct val="140000"/>
              </a:lnSpc>
            </a:pPr>
            <a:r>
              <a:rPr lang="zh-CN" sz="6300" b="1">
                <a:solidFill>
                  <a:srgbClr val="9C2E22"/>
                </a:solidFill>
                <a:latin typeface="KaiTi"/>
                <a:ea typeface="KaiTi"/>
              </a:rPr>
              <a:t>善假于物</a:t>
            </a:r>
            <a:r>
              <a:rPr lang="zh-CN" sz="6300" b="1">
                <a:solidFill>
                  <a:srgbClr val="1C1A17"/>
                </a:solidFill>
                <a:latin typeface="KaiTi"/>
                <a:ea typeface="KaiTi"/>
              </a:rPr>
              <a:t>也。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4467225"/>
            <a:ext cx="800100" cy="28575"/>
          </a:xfrm>
          <a:prstGeom prst="rect">
            <a:avLst/>
          </a:prstGeom>
          <a:solidFill>
            <a:srgbClr val="1C1A17">
              <a:alpha val="25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4857750"/>
            <a:ext cx="109728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250">
                <a:solidFill>
                  <a:srgbClr val="4B463F"/>
                </a:solidFill>
                <a:latin typeface="Microsoft YaHei"/>
                <a:ea typeface="Microsoft YaHei"/>
              </a:rPr>
              <a:t>差的不是天赋。</a:t>
            </a:r>
            <a:endParaRPr/>
          </a:p>
          <a:p>
            <a:pPr>
              <a:lnSpc>
                <a:spcPct val="170000"/>
              </a:lnSpc>
            </a:pPr>
            <a:r>
              <a:rPr lang="zh-CN" sz="2250">
                <a:solidFill>
                  <a:srgbClr val="4B463F"/>
                </a:solidFill>
                <a:latin typeface="Microsoft YaHei"/>
                <a:ea typeface="Microsoft YaHei"/>
              </a:rPr>
              <a:t>「学」，是人人可走的那条路。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11 / 17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5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哪些是正面，哪些是反面？&lt;/Text&gt;&#10;    &lt;/Box&gt;&#10;    &lt;Text style={{ fontFamily: 'Microsoft YaHei', fontSize: 24, color: '#4B463F' }}&gt;任务三&lt;/Text&gt;&#10;  &lt;/Box&gt;&#10;&#10;  &lt;Box style={{ height: 540, flexDirection: 'row', gap: 44, alignItems: 'center' }}&gt;&#10;    &lt;Box style={{ width: 628, flexDirection: 'column', gap: 20 }}&gt;&#10;      &lt;Box style={{ flexDirection: 'row', alignItems: 'center', gap: 12 }}&gt;&#10;        &lt;Box style={{ width: 26, height: 3, background: '#9C2E22' }} /&gt;&#10;        &lt;Text style={{ fontFamily: 'Microsoft YaHei', fontSize: 24, color: '#4B463F', letterSpacing: 2 }}&gt;原文 · 第三段&lt;/Text&gt;&#10;      &lt;/Box&gt;&#10;      &lt;Text style={{ fontFamily: 'KaiTi', fontSize: 28, color: '#1C1A17', lineHeight: 1.8 }}&gt;&#10;        故不积跬步，无以至千里；&lt;br /&gt;&#10;        不积小流，无以成江海。&lt;br /&gt;&#10;        骐骥一跃，不能十步；&lt;br /&gt;&#10;        驽马十驾，功在不舍。&lt;br /&gt;&#10;        锲而舍之，朽木不折；&lt;br /&gt;&#10;        锲而不舍，金石可镂。&lt;br /&gt;&#10;        ……蚓，用心一也；蟹，用心躁也。&#10;      &lt;/Text&gt;&#10;    &lt;/Box&gt;&#10;&#10;    &lt;Image src=&quot;assets/img_5_mountain.jpg&quot; style={{ width: 480, height: 436, objectFit: 'cover' }} /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2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457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哪些是正面，哪些是反面？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任务三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1590675"/>
            <a:ext cx="247650" cy="28575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71550" y="1466850"/>
            <a:ext cx="1485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4B463F"/>
                </a:solidFill>
                <a:latin typeface="Microsoft YaHei"/>
                <a:ea typeface="Microsoft YaHei"/>
              </a:rPr>
              <a:t>原文</a:t>
            </a:r>
            <a:r>
              <a:rPr lang="en-US" sz="1800" spc="15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 spc="150">
                <a:solidFill>
                  <a:srgbClr val="4B463F"/>
                </a:solidFill>
                <a:latin typeface="Microsoft YaHei"/>
                <a:ea typeface="Microsoft YaHei"/>
              </a:rPr>
              <a:t>第三段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5981700" cy="4038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故不积跬步，无以至千里；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不积小流，无以成江海。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骐骥一跃，不能十步；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驽马十驾，功在不舍。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锲而舍之，朽木不折；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锲而不舍，金石可镂。</a:t>
            </a:r>
            <a:endParaRPr/>
          </a:p>
          <a:p>
            <a:pPr>
              <a:lnSpc>
                <a:spcPct val="180000"/>
              </a:lnSpc>
            </a:pPr>
            <a:r>
              <a:rPr lang="zh-CN" sz="2100">
                <a:solidFill>
                  <a:srgbClr val="1C1A17"/>
                </a:solidFill>
                <a:latin typeface="KaiTi"/>
                <a:ea typeface="KaiTi"/>
              </a:rPr>
              <a:t>……蚓，用心一也；蟹，用心躁也。</a:t>
            </a:r>
            <a:endParaRPr/>
          </a:p>
        </p:txBody>
      </p:sp>
      <p:pic>
        <p:nvPicPr>
          <p:cNvPr id="53" name=""/>
          <p:cNvPicPr>
            <a:picLocks noChangeAspect="1"/>
          </p:cNvPicPr>
          <p:nvPr/>
        </p:nvPicPr>
        <p:blipFill>
          <a:blip r:embed="rId1"/>
          <a:srcRect l="13315" t="0" r="13315" b="0"/>
          <a:stretch>
            <a:fillRect/>
          </a:stretch>
        </p:blipFill>
        <p:spPr>
          <a:xfrm rot="0" flipH="0" flipV="0">
            <a:off x="7010400" y="1638300"/>
            <a:ext cx="4572000" cy="415290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12 / 17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6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三组对照&lt;/Text&gt;&#10;    &lt;/Box&gt;&#10;    &lt;Text style={{ fontFamily: 'Microsoft YaHei', fontSize: 24, color: '#4B463F' }}&gt;任务三&lt;/Text&gt;&#10;  &lt;/Box&gt;&#10;&#10;  &lt;Box style={{ height: 540, flexDirection: 'column', justifyContent: 'center', gap: 30 }}&gt;&#10;    &lt;Box style={{ flexDirection: 'row', alignItems: 'center', gap: 16, height: 132 }}&gt;&#10;      &lt;Box style={{ flex: 1, height: 132, background: 'rgba(75,70,63,0.07)', alignItems: 'center', justifyContent: 'center' }}&gt;&#10;        &lt;Text style={{ fontFamily: 'KaiTi', fontSize: 34, color: '#4B463F' }}&gt;骐骥一跃，不能十步&lt;/Text&gt;&#10;      &lt;/Box&gt;&#10;      &lt;Text style={{ width: 44, textAlign: 'center', fontFamily: 'Microsoft YaHei', fontSize: 30, color: '#9C2E22' }}&gt;↔&lt;/Text&gt;&#10;      &lt;Box style={{ flex: 1, height: 132, background: 'rgba(156,46,34,0.09)', alignItems: 'center', justifyContent: 'center' }}&gt;&#10;        &lt;Text style={{ fontFamily: 'KaiTi', fontSize: 34, color: '#1C1A17' }}&gt;驽马十驾，功在&lt;span style={{ color: '#9C2E22' }}&gt;不舍&lt;/span&gt;&lt;/Text&gt;&#10;      &lt;/Box&gt;&#10;    &lt;/Box&gt;&#10;&#10;    &lt;Box style={{ flexDirection: 'row', alignItems: 'center', gap: 16, height: 132 }}&gt;&#10;      &lt;Box style={{ flex: 1, height: 132, background: 'rgba(75,70,63,0.07)', alignItems: 'center', justifyContent: 'center' }}&gt;&#10;        &lt;Text style={{ fontFamily: 'KaiTi', fontSize: 34, color: '#4B463F' }}&gt;锲而舍之，朽木不折&lt;/Text&gt;&#10;      &lt;/Box&gt;&#10;      &lt;Text style={{ width: 44, textAlign: 'center', fontFamily: 'Microsoft YaHei', fontSize: 30, color: '#9C2E22' }}&gt;↔&lt;/Text&gt;&#10;      &lt;Box style={{ flex: 1, height: 132, background: 'rgba(156,46,34,0.09)', alignItems: 'center', justifyContent: 'center' }}&gt;&#10;        &lt;Text style={{ fontFamily: 'KaiTi', fontSize: 34, color: '#1C1A17' }}&gt;锲而不&lt;span style={{ color: '#9C2E22' }}&gt;舍&lt;/span&gt;，金石可镂&lt;/Text&gt;&#10;      &lt;/Box&gt;&#10;    &lt;/Box&gt;&#10;&#10;    &lt;Box style={{ flexDirection: 'row', alignItems: 'center', gap: 16, height: 132 }}&gt;&#10;      &lt;Box style={{ flex: 1, height: 132, background: 'rgba(75,70,63,0.07)', alignItems: 'center', justifyContent: 'center' }}&gt;&#10;        &lt;Text style={{ fontFamily: 'KaiTi', fontSize: 34, color: '#4B463F' }}&gt;蟹，用心&lt;span style={{ color: '#9C2E22' }}&gt;躁&lt;/span&gt;也&lt;/Text&gt;&#10;      &lt;/Box&gt;&#10;      &lt;Text style={{ width: 44, textAlign: 'center', fontFamily: 'Microsoft YaHei', fontSize: 30, color: '#9C2E22' }}&gt;↔&lt;/Text&gt;&#10;      &lt;Box style={{ flex: 1, height: 132, background: 'rgba(156,46,34,0.09)', alignItems: 'center', justifyContent: 'center' }}&gt;&#10;        &lt;Text style={{ fontFamily: 'KaiTi', fontSize: 34, color: '#1C1A17' }}&gt;蚓，用心&lt;span style={{ color: '#9C2E22' }}&gt;一&lt;/span&gt;也&lt;/Text&gt;&#10;      &lt;/Box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3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1524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三组对照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任务三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1543050"/>
            <a:ext cx="5124450" cy="12573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714500" y="1981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骐骥一跃，不能十步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886450" y="2000250"/>
            <a:ext cx="4191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↔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457950" y="1543050"/>
            <a:ext cx="5124450" cy="1257300"/>
          </a:xfrm>
          <a:prstGeom prst="rect">
            <a:avLst/>
          </a:prstGeom>
          <a:solidFill>
            <a:srgbClr val="9C2E22">
              <a:alpha val="9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562850" y="1981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驽马十驾，功在</a:t>
            </a:r>
            <a:r>
              <a:rPr lang="zh-CN" sz="2550">
                <a:solidFill>
                  <a:srgbClr val="9C2E22"/>
                </a:solidFill>
                <a:latin typeface="KaiTi"/>
                <a:ea typeface="KaiTi"/>
              </a:rPr>
              <a:t>不舍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3086100"/>
            <a:ext cx="5124450" cy="12573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714500" y="352425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锲而舍之，朽木不折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886450" y="3543300"/>
            <a:ext cx="4191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↔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457950" y="3086100"/>
            <a:ext cx="5124450" cy="1257300"/>
          </a:xfrm>
          <a:prstGeom prst="rect">
            <a:avLst/>
          </a:prstGeom>
          <a:solidFill>
            <a:srgbClr val="9C2E22">
              <a:alpha val="9000"/>
            </a:srgbClr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562850" y="352425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锲而不</a:t>
            </a:r>
            <a:r>
              <a:rPr lang="zh-CN" sz="2550">
                <a:solidFill>
                  <a:srgbClr val="9C2E22"/>
                </a:solidFill>
                <a:latin typeface="KaiTi"/>
                <a:ea typeface="KaiTi"/>
              </a:rPr>
              <a:t>舍</a:t>
            </a: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，金石可镂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4629150"/>
            <a:ext cx="5124450" cy="12573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200275" y="50673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蟹，用心</a:t>
            </a:r>
            <a:r>
              <a:rPr lang="zh-CN" sz="2550">
                <a:solidFill>
                  <a:srgbClr val="9C2E22"/>
                </a:solidFill>
                <a:latin typeface="KaiTi"/>
                <a:ea typeface="KaiTi"/>
              </a:rPr>
              <a:t>躁</a:t>
            </a: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886450" y="5086350"/>
            <a:ext cx="4191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↔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457950" y="4629150"/>
            <a:ext cx="5124450" cy="1257300"/>
          </a:xfrm>
          <a:prstGeom prst="rect">
            <a:avLst/>
          </a:prstGeom>
          <a:solidFill>
            <a:srgbClr val="9C2E22">
              <a:alpha val="9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048625" y="50673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蚓，用心</a:t>
            </a:r>
            <a:r>
              <a:rPr lang="zh-CN" sz="2550">
                <a:solidFill>
                  <a:srgbClr val="9C2E22"/>
                </a:solidFill>
                <a:latin typeface="KaiTi"/>
                <a:ea typeface="KaiTi"/>
              </a:rPr>
              <a:t>一</a:t>
            </a: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也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13 / 17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由物及人&lt;/Text&gt;&#10;    &lt;/Box&gt;&#10;    &lt;Text style={{ fontFamily: 'Microsoft YaHei', fontSize: 24, color: '#4B463F' }}&gt;任务三&lt;/Text&gt;&#10;  &lt;/Box&gt;&#10;&#10;  &lt;Box style={{ height: 540, flexDirection: 'column', justifyContent: 'center', gap: 24 }}&gt;&#10;    &lt;Box style={{ flexDirection: 'row', gap: 20, height: 120 }}&gt;&#10;      &lt;Box style={{ flex: 1, background: 'rgba(75,70,63,0.07)', flexDirection: 'row', alignItems: 'center', justifyContent: 'center', gap: 10 }}&gt;&#10;        &lt;Text style={{ fontFamily: 'KaiTi', fontSize: 34, color: '#1C1A17' }}&gt;积土成山&lt;/Text&gt;&#10;        &lt;Text style={{ fontFamily: 'Microsoft YaHei', fontSize: 26, color: '#9C2E22' }}&gt;→&lt;/Text&gt;&#10;        &lt;Text style={{ fontFamily: 'KaiTi', fontSize: 34, color: '#4B463F' }}&gt;风雨兴焉&lt;/Text&gt;&#10;      &lt;/Box&gt;&#10;      &lt;Box style={{ flex: 1, background: 'rgba(75,70,63,0.07)', flexDirection: 'row', alignItems: 'center', justifyContent: 'center', gap: 10 }}&gt;&#10;        &lt;Text style={{ fontFamily: 'KaiTi', fontSize: 34, color: '#1C1A17' }}&gt;积水成渊&lt;/Text&gt;&#10;        &lt;Text style={{ fontFamily: 'Microsoft YaHei', fontSize: 26, color: '#9C2E22' }}&gt;→&lt;/Text&gt;&#10;        &lt;Text style={{ fontFamily: 'KaiTi', fontSize: 34, color: '#4B463F' }}&gt;蛟龙生焉&lt;/Text&gt;&#10;      &lt;/Box&gt;&#10;      &lt;Box style={{ flex: 1, background: 'rgba(156,46,34,0.10)', borderTop: '4px solid #9C2E22', flexDirection: 'row', alignItems: 'center', justifyContent: 'center', gap: 10 }}&gt;&#10;        &lt;Text style={{ fontFamily: 'KaiTi', fontSize: 34, fontWeight: 'bold', color: '#9C2E22' }}&gt;积善成德&lt;/Text&gt;&#10;        &lt;Text style={{ fontFamily: 'Microsoft YaHei', fontSize: 26, color: '#9C2E22' }}&gt;→&lt;/Text&gt;&#10;        &lt;Text style={{ fontFamily: 'KaiTi', fontSize: 34, fontWeight: 'bold', color: '#9C2E22' }}&gt;圣心备焉&lt;/Text&gt;&#10;      &lt;/Box&gt;&#10;    &lt;/Box&gt;&#10;&#10;    &lt;Box style={{ flexDirection: 'row', alignItems: 'center', justifyContent: 'center', gap: 20, height: 76 }}&gt;&#10;      &lt;Text style={{ fontFamily: 'KaiTi', fontSize: 46, color: '#1C1A17' }}&gt;物&lt;/Text&gt;&#10;      &lt;Text style={{ fontFamily: 'Microsoft YaHei', fontSize: 30, color: '#9C2E22' }}&gt;→&lt;/Text&gt;&#10;      &lt;Text style={{ fontFamily: 'KaiTi', fontSize: 46, color: '#1C1A17' }}&gt;物&lt;/Text&gt;&#10;      &lt;Text style={{ fontFamily: 'Microsoft YaHei', fontSize: 30, color: '#9C2E22' }}&gt;→&lt;/Text&gt;&#10;      &lt;Text style={{ fontFamily: 'KaiTi', fontSize: 46, fontWeight: 'bold', color: '#9C2E22' }}&gt;人&lt;/Text&gt;&#10;    &lt;/Box&gt;&#10;&#10;    &lt;Box style={{ alignItems: 'center' }}&gt;&#10;      &lt;Text style={{ fontFamily: 'Microsoft YaHei', fontSize: 30, color: '#4B463F' }}&gt;这三句的顺序，能换吗？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4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1524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由物及人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896600" y="5334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任务三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2381250"/>
            <a:ext cx="3533775" cy="11430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66775" y="2762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积土成山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257425" y="28003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600325" y="2762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风雨兴焉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333875" y="2381250"/>
            <a:ext cx="3524250" cy="11430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581525" y="2762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C1A17"/>
                </a:solidFill>
                <a:latin typeface="KaiTi"/>
                <a:ea typeface="KaiTi"/>
              </a:rPr>
              <a:t>积水成渊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972175" y="28003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15075" y="2762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4B463F"/>
                </a:solidFill>
                <a:latin typeface="KaiTi"/>
                <a:ea typeface="KaiTi"/>
              </a:rPr>
              <a:t>蛟龙生焉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048625" y="2419350"/>
            <a:ext cx="3533775" cy="1143000"/>
          </a:xfrm>
          <a:prstGeom prst="rect">
            <a:avLst/>
          </a:prstGeom>
          <a:solidFill>
            <a:srgbClr val="9C2E22">
              <a:alpha val="10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8048625" y="2381250"/>
            <a:ext cx="3533775" cy="1181100"/>
          </a:xfrm>
          <a:custGeom>
            <a:pathLst>
              <a:path w="371" h="124">
                <a:moveTo>
                  <a:pt x="0" y="0"/>
                </a:moveTo>
                <a:lnTo>
                  <a:pt x="371" y="0"/>
                </a:lnTo>
                <a:lnTo>
                  <a:pt x="371" y="4"/>
                </a:lnTo>
                <a:lnTo>
                  <a:pt x="0" y="4"/>
                </a:lnTo>
                <a:close/>
              </a:path>
            </a:pathLst>
          </a:custGeom>
          <a:solidFill>
            <a:srgbClr val="9C2E22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05800" y="27813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9C2E22"/>
                </a:solidFill>
                <a:latin typeface="KaiTi"/>
                <a:ea typeface="KaiTi"/>
              </a:rPr>
              <a:t>积善成德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696450" y="28194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39350" y="27813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9C2E22"/>
                </a:solidFill>
                <a:latin typeface="KaiTi"/>
                <a:ea typeface="KaiTi"/>
              </a:rPr>
              <a:t>圣心备焉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772025" y="38481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>
                <a:solidFill>
                  <a:srgbClr val="1C1A17"/>
                </a:solidFill>
                <a:latin typeface="KaiTi"/>
                <a:ea typeface="KaiTi"/>
              </a:rPr>
              <a:t>物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400675" y="39433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876925" y="38481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>
                <a:solidFill>
                  <a:srgbClr val="1C1A17"/>
                </a:solidFill>
                <a:latin typeface="KaiTi"/>
                <a:ea typeface="KaiTi"/>
              </a:rPr>
              <a:t>物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505575" y="39433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9C2E2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981825" y="38481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9C2E22"/>
                </a:solidFill>
                <a:latin typeface="KaiTi"/>
                <a:ea typeface="KaiTi"/>
              </a:rPr>
              <a:t>人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524375" y="470535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4B463F"/>
                </a:solidFill>
                <a:latin typeface="Microsoft YaHei"/>
                <a:ea typeface="Microsoft YaHei"/>
              </a:rPr>
              <a:t>这三句的顺序，能换吗？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14 / 17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这节课走过的路&lt;/Text&gt;&#10;    &lt;/Box&gt;&#10;    &lt;Text style={{ fontFamily: 'Microsoft YaHei', fontSize: 24, color: '#4B463F' }}&gt;板书&lt;/Text&gt;&#10;  &lt;/Box&gt;&#10;&#10;  &lt;Box style={{ height: 540, flexDirection: 'row', gap: 44 }}&gt;&#10;    &lt;Box style={{ width: 700, height: 540, position: 'relative' }}&gt;&#10;      &lt;Box style={{ position: 'absolute', left: 26, top: 72, width: 3, height: 392, background: 'rgba(28,26,23,0.16)' }} /&gt;&#10;&#10;      &lt;Box style={{ position: 'absolute', left: 18, top: 63, width: 18, height: 18, borderRadius: 9, background: '#4B463F' }} /&gt;&#10;      &lt;Box style={{ position: 'absolute', left: 18, top: 161, width: 18, height: 18, borderRadius: 9, background: '#4B463F' }} /&gt;&#10;      &lt;Box style={{ position: 'absolute', left: 18, top: 259, width: 18, height: 18, borderRadius: 9, background: '#4B463F' }} /&gt;&#10;      &lt;Box style={{ position: 'absolute', left: 18, top: 357, width: 18, height: 18, borderRadius: 9, background: '#4B463F' }} /&gt;&#10;      &lt;Box style={{ position: 'absolute', left: 18, top: 455, width: 18, height: 18, borderRadius: 9, background: '#9C2E22' }} /&gt;&#10;&#10;      &lt;Box style={{ position: 'absolute', left: 56, top: 40, width: 620, height: 64, background: 'rgba(75,70,63,0.05)', flexDirection: 'row', alignItems: 'center', paddingLeft: 24 }}&gt;&#10;        &lt;Text style={{ fontFamily: 'Microsoft YaHei', fontSize: 26, color: '#4B463F' }}&gt;一望而知 · 劝人学习要积累&lt;/Text&gt;&#10;      &lt;/Box&gt;&#10;      &lt;Box style={{ position: 'absolute', left: 56, top: 138, width: 620, height: 64, background: 'rgba(75,70,63,0.08)', flexDirection: 'row', alignItems: 'center', paddingLeft: 24 }}&gt;&#10;        &lt;Text style={{ fontFamily: 'Microsoft YaHei', fontSize: 26, color: '#1C1A17' }}&gt;取象 · 共同点是一个「变」&lt;/Text&gt;&#10;      &lt;/Box&gt;&#10;      &lt;Box style={{ position: 'absolute', left: 56, top: 236, width: 620, height: 64, background: 'rgba(75,70,63,0.08)', flexDirection: 'row', alignItems: 'center', paddingLeft: 24 }}&gt;&#10;        &lt;Text style={{ fontFamily: 'Microsoft YaHei', fontSize: 26, color: '#1C1A17' }}&gt;假于物 · 借力（登高 · 顺风 · 舆马 · 舟楫）&lt;/Text&gt;&#10;      &lt;/Box&gt;&#10;      &lt;Box style={{ position: 'absolute', left: 56, top: 334, width: 620, height: 64, background: 'rgba(75,70,63,0.08)', flexDirection: 'row', alignItems: 'center', paddingLeft: 24 }}&gt;&#10;        &lt;Text style={{ fontFamily: 'Microsoft YaHei', fontSize: 26, color: '#1C1A17' }}&gt;正反对照 · 三组一正一反&lt;/Text&gt;&#10;      &lt;/Box&gt;&#10;      &lt;Box style={{ position: 'absolute', left: 56, top: 432, width: 620, height: 64, background: 'rgba(156,46,34,0.10)', borderLeft: '4px solid #9C2E22', flexDirection: 'row', alignItems: 'center', paddingLeft: 20 }}&gt;&#10;        &lt;Text style={{ fontFamily: 'Microsoft YaHei', fontSize: 26, fontWeight: 'bold', color: '#9C2E22' }}&gt;由物及人 · 物 → 物 → 人&lt;/Text&gt;&#10;      &lt;/Box&gt;&#10;    &lt;/Box&gt;&#10;&#10;    &lt;Box style={{ width: 408, height: 540, flexDirection: 'column', justifyContent: 'center', gap: 26 }}&gt;&#10;      &lt;Text style={{ fontFamily: 'Microsoft YaHei', fontSize: 32, fontWeight: 'bold', color: '#1C1A17', lineHeight: 1.55 }}&gt;&#10;        从自然的道理，&lt;br /&gt;说到人的德性。&#10;      &lt;/Text&gt;&#10;      &lt;Box style={{ width: 60, height: 3, background: '#9C2E22' }} /&gt;&#10;      &lt;Text style={{ fontFamily: 'Microsoft YaHei', fontSize: 26, color: '#4B463F', lineHeight: 1.7 }}&gt;&#10;        不写一处「学」的场景，&lt;br /&gt;却处处在说「学」。&#10;      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5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2667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这节课走过的路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25200" y="5334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板书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96200" y="2371725"/>
            <a:ext cx="3886200" cy="1143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400" b="1">
                <a:solidFill>
                  <a:srgbClr val="1C1A17"/>
                </a:solidFill>
                <a:latin typeface="Microsoft YaHei"/>
                <a:ea typeface="Microsoft YaHei"/>
              </a:rPr>
              <a:t>从自然的道理，</a:t>
            </a:r>
            <a:endParaRPr/>
          </a:p>
          <a:p>
            <a:pPr>
              <a:lnSpc>
                <a:spcPct val="155000"/>
              </a:lnSpc>
            </a:pPr>
            <a:r>
              <a:rPr lang="zh-CN" sz="2400" b="1">
                <a:solidFill>
                  <a:srgbClr val="1C1A17"/>
                </a:solidFill>
                <a:latin typeface="Microsoft YaHei"/>
                <a:ea typeface="Microsoft YaHei"/>
              </a:rPr>
              <a:t>说到人的德性。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696200" y="3762375"/>
            <a:ext cx="571500" cy="28575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96200" y="4038600"/>
            <a:ext cx="3886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不写一处「学」的场景，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却处处在说「学」。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57250" y="1828800"/>
            <a:ext cx="28575" cy="3733800"/>
          </a:xfrm>
          <a:prstGeom prst="rect">
            <a:avLst/>
          </a:prstGeom>
          <a:solidFill>
            <a:srgbClr val="1C1A17">
              <a:alpha val="16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81050" y="17430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4B463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781050" y="26765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4B463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781050" y="3609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4B463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781050" y="45434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4B463F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781050" y="54768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1143000" y="1524000"/>
            <a:ext cx="5905500" cy="609600"/>
          </a:xfrm>
          <a:prstGeom prst="rect">
            <a:avLst/>
          </a:prstGeom>
          <a:solidFill>
            <a:srgbClr val="4B463F">
              <a:alpha val="5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371600" y="167640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一望而知</a:t>
            </a:r>
            <a:r>
              <a:rPr lang="en-US" sz="195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4B463F"/>
                </a:solidFill>
                <a:latin typeface="Microsoft YaHei"/>
                <a:ea typeface="Microsoft YaHei"/>
              </a:rPr>
              <a:t>劝人学习要积累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1143000" y="2457450"/>
            <a:ext cx="5905500" cy="609600"/>
          </a:xfrm>
          <a:prstGeom prst="rect">
            <a:avLst/>
          </a:prstGeom>
          <a:solidFill>
            <a:srgbClr val="4B463F">
              <a:alpha val="8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371600" y="260985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取象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共同点是一个「变」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1143000" y="3390900"/>
            <a:ext cx="5905500" cy="609600"/>
          </a:xfrm>
          <a:prstGeom prst="rect">
            <a:avLst/>
          </a:prstGeom>
          <a:solidFill>
            <a:srgbClr val="4B463F">
              <a:alpha val="8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371600" y="3543300"/>
            <a:ext cx="4543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假于物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借力（登高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顺风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舆马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舟楫）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1143000" y="4324350"/>
            <a:ext cx="5905500" cy="609600"/>
          </a:xfrm>
          <a:prstGeom prst="rect">
            <a:avLst/>
          </a:prstGeom>
          <a:solidFill>
            <a:srgbClr val="4B463F">
              <a:alpha val="8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371600" y="4476750"/>
            <a:ext cx="2686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正反对照</a:t>
            </a:r>
            <a:r>
              <a:rPr lang="en-US" sz="1950">
                <a:solidFill>
                  <a:srgbClr val="1C1A17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C1A17"/>
                </a:solidFill>
                <a:latin typeface="Microsoft YaHei"/>
                <a:ea typeface="Microsoft YaHei"/>
              </a:rPr>
              <a:t>三组一正一反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181100" y="5257800"/>
            <a:ext cx="5867400" cy="609600"/>
          </a:xfrm>
          <a:prstGeom prst="rect">
            <a:avLst/>
          </a:prstGeom>
          <a:solidFill>
            <a:srgbClr val="9C2E22">
              <a:alpha val="10000"/>
            </a:srgbClr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1143000" y="5257800"/>
            <a:ext cx="5905500" cy="609600"/>
          </a:xfrm>
          <a:custGeom>
            <a:pathLst>
              <a:path w="620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9C2E22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371600" y="5410200"/>
            <a:ext cx="278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9C2E22"/>
                </a:solidFill>
                <a:latin typeface="Microsoft YaHei"/>
                <a:ea typeface="Microsoft YaHei"/>
              </a:rPr>
              <a:t>由物及人</a:t>
            </a:r>
            <a:r>
              <a:rPr lang="en-US" sz="1950" b="1">
                <a:solidFill>
                  <a:srgbClr val="9C2E22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9C2E22"/>
                </a:solidFill>
                <a:latin typeface="Microsoft YaHei"/>
                <a:ea typeface="Microsoft YaHei"/>
              </a:rPr>
              <a:t>物</a:t>
            </a:r>
            <a:r>
              <a:rPr lang="en-US" sz="1950" b="1">
                <a:solidFill>
                  <a:srgbClr val="9C2E22"/>
                </a:solidFill>
                <a:latin typeface="Microsoft YaHei"/>
                <a:ea typeface="Microsoft YaHei"/>
              </a:rPr>
              <a:t> → </a:t>
            </a:r>
            <a:r>
              <a:rPr lang="zh-CN" sz="1950" b="1">
                <a:solidFill>
                  <a:srgbClr val="9C2E22"/>
                </a:solidFill>
                <a:latin typeface="Microsoft YaHei"/>
                <a:ea typeface="Microsoft YaHei"/>
              </a:rPr>
              <a:t>物</a:t>
            </a:r>
            <a:r>
              <a:rPr lang="en-US" sz="1950" b="1">
                <a:solidFill>
                  <a:srgbClr val="9C2E22"/>
                </a:solidFill>
                <a:latin typeface="Microsoft YaHei"/>
                <a:ea typeface="Microsoft YaHei"/>
              </a:rPr>
              <a:t> → </a:t>
            </a:r>
            <a:r>
              <a:rPr lang="zh-CN" sz="1950" b="1">
                <a:solidFill>
                  <a:srgbClr val="9C2E22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所以，为什么更有说服力？&lt;/Text&gt;&#10;    &lt;/Box&gt;&#10;    &lt;Text style={{ fontFamily: 'Microsoft YaHei', fontSize: 24, color: '#4B463F' }}&gt;小结&lt;/Text&gt;&#10;  &lt;/Box&gt;&#10;&#10;  &lt;Box style={{ height: 540, flexDirection: 'column', justifyContent: 'center' }}&gt;&#10;    &lt;Text style={{ fontFamily: 'KaiTi', fontSize: 52, color: '#1C1A17', lineHeight: 1.8 }}&gt;&#10;      物要变，靠外物；&lt;br /&gt;&#10;      人要变，靠「学」；&lt;br /&gt;&#10;      &lt;span style={{ color: '#9C2E22', fontWeight: 'bold' }}&gt;说物，是为了说人。&lt;/span&gt;&#10;    &lt;/Text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6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457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所以，为什么更有说服力？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125200" y="5334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2114550"/>
            <a:ext cx="10972800" cy="3209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3900">
                <a:solidFill>
                  <a:srgbClr val="1C1A17"/>
                </a:solidFill>
                <a:latin typeface="KaiTi"/>
                <a:ea typeface="KaiTi"/>
              </a:rPr>
              <a:t>物要变，靠外物；</a:t>
            </a:r>
            <a:endParaRPr/>
          </a:p>
          <a:p>
            <a:pPr>
              <a:lnSpc>
                <a:spcPct val="180000"/>
              </a:lnSpc>
            </a:pPr>
            <a:r>
              <a:rPr lang="zh-CN" sz="3900">
                <a:solidFill>
                  <a:srgbClr val="1C1A17"/>
                </a:solidFill>
                <a:latin typeface="KaiTi"/>
                <a:ea typeface="KaiTi"/>
              </a:rPr>
              <a:t>人要变，靠「学」；</a:t>
            </a:r>
            <a:endParaRPr/>
          </a:p>
          <a:p>
            <a:pPr>
              <a:lnSpc>
                <a:spcPct val="180000"/>
              </a:lnSpc>
            </a:pPr>
            <a:r>
              <a:rPr lang="zh-CN" sz="3900" b="1">
                <a:solidFill>
                  <a:srgbClr val="9C2E22"/>
                </a:solidFill>
                <a:latin typeface="KaiTi"/>
                <a:ea typeface="KaiTi"/>
              </a:rPr>
              <a:t>说物，是为了说人。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16 / 17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39" name="" descr="&lt;Slide style={{ width: 1280, height: 720, padding: '20px 64px', background: '#F4F1E9', flexDirection: 'column' }}&gt;&#10;  &lt;Box style={{ height: 100, flexDirection: 'row', alignItems: 'center', justifyContent: 'space-between' }}&gt;&#10;    &lt;Box style={{ flexDirection: 'row', alignItems: 'center', gap: 14 }}&gt;&#10;      &lt;Box style={{ width: 6, height: 40, background: '#9C2E22' }} /&gt;&#10;      &lt;Text style={{ fontFamily: 'KaiTi', fontSize: 40, fontWeight: 'bold', color: '#1C1A17' }}&gt;课后：把话讲给别人听&lt;/Text&gt;&#10;    &lt;/Box&gt;&#10;    &lt;Text style={{ fontFamily: 'Microsoft YaHei', fontSize: 24, color: '#4B463F' }}&gt;作业&lt;/Text&gt;&#10;  &lt;/Box&gt;&#10;&#10;  &lt;Box style={{ height: 540, flexDirection: 'column', justifyContent: 'center', gap: 26 }}&gt;&#10;    &lt;Box style={{ flexDirection: 'row', alignItems: 'center', gap: 26, height: 116, background: 'rgba(75,70,63,0.07)', paddingLeft: 30 }}&gt;&#10;      &lt;Text style={{ width: 96, fontFamily: 'KaiTi', fontSize: 40, fontWeight: 'bold', color: '#4B463F' }}&gt;基础&lt;/Text&gt;&#10;      &lt;Box style={{ width: 2, height: 40, background: 'rgba(28,26,23,0.18)' }} /&gt;&#10;      &lt;Text style={{ fontFamily: 'Microsoft YaHei', fontSize: 30, color: '#1C1A17' }}&gt;背诵一、二段&lt;/Text&gt;&#10;    &lt;/Box&gt;&#10;&#10;    &lt;Box style={{ flexDirection: 'row', alignItems: 'center', gap: 26, height: 116, background: 'rgba(75,70,63,0.07)', paddingLeft: 30 }}&gt;&#10;      &lt;Text style={{ width: 96, fontFamily: 'KaiTi', fontSize: 40, fontWeight: 'bold', color: '#4B463F' }}&gt;提高&lt;/Text&gt;&#10;      &lt;Box style={{ width: 2, height: 40, background: 'rgba(28,26,23,0.18)' }} /&gt;&#10;      &lt;Text style={{ fontFamily: 'Microsoft YaHei', fontSize: 30, color: '#1C1A17' }}&gt;写 150 字讲稿&lt;/Text&gt;&#10;    &lt;/Box&gt;&#10;&#10;    &lt;Box style={{ flexDirection: 'row', alignItems: 'center', gap: 26, height: 116, background: 'rgba(156,46,34,0.09)', borderLeft: '4px solid #9C2E22', paddingLeft: 26 }}&gt;&#10;      &lt;Text style={{ width: 96, fontFamily: 'KaiTi', fontSize: 40, fontWeight: 'bold', color: '#9C2E22' }}&gt;拓展&lt;/Text&gt;&#10;      &lt;Box style={{ width: 2, height: 40, background: 'rgba(28,26,23,0.18)' }} /&gt;&#10;      &lt;Text style={{ fontFamily: 'Microsoft YaHei', fontSize: 30, color: '#1C1A17' }}&gt;今天，你借什么力？&lt;/Text&gt;&#10;    &lt;/Box&gt;&#10;  &lt;/Box&gt;&#10;&#10;  &lt;Box style={{ height: 40, flexDirection: 'row', alignItems: 'center', justifyContent: 'space-between' }}&gt;&#10;    &lt;Text style={{ fontFamily: 'Microsoft YaHei', fontSize: 24, color: '#4B463F' }}&gt;劝学 · 荀子&lt;/Text&gt;&#10;    &lt;Text style={{ fontFamily: 'Microsoft YaHei', fontSize: 24, color: '#4B463F' }}&gt;17 / 1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609600" y="476250"/>
            <a:ext cx="57150" cy="381000"/>
          </a:xfrm>
          <a:prstGeom prst="rect">
            <a:avLst/>
          </a:prstGeom>
          <a:solidFill>
            <a:srgbClr val="9C2E2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00100" y="438150"/>
            <a:ext cx="3810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C1A17"/>
                </a:solidFill>
                <a:latin typeface="KaiTi"/>
                <a:ea typeface="KaiTi"/>
              </a:rPr>
              <a:t>课后：把话讲给别人听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125200" y="5334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作业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1809750"/>
            <a:ext cx="10972800" cy="11049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914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4B463F"/>
                </a:solidFill>
                <a:latin typeface="KaiTi"/>
                <a:ea typeface="KaiTi"/>
              </a:rPr>
              <a:t>基础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2057400" y="2171700"/>
            <a:ext cx="19050" cy="381000"/>
          </a:xfrm>
          <a:prstGeom prst="rect">
            <a:avLst/>
          </a:prstGeom>
          <a:solidFill>
            <a:srgbClr val="1C1A17">
              <a:alpha val="18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324100" y="2190750"/>
            <a:ext cx="171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C1A17"/>
                </a:solidFill>
                <a:latin typeface="Microsoft YaHei"/>
                <a:ea typeface="Microsoft YaHei"/>
              </a:rPr>
              <a:t>背诵一、二段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3162300"/>
            <a:ext cx="10972800" cy="1104900"/>
          </a:xfrm>
          <a:prstGeom prst="rect">
            <a:avLst/>
          </a:prstGeom>
          <a:solidFill>
            <a:srgbClr val="4B463F">
              <a:alpha val="7000"/>
            </a:srgbClr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95350" y="3486150"/>
            <a:ext cx="914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4B463F"/>
                </a:solidFill>
                <a:latin typeface="KaiTi"/>
                <a:ea typeface="KaiTi"/>
              </a:rPr>
              <a:t>提高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2057400" y="3524250"/>
            <a:ext cx="19050" cy="381000"/>
          </a:xfrm>
          <a:prstGeom prst="rect">
            <a:avLst/>
          </a:prstGeom>
          <a:solidFill>
            <a:srgbClr val="1C1A17">
              <a:alpha val="18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324100" y="3543300"/>
            <a:ext cx="1819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C1A17"/>
                </a:solidFill>
                <a:latin typeface="Microsoft YaHei"/>
                <a:ea typeface="Microsoft YaHei"/>
              </a:rPr>
              <a:t>写</a:t>
            </a:r>
            <a:r>
              <a:rPr lang="en-US" sz="2250">
                <a:solidFill>
                  <a:srgbClr val="1C1A17"/>
                </a:solidFill>
                <a:latin typeface="Microsoft YaHei"/>
                <a:ea typeface="Microsoft YaHei"/>
              </a:rPr>
              <a:t> 150 </a:t>
            </a:r>
            <a:r>
              <a:rPr lang="zh-CN" sz="2250">
                <a:solidFill>
                  <a:srgbClr val="1C1A17"/>
                </a:solidFill>
                <a:latin typeface="Microsoft YaHei"/>
                <a:ea typeface="Microsoft YaHei"/>
              </a:rPr>
              <a:t>字讲稿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47700" y="4514850"/>
            <a:ext cx="10972800" cy="1104900"/>
          </a:xfrm>
          <a:prstGeom prst="rect">
            <a:avLst/>
          </a:prstGeom>
          <a:solidFill>
            <a:srgbClr val="9C2E22">
              <a:alpha val="9000"/>
            </a:srgbClr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09600" y="4514850"/>
            <a:ext cx="11010900" cy="1104900"/>
          </a:xfrm>
          <a:custGeom>
            <a:pathLst>
              <a:path w="1156" h="116">
                <a:moveTo>
                  <a:pt x="0" y="0"/>
                </a:moveTo>
                <a:lnTo>
                  <a:pt x="4" y="0"/>
                </a:lnTo>
                <a:lnTo>
                  <a:pt x="4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9C2E2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95350" y="4838700"/>
            <a:ext cx="914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9C2E22"/>
                </a:solidFill>
                <a:latin typeface="KaiTi"/>
                <a:ea typeface="KaiTi"/>
              </a:rPr>
              <a:t>拓展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2057400" y="4876800"/>
            <a:ext cx="19050" cy="381000"/>
          </a:xfrm>
          <a:prstGeom prst="rect">
            <a:avLst/>
          </a:prstGeom>
          <a:solidFill>
            <a:srgbClr val="1C1A17">
              <a:alpha val="18000"/>
            </a:srgbClr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324100" y="48958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C1A17"/>
                </a:solidFill>
                <a:latin typeface="Microsoft YaHei"/>
                <a:ea typeface="Microsoft YaHei"/>
              </a:rPr>
              <a:t>今天，你借什么力？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劝学</a:t>
            </a: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B463F"/>
                </a:solidFill>
                <a:latin typeface="Microsoft YaHei"/>
                <a:ea typeface="Microsoft YaHei"/>
              </a:rPr>
              <a:t>荀子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810875" y="634365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B463F"/>
                </a:solidFill>
                <a:latin typeface="Microsoft YaHei"/>
                <a:ea typeface="Microsoft YaHei"/>
              </a:rPr>
              <a:t>17 / 17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2026-09-16T20:17:55Z</dcterms:created>
  <dcterms:modified xsi:type="dcterms:W3CDTF">2026-09-16T20:17:55Z</dcterms:modified>
</cp:coreProperties>
</file>