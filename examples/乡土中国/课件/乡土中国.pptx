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slides/slide1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6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20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0" Type="http://schemas.openxmlformats.org/officeDocument/2006/relationships/slide" Target="slides/slide10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9" Type="http://schemas.openxmlformats.org/officeDocument/2006/relationships/slide" Target="slides/slide9.xml" /><Relationship Id="rId15" Type="http://schemas.openxmlformats.org/officeDocument/2006/relationships/slide" Target="slides/slide15.xml" /><Relationship Id="rId20" Type="http://schemas.openxmlformats.org/officeDocument/2006/relationships/notesMaster" Target="notesMasters/notesMaster1.xml" /><Relationship Id="rId16" Type="http://schemas.openxmlformats.org/officeDocument/2006/relationships/slide" Target="slides/slide16.xml" /><Relationship Id="rId11" Type="http://schemas.openxmlformats.org/officeDocument/2006/relationships/slide" Target="slides/slide11.xml" /><Relationship Id="rId14" Type="http://schemas.openxmlformats.org/officeDocument/2006/relationships/slide" Target="slides/slide14.xml" /><Relationship Id="rId12" Type="http://schemas.openxmlformats.org/officeDocument/2006/relationships/slide" Target="slides/slide12.xml" /><Relationship Id="rId13" Type="http://schemas.openxmlformats.org/officeDocument/2006/relationships/slide" Target="slides/slide13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2" Type="http://schemas.openxmlformats.org/officeDocument/2006/relationships/slide" Target="slides/slide2.xml" /><Relationship Id="rId21" Type="http://schemas.openxmlformats.org/officeDocument/2006/relationships/presProps" Target="presProps.xml" /><Relationship Id="rId22" Type="http://schemas.openxmlformats.org/officeDocument/2006/relationships/tableStyles" Target="tableStyles.xml" /><Relationship Id="rId23" Type="http://schemas.openxmlformats.org/officeDocument/2006/relationships/viewProps" Target="viewProp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jp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jpg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 descr="&lt;Slide style={{ background: '#F5F1E6', padding: '40px 64px', fontFamily: '宋体' }}&gt;&#13;&#10;  &lt;Image src=&quot;assets/bg_soil.jpg&quot; style={{ position: 'absolute', top: 0, left: 0, width: 1280, height: 720, objectFit: 'cover' }} /&gt;&#13;&#10;  &lt;Box style={{ height: 560, flexDirection: 'row', alignItems: 'center', position: 'relative', zIndex: 5 }}&gt;&#13;&#10;    &lt;Box style={{ width: 700, background: 'rgba(245,241,230,0.9)', padding: '44px 36px 44px 32px', flexDirection: 'column', borderLeft: '6px solid #B4552D' }}&gt;&#13;&#10;      &lt;Text style={{ fontSize: 88, fontWeight: 'bold', color: '#1F3A34', lineHeight: 1.1 }}&gt;乡土中国&lt;/Text&gt;&#13;&#10;      &lt;Text style={{ fontSize: 32, color: '#1F3A34', marginTop: 18 }}&gt;费孝通 · 十四篇文章&lt;/Text&gt;&#13;&#10;      &lt;Text style={{ fontSize: 30, color: '#B4552D', marginTop: 26 }}&gt;四种读法，读完七万字&lt;/Text&gt;&#13;&#10;    &lt;/Box&gt;&#13;&#10;  &lt;/Box&gt;&#13;&#10;  &lt;Box style={{ height: 46, borderTop: '1px solid rgba(31,58,52,0.2)', flexDirection: 'row', justifyContent: 'space-between', alignItems: 'center', paddingTop: 8, position: 'relative', zIndex: 5, background: 'rgba(245,241,230,0.92)', paddingLeft: 12, paddingRight: 12 }}&gt;&#13;&#10;    &lt;Text style={{ fontSize: 24, color: '#6B6B6B' }}&gt;统编版必修上 · 第五单元 · 整本书阅读&lt;/Text&gt;&#13;&#10;    &lt;Text style={{ fontSize: 24, color: '#B4552D' }}&gt;01/19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1"/>
          <a:srcRect l="0" t="5808" r="0" b="5808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666750" y="1504950"/>
            <a:ext cx="6610350" cy="3086100"/>
          </a:xfrm>
          <a:prstGeom prst="rect">
            <a:avLst/>
          </a:prstGeom>
          <a:solidFill>
            <a:srgbClr val="F5F1E6">
              <a:alpha val="90000"/>
            </a:srgbClr>
          </a:soli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609600" y="1504950"/>
            <a:ext cx="6667500" cy="3086100"/>
          </a:xfrm>
          <a:custGeom>
            <a:pathLst>
              <a:path w="700" h="324">
                <a:moveTo>
                  <a:pt x="0" y="0"/>
                </a:moveTo>
                <a:lnTo>
                  <a:pt x="6" y="0"/>
                </a:lnTo>
                <a:lnTo>
                  <a:pt x="6" y="324"/>
                </a:lnTo>
                <a:lnTo>
                  <a:pt x="0" y="324"/>
                </a:lnTo>
                <a:close/>
              </a:path>
            </a:pathLst>
          </a:custGeom>
          <a:solidFill>
            <a:srgbClr val="B4552D"/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971550" y="1924050"/>
            <a:ext cx="5962650" cy="11144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6600" b="1">
                <a:solidFill>
                  <a:srgbClr val="1F3A34"/>
                </a:solidFill>
                <a:latin typeface="宋体"/>
                <a:ea typeface="宋体"/>
              </a:rPr>
              <a:t>乡土中国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971550" y="3209925"/>
            <a:ext cx="59626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>
                <a:solidFill>
                  <a:srgbClr val="1F3A34"/>
                </a:solidFill>
                <a:latin typeface="宋体"/>
                <a:ea typeface="宋体"/>
              </a:rPr>
              <a:t>费孝通</a:t>
            </a:r>
            <a:r>
              <a:rPr lang="en-US" sz="2400">
                <a:solidFill>
                  <a:srgbClr val="1F3A34"/>
                </a:solidFill>
                <a:latin typeface="宋体"/>
                <a:ea typeface="宋体"/>
              </a:rPr>
              <a:t xml:space="preserve"> · </a:t>
            </a:r>
            <a:r>
              <a:rPr lang="zh-CN" sz="2400">
                <a:solidFill>
                  <a:srgbClr val="1F3A34"/>
                </a:solidFill>
                <a:latin typeface="宋体"/>
                <a:ea typeface="宋体"/>
              </a:rPr>
              <a:t>十四篇文章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971550" y="3829050"/>
            <a:ext cx="59626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>
                <a:solidFill>
                  <a:srgbClr val="B4552D"/>
                </a:solidFill>
                <a:latin typeface="宋体"/>
                <a:ea typeface="宋体"/>
              </a:rPr>
              <a:t>四种读法，读完七万字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609600" y="5724525"/>
            <a:ext cx="10972800" cy="428625"/>
          </a:xfrm>
          <a:prstGeom prst="rect">
            <a:avLst/>
          </a:prstGeom>
          <a:solidFill>
            <a:srgbClr val="F5F1E6">
              <a:alpha val="92000"/>
            </a:srgbClr>
          </a:solidFill>
          <a:ln/>
        </p:spPr>
        <p:txBody>
          <a:bodyPr/>
          <a:p/>
        </p:txBody>
      </p:sp>
      <p:sp>
        <p:nvSpPr>
          <p:cNvPr id="10" name=""/>
          <p:cNvSpPr/>
          <p:nvPr/>
        </p:nvSpPr>
        <p:spPr>
          <a:xfrm rot="0" flipH="0" flipV="0">
            <a:off x="609600" y="5715000"/>
            <a:ext cx="10972800" cy="438150"/>
          </a:xfrm>
          <a:custGeom>
            <a:pathLst>
              <a:path w="1152" h="46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723900" y="5838825"/>
            <a:ext cx="38766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统编版必修上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·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第五单元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·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整本书阅读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10877550" y="5838825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01/19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80" name="" descr="&lt;Slide style={{ background: '#F5F1E6', padding: '40px 64px', fontFamily: '宋体' }}&gt;&#13;&#10;  &lt;Image src=&quot;assets/bg_village.jpg&quot; style={{ position: 'absolute', top: -40, left: -64, width: 1408, height: 800, objectFit: 'cover' }} /&gt;&#13;&#10;  &lt;Box style={{ position: 'absolute', top: -40, left: -64, width: 1408, height: 800, background: 'rgba(245,241,230,0.55)', zIndex: 1 }} /&gt;&#13;&#10;  &lt;Box style={{ flexDirection: 'row', justifyContent: 'space-between', alignItems: 'flex-end', height: 72, position: 'relative', zIndex: 5 }}&gt;&#13;&#10;    &lt;Text style={{ fontSize: 40, fontWeight: 'bold', color: '#1F3A34', lineHeight: 1.15 }}&gt;学校图书馆的共读角&lt;/Text&gt;&#13;&#10;    &lt;Text style={{ fontSize: 24, color: '#6B6B6B' }}&gt;导入&lt;/Text&gt;&#13;&#10;  &lt;/Box&gt;&#13;&#10;  &lt;Box style={{ height: 472, marginTop: 20, flexDirection: 'column', position: 'relative', zIndex: 5 }}&gt;&#13;&#10;    &lt;Box style={{ flexDirection: 'column', justifyContent: 'center', height: 472, width: 720 }}&gt;&#13;&#10;      &lt;Text style={{ fontSize: 30, color: '#1F3A34', lineHeight: 1.9, background: 'rgba(245,241,230,0.72)', padding: 20 }}&gt;图书馆要设一个《乡土中国》共读角。&lt;/Text&gt;&#13;&#10;      &lt;Text style={{ fontSize: 30, color: '#1F3A34', lineHeight: 1.9, background: 'rgba(245,241,230,0.72)', padding: 20, marginTop: 16 }}&gt;书架边要贴一张读法指引卡，让下一届学生拿起书就知道怎么读。&lt;/Text&gt;&#13;&#10;      &lt;Text style={{ fontSize: 28, color: '#B4552D', lineHeight: 1.8, marginTop: 24 }}&gt;这张卡，你们做。&lt;/Text&gt;&#13;&#10;  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费孝通&lt;/Text&gt;&#13;&#10;    &lt;Text style={{ fontSize: 24, color: '#B4552D' }}&gt;02/19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pic>
        <p:nvPicPr>
          <p:cNvPr id="182" name=""/>
          <p:cNvPicPr>
            <a:picLocks noChangeAspect="1"/>
          </p:cNvPicPr>
          <p:nvPr/>
        </p:nvPicPr>
        <p:blipFill>
          <a:blip r:embed="rId1"/>
          <a:srcRect l="0" t="5361" r="0" b="5361"/>
          <a:stretch>
            <a:fillRect/>
          </a:stretch>
        </p:blipFill>
        <p:spPr>
          <a:xfrm rot="0" flipH="0" flipV="0">
            <a:off x="-609600" y="-381000"/>
            <a:ext cx="13411200" cy="7620000"/>
          </a:xfrm>
          <a:prstGeom prst="rect">
            <a:avLst/>
          </a:prstGeom>
          <a:ln/>
        </p:spPr>
      </p:pic>
      <p:sp>
        <p:nvSpPr>
          <p:cNvPr id="183" name=""/>
          <p:cNvSpPr/>
          <p:nvPr/>
        </p:nvSpPr>
        <p:spPr>
          <a:xfrm rot="0" flipH="0" flipV="0">
            <a:off x="-609600" y="-381000"/>
            <a:ext cx="13411200" cy="7620000"/>
          </a:xfrm>
          <a:prstGeom prst="rect">
            <a:avLst/>
          </a:prstGeom>
          <a:solidFill>
            <a:srgbClr val="F5F1E6">
              <a:alpha val="55000"/>
            </a:srgbClr>
          </a:solidFill>
          <a:ln/>
        </p:spPr>
        <p:txBody>
          <a:bodyPr/>
          <a:p/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3429000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学校图书馆的共读角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11125200" y="790575"/>
            <a:ext cx="457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导入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609600" y="1666875"/>
            <a:ext cx="6858000" cy="1038225"/>
          </a:xfrm>
          <a:prstGeom prst="rect">
            <a:avLst/>
          </a:prstGeom>
          <a:solidFill>
            <a:srgbClr val="F5F1E6">
              <a:alpha val="72000"/>
            </a:srgbClr>
          </a:solidFill>
          <a:ln/>
        </p:spPr>
        <p:txBody>
          <a:bodyPr/>
          <a:p/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609600" y="1666875"/>
            <a:ext cx="6858000" cy="1038225"/>
          </a:xfrm>
          <a:prstGeom prst="rect"/>
        </p:spPr>
        <p:txBody>
          <a:bodyPr wrap="none" lIns="142875" tIns="142875" rIns="142875" bIns="142875"/>
          <a:p>
            <a:pPr>
              <a:lnSpc>
                <a:spcPct val="190000"/>
              </a:lnSpc>
            </a:pPr>
            <a:r>
              <a:rPr lang="zh-CN" sz="2250">
                <a:solidFill>
                  <a:srgbClr val="1F3A34"/>
                </a:solidFill>
                <a:highlight>
                  <a:srgbClr val="F5F1E6">
                    <a:alpha val="72000"/>
                  </a:srgbClr>
                </a:highlight>
                <a:latin typeface="宋体"/>
                <a:ea typeface="宋体"/>
              </a:rPr>
              <a:t>图书馆要设一个《乡土中国》共读角。</a:t>
            </a:r>
            <a:endParaRPr/>
          </a:p>
        </p:txBody>
      </p:sp>
      <p:sp>
        <p:nvSpPr>
          <p:cNvPr id="188" name=""/>
          <p:cNvSpPr/>
          <p:nvPr/>
        </p:nvSpPr>
        <p:spPr>
          <a:xfrm rot="0" flipH="0" flipV="0">
            <a:off x="609600" y="2857500"/>
            <a:ext cx="6858000" cy="1685925"/>
          </a:xfrm>
          <a:prstGeom prst="rect">
            <a:avLst/>
          </a:prstGeom>
          <a:solidFill>
            <a:srgbClr val="F5F1E6">
              <a:alpha val="72000"/>
            </a:srgbClr>
          </a:solidFill>
          <a:ln/>
        </p:spPr>
        <p:txBody>
          <a:bodyPr/>
          <a:p/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609600" y="2857500"/>
            <a:ext cx="6858000" cy="1685925"/>
          </a:xfrm>
          <a:prstGeom prst="rect"/>
        </p:spPr>
        <p:txBody>
          <a:bodyPr wrap="square" lIns="142875" tIns="142875" rIns="142875" bIns="142875">
            <a:normAutofit/>
          </a:bodyPr>
          <a:p>
            <a:pPr>
              <a:lnSpc>
                <a:spcPct val="190000"/>
              </a:lnSpc>
            </a:pPr>
            <a:r>
              <a:rPr lang="zh-CN" sz="2250">
                <a:solidFill>
                  <a:srgbClr val="1F3A34"/>
                </a:solidFill>
                <a:highlight>
                  <a:srgbClr val="F5F1E6">
                    <a:alpha val="72000"/>
                  </a:srgbClr>
                </a:highlight>
                <a:latin typeface="宋体"/>
                <a:ea typeface="宋体"/>
              </a:rPr>
              <a:t>书架边要贴一张读法指引卡，让下一届学生拿起书就知道怎么读。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609600" y="4772025"/>
            <a:ext cx="6858000" cy="5810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2100">
                <a:solidFill>
                  <a:srgbClr val="B4552D"/>
                </a:solidFill>
                <a:latin typeface="宋体"/>
                <a:ea typeface="宋体"/>
              </a:rPr>
              <a:t>这张卡，你们做。</a:t>
            </a:r>
            <a:endParaRPr/>
          </a:p>
        </p:txBody>
      </p:sp>
      <p:sp>
        <p:nvSpPr>
          <p:cNvPr id="191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209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费孝通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02/19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94" name="" descr="&lt;Slide style={{ background: '#F5F1E6', padding: '40px 64px', fontFamily: '宋体' }}&gt;&#13;&#10;  &lt;Box style={{ flexDirection: 'row', justifyContent: 'space-between', alignItems: 'flex-end', height: 72, position: 'relative', zIndex: 5 }}&gt;&#13;&#10;    &lt;Text style={{ fontSize: 40, fontWeight: 'bold', color: '#1F3A34', lineHeight: 1.15 }}&gt;主问题&lt;/Text&gt;&#13;&#10;    &lt;Text style={{ fontSize: 24, color: '#6B6B6B' }}&gt;全课唯一一句&lt;/Text&gt;&#13;&#10;  &lt;/Box&gt;&#13;&#10;  &lt;Box style={{ height: 472, marginTop: 20, flexDirection: 'column', position: 'relative', zIndex: 5 }}&gt;&#13;&#10;    &lt;Box style={{ height: 472, justifyContent: 'center', flexDirection: 'column' }}&gt;&#13;&#10;      &lt;Text style={{ fontSize: 56, fontWeight: 'bold', color: '#1F3A34', lineHeight: 1.5, letterSpacing: 2 }}&gt;读《乡土中国》，&lt;/Text&gt;&#13;&#10;      &lt;Text style={{ fontSize: 56, fontWeight: 'bold', color: '#1F3A34', lineHeight: 1.5, letterSpacing: 2 }}&gt;到底在读什么？&lt;/Text&gt;&#13;&#10;      &lt;Box style={{ marginTop: 40, borderLeft: '4px solid #B4552D', paddingLeft: 24 }}&gt;&#13;&#10;        &lt;Text style={{ fontSize: 30, color: '#1F3A34' }}&gt;一段原文，四种读法&lt;/Text&gt;&#13;&#10;      &lt;/Box&gt;&#13;&#10;  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费孝通&lt;/Text&gt;&#13;&#10;    &lt;Text style={{ fontSize: 24, color: '#B4552D' }}&gt;03/19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1143000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主问题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10210800" y="790575"/>
            <a:ext cx="1371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全课唯一一句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609600" y="2181225"/>
            <a:ext cx="10972800" cy="962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4200" b="1" spc="150">
                <a:solidFill>
                  <a:srgbClr val="1F3A34"/>
                </a:solidFill>
                <a:latin typeface="宋体"/>
                <a:ea typeface="宋体"/>
              </a:rPr>
              <a:t>读《乡土中国》，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609600" y="3143250"/>
            <a:ext cx="10972800" cy="962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4200" b="1" spc="150">
                <a:solidFill>
                  <a:srgbClr val="1F3A34"/>
                </a:solidFill>
                <a:latin typeface="宋体"/>
                <a:ea typeface="宋体"/>
              </a:rPr>
              <a:t>到底在读什么？</a:t>
            </a:r>
            <a:endParaRPr/>
          </a:p>
        </p:txBody>
      </p:sp>
      <p:sp>
        <p:nvSpPr>
          <p:cNvPr id="200" name=""/>
          <p:cNvSpPr/>
          <p:nvPr/>
        </p:nvSpPr>
        <p:spPr>
          <a:xfrm rot="0" flipH="0" flipV="0">
            <a:off x="609600" y="4486275"/>
            <a:ext cx="11010900" cy="342900"/>
          </a:xfrm>
          <a:custGeom>
            <a:pathLst>
              <a:path w="1156" h="36">
                <a:moveTo>
                  <a:pt x="0" y="0"/>
                </a:moveTo>
                <a:lnTo>
                  <a:pt x="4" y="0"/>
                </a:lnTo>
                <a:lnTo>
                  <a:pt x="4" y="36"/>
                </a:lnTo>
                <a:lnTo>
                  <a:pt x="0" y="36"/>
                </a:lnTo>
                <a:close/>
              </a:path>
            </a:pathLst>
          </a:custGeom>
          <a:solidFill>
            <a:srgbClr val="B4552D"/>
          </a:solidFill>
          <a:ln/>
        </p:spPr>
        <p:txBody>
          <a:bodyPr/>
          <a:p/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876300" y="4486275"/>
            <a:ext cx="107061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>
                <a:solidFill>
                  <a:srgbClr val="1F3A34"/>
                </a:solidFill>
                <a:latin typeface="宋体"/>
                <a:ea typeface="宋体"/>
              </a:rPr>
              <a:t>一段原文，四种读法</a:t>
            </a:r>
            <a:endParaRPr/>
          </a:p>
        </p:txBody>
      </p:sp>
      <p:sp>
        <p:nvSpPr>
          <p:cNvPr id="202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209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费孝通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03/19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205" name="" descr="&lt;Slide style={{ background: '#F5F1E6', padding: '40px 64px', fontFamily: '宋体' }}&gt;&#13;&#10;  &lt;Box style={{ flexDirection: 'row', justifyContent: 'space-between', alignItems: 'flex-end', height: 72, position: 'relative', zIndex: 5 }}&gt;&#13;&#10;    &lt;Text style={{ fontSize: 40, fontWeight: 'bold', color: '#1F3A34', lineHeight: 1.15 }}&gt;今天做三件事&lt;/Text&gt;&#13;&#10;    &lt;Text style={{ fontSize: 24, color: '#6B6B6B' }}&gt;任务总览&lt;/Text&gt;&#13;&#10;  &lt;/Box&gt;&#13;&#10;  &lt;Box style={{ height: 472, marginTop: 20, flexDirection: 'column', position: 'relative', zIndex: 5 }}&gt;&#13;&#10;    &lt;Box style={{ flexDirection: 'row', height: 472, alignItems: 'center' }}&gt;&#13;&#10;      &lt;Box style={{ flex: 1, marginRight: 20, padding: 28, background: 'rgba(31,58,52,0.06)', height: 320, flexDirection: 'column' }}&gt;&#13;&#10;        &lt;Text style={{ fontSize: 26, color: '#B4552D' }}&gt;任务一 · 18 分钟&lt;/Text&gt;&#13;&#10;        &lt;Text style={{ fontSize: 34, fontWeight: 'bold', color: '#1F3A34', marginTop: 16 }}&gt;四读一段&lt;/Text&gt;&#13;&#10;        &lt;Text style={{ fontSize: 26, color: '#1F3A34', lineHeight: 1.8, marginTop: 16 }}&gt;同一段原文，四种读法各读一遍&lt;/Text&gt;&#13;&#10;      &lt;/Box&gt;&#13;&#10;      &lt;Box style={{ flex: 1, marginRight: 20, padding: 28, background: 'rgba(31,58,52,0.06)', height: 320, flexDirection: 'column' }}&gt;&#13;&#10;        &lt;Text style={{ fontSize: 26, color: '#B4552D' }}&gt;任务二 · 10 分钟&lt;/Text&gt;&#13;&#10;        &lt;Text style={{ fontSize: 34, fontWeight: 'bold', color: '#1F3A34', marginTop: 16 }}&gt;分派十四篇&lt;/Text&gt;&#13;&#10;        &lt;Text style={{ fontSize: 26, color: '#1F3A34', lineHeight: 1.8, marginTop: 16 }}&gt;给每一篇配一种读法，说清凭什么&lt;/Text&gt;&#13;&#10;      &lt;/Box&gt;&#13;&#10;      &lt;Box style={{ flex: 1, padding: 28, background: 'rgba(31,58,52,0.06)', height: 320, flexDirection: 'column' }}&gt;&#13;&#10;        &lt;Text style={{ fontSize: 26, color: '#B4552D' }}&gt;任务三 · 4 分钟&lt;/Text&gt;&#13;&#10;        &lt;Text style={{ fontSize: 34, fontWeight: 'bold', color: '#1F3A34', marginTop: 16 }}&gt;定下计划&lt;/Text&gt;&#13;&#10;        &lt;Text style={{ fontSize: 26, color: '#1F3A34', lineHeight: 1.8, marginTop: 16 }}&gt;五周读完，本周读哪三篇&lt;/Text&gt;&#13;&#10;      &lt;/Box&gt;&#13;&#10;  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费孝通&lt;/Text&gt;&#13;&#10;    &lt;Text style={{ fontSize: 24, color: '#B4552D' }}&gt;04/19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2286000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今天做三件事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10668000" y="790575"/>
            <a:ext cx="914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任务总览</a:t>
            </a:r>
            <a:endParaRPr/>
          </a:p>
        </p:txBody>
      </p:sp>
      <p:sp>
        <p:nvSpPr>
          <p:cNvPr id="209" name=""/>
          <p:cNvSpPr/>
          <p:nvPr/>
        </p:nvSpPr>
        <p:spPr>
          <a:xfrm rot="0" flipH="0" flipV="0">
            <a:off x="609600" y="1981200"/>
            <a:ext cx="3533775" cy="3048000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876300" y="2247900"/>
            <a:ext cx="30003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B4552D"/>
                </a:solidFill>
                <a:latin typeface="宋体"/>
                <a:ea typeface="宋体"/>
              </a:rPr>
              <a:t>任务一</a:t>
            </a:r>
            <a:r>
              <a:rPr lang="en-US" sz="1950">
                <a:solidFill>
                  <a:srgbClr val="B4552D"/>
                </a:solidFill>
                <a:latin typeface="宋体"/>
                <a:ea typeface="宋体"/>
              </a:rPr>
              <a:t xml:space="preserve"> · 18 </a:t>
            </a:r>
            <a:r>
              <a:rPr lang="zh-CN" sz="1950">
                <a:solidFill>
                  <a:srgbClr val="B4552D"/>
                </a:solidFill>
                <a:latin typeface="宋体"/>
                <a:ea typeface="宋体"/>
              </a:rPr>
              <a:t>分钟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876300" y="2705100"/>
            <a:ext cx="30003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3A34"/>
                </a:solidFill>
                <a:latin typeface="宋体"/>
                <a:ea typeface="宋体"/>
              </a:rPr>
              <a:t>四读一段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876300" y="3248025"/>
            <a:ext cx="3000375" cy="1076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同一段原文，四种读法各读一遍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4333875" y="1981200"/>
            <a:ext cx="3524250" cy="3048000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4600575" y="2247900"/>
            <a:ext cx="29908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B4552D"/>
                </a:solidFill>
                <a:latin typeface="宋体"/>
                <a:ea typeface="宋体"/>
              </a:rPr>
              <a:t>任务二</a:t>
            </a:r>
            <a:r>
              <a:rPr lang="en-US" sz="1950">
                <a:solidFill>
                  <a:srgbClr val="B4552D"/>
                </a:solidFill>
                <a:latin typeface="宋体"/>
                <a:ea typeface="宋体"/>
              </a:rPr>
              <a:t xml:space="preserve"> · 10 </a:t>
            </a:r>
            <a:r>
              <a:rPr lang="zh-CN" sz="1950">
                <a:solidFill>
                  <a:srgbClr val="B4552D"/>
                </a:solidFill>
                <a:latin typeface="宋体"/>
                <a:ea typeface="宋体"/>
              </a:rPr>
              <a:t>分钟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4600575" y="2705100"/>
            <a:ext cx="29908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3A34"/>
                </a:solidFill>
                <a:latin typeface="宋体"/>
                <a:ea typeface="宋体"/>
              </a:rPr>
              <a:t>分派十四篇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4600575" y="3248025"/>
            <a:ext cx="2990850" cy="1076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给每一篇配一种读法，说清凭什么</a:t>
            </a:r>
            <a:endParaRPr/>
          </a:p>
        </p:txBody>
      </p:sp>
      <p:sp>
        <p:nvSpPr>
          <p:cNvPr id="217" name=""/>
          <p:cNvSpPr/>
          <p:nvPr/>
        </p:nvSpPr>
        <p:spPr>
          <a:xfrm rot="0" flipH="0" flipV="0">
            <a:off x="8048625" y="1981200"/>
            <a:ext cx="3533775" cy="3048000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8315325" y="2247900"/>
            <a:ext cx="30003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B4552D"/>
                </a:solidFill>
                <a:latin typeface="宋体"/>
                <a:ea typeface="宋体"/>
              </a:rPr>
              <a:t>任务三</a:t>
            </a:r>
            <a:r>
              <a:rPr lang="en-US" sz="1950">
                <a:solidFill>
                  <a:srgbClr val="B4552D"/>
                </a:solidFill>
                <a:latin typeface="宋体"/>
                <a:ea typeface="宋体"/>
              </a:rPr>
              <a:t xml:space="preserve"> · 4 </a:t>
            </a:r>
            <a:r>
              <a:rPr lang="zh-CN" sz="1950">
                <a:solidFill>
                  <a:srgbClr val="B4552D"/>
                </a:solidFill>
                <a:latin typeface="宋体"/>
                <a:ea typeface="宋体"/>
              </a:rPr>
              <a:t>分钟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8315325" y="2705100"/>
            <a:ext cx="30003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3A34"/>
                </a:solidFill>
                <a:latin typeface="宋体"/>
                <a:ea typeface="宋体"/>
              </a:rPr>
              <a:t>定下计划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8315325" y="3248025"/>
            <a:ext cx="3000375" cy="5429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五周读完，本周读哪三篇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209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费孝通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04/19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224" name="" descr="&lt;Slide style={{ background: '#F5F1E6', padding: '40px 64px', fontFamily: '宋体' }}&gt;&#13;&#10;  &lt;Image src=&quot;assets/bg_pages.jpg&quot; style={{ position: 'absolute', top: 0, left: 0, width: 1280, height: 720, objectFit: 'cover' }} /&gt;&#13;&#10;  &lt;Box style={{ height: 640, flexDirection: 'column', justifyContent: 'center', alignItems: 'flex-end', position: 'relative', zIndex: 5 }}&gt;&#13;&#10;    &lt;Box style={{ flexDirection: 'column', alignItems: 'flex-end', background: 'rgba(245,241,230,0.82)', padding: '32px 28px' }}&gt;&#13;&#10;      &lt;Text style={{ fontSize: 26, color: '#B4552D', letterSpacing: 4 }}&gt;环 节 一&lt;/Text&gt;&#13;&#10;      &lt;Text style={{ fontSize: 64, fontWeight: 'bold', color: '#1F3A34', marginTop: 12 }}&gt;四读一段&lt;/Text&gt;&#13;&#10;      &lt;Text style={{ fontSize: 30, color: '#1F3A34', marginTop: 20 }}&gt;同一段原文，四种读法，读出来一样吗&lt;/Text&gt;&#13;&#10;    &lt;/Box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pic>
        <p:nvPicPr>
          <p:cNvPr id="226" name=""/>
          <p:cNvPicPr>
            <a:picLocks noChangeAspect="1"/>
          </p:cNvPicPr>
          <p:nvPr/>
        </p:nvPicPr>
        <p:blipFill>
          <a:blip r:embed="rId1"/>
          <a:srcRect l="0" t="5808" r="0" b="5808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227" name=""/>
          <p:cNvSpPr/>
          <p:nvPr/>
        </p:nvSpPr>
        <p:spPr>
          <a:xfrm rot="0" flipH="0" flipV="0">
            <a:off x="6191250" y="2286000"/>
            <a:ext cx="5391150" cy="2295525"/>
          </a:xfrm>
          <a:prstGeom prst="rect">
            <a:avLst/>
          </a:prstGeom>
          <a:solidFill>
            <a:srgbClr val="F5F1E6">
              <a:alpha val="82000"/>
            </a:srgbClr>
          </a:solidFill>
          <a:ln/>
        </p:spPr>
        <p:txBody>
          <a:bodyPr/>
          <a:p/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10220325" y="2590800"/>
            <a:ext cx="10953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spc="300">
                <a:solidFill>
                  <a:srgbClr val="B4552D"/>
                </a:solidFill>
                <a:latin typeface="宋体"/>
                <a:ea typeface="宋体"/>
              </a:rPr>
              <a:t>环</a:t>
            </a:r>
            <a:r>
              <a:rPr lang="en-US" sz="1950" spc="300">
                <a:solidFill>
                  <a:srgbClr val="B4552D"/>
                </a:solidFill>
                <a:latin typeface="宋体"/>
                <a:ea typeface="宋体"/>
              </a:rPr>
              <a:t xml:space="preserve"> </a:t>
            </a:r>
            <a:r>
              <a:rPr lang="zh-CN" sz="1950" spc="300">
                <a:solidFill>
                  <a:srgbClr val="B4552D"/>
                </a:solidFill>
                <a:latin typeface="宋体"/>
                <a:ea typeface="宋体"/>
              </a:rPr>
              <a:t>节</a:t>
            </a:r>
            <a:r>
              <a:rPr lang="en-US" sz="1950" spc="300">
                <a:solidFill>
                  <a:srgbClr val="B4552D"/>
                </a:solidFill>
                <a:latin typeface="宋体"/>
                <a:ea typeface="宋体"/>
              </a:rPr>
              <a:t xml:space="preserve"> </a:t>
            </a:r>
            <a:r>
              <a:rPr lang="zh-CN" sz="1950" spc="300">
                <a:solidFill>
                  <a:srgbClr val="B4552D"/>
                </a:solidFill>
                <a:latin typeface="宋体"/>
                <a:ea typeface="宋体"/>
              </a:rPr>
              <a:t>一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8877300" y="3009900"/>
            <a:ext cx="243840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800" b="1">
                <a:solidFill>
                  <a:srgbClr val="1F3A34"/>
                </a:solidFill>
                <a:latin typeface="宋体"/>
                <a:ea typeface="宋体"/>
              </a:rPr>
              <a:t>四读一段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6457950" y="3933825"/>
            <a:ext cx="4857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>
                <a:solidFill>
                  <a:srgbClr val="1F3A34"/>
                </a:solidFill>
                <a:latin typeface="宋体"/>
                <a:ea typeface="宋体"/>
              </a:rPr>
              <a:t>同一段原文，四种读法，读出来一样吗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231" name="" descr="&lt;Slide style={{ background: '#F5F1E6', padding: '40px 64px', fontFamily: '宋体' }}&gt;&#13;&#10;  &lt;Box style={{ flexDirection: 'row', justifyContent: 'space-between', alignItems: 'flex-end', height: 72, position: 'relative', zIndex: 5 }}&gt;&#13;&#10;    &lt;Text style={{ fontSize: 40, fontWeight: 'bold', color: '#1F3A34', lineHeight: 1.15 }}&gt;原文：乡土本色&lt;/Text&gt;&#13;&#10;    &lt;Text style={{ fontSize: 24, color: '#6B6B6B' }}&gt;第 1 篇&lt;/Text&gt;&#13;&#10;  &lt;/Box&gt;&#13;&#10;  &lt;Box style={{ height: 472, marginTop: 20, flexDirection: 'column', position: 'relative', zIndex: 5 }}&gt;&#13;&#10;    &lt;Box style={{ height: 472, flexDirection: 'column', justifyContent: 'center' }}&gt;&#13;&#10;      &lt;Text style={{ fontSize: 30, color: '#1F3A34', lineHeight: 2.1 }}&gt;从基层上看去，中国社会是乡土性的。&lt;/Text&gt;&#13;&#10;      &lt;Text style={{ fontSize: 30, color: '#1F3A34', lineHeight: 2.1 }}&gt;乡下人离不了泥土，因为在乡下住，种地是最普遍的谋生办法。&lt;/Text&gt;&#13;&#10;      &lt;Text style={{ fontSize: 30, color: '#1F3A34', lineHeight: 2.1 }}&gt;土气是因为不流动而发生的。&lt;/Text&gt;&#13;&#10;      &lt;Text style={{ fontSize: 30, color: '#1F3A34', lineHeight: 2.1 }}&gt;以农为生的人，世代定居是常态，迁移是变态。&lt;/Text&gt;&#13;&#10;      &lt;Text style={{ fontSize: 24, color: '#6B6B6B', marginTop: 20 }}&gt;——《乡土本色》，第 1 篇&lt;/Text&gt;&#13;&#10;  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费孝通&lt;/Text&gt;&#13;&#10;    &lt;Text style={{ fontSize: 24, color: '#B4552D' }}&gt;06/19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2667000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原文：乡土本色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10848975" y="790575"/>
            <a:ext cx="7334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第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1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篇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609600" y="1828800"/>
            <a:ext cx="10972800" cy="723900"/>
          </a:xfrm>
          <a:prstGeom prst="rect"/>
        </p:spPr>
        <p:txBody>
          <a:bodyPr wrap="none" lIns="0" tIns="0" rIns="0" bIns="0"/>
          <a:p>
            <a:pPr>
              <a:lnSpc>
                <a:spcPct val="210000"/>
              </a:lnSpc>
            </a:pPr>
            <a:r>
              <a:rPr lang="zh-CN" sz="2250">
                <a:solidFill>
                  <a:srgbClr val="1F3A34"/>
                </a:solidFill>
                <a:latin typeface="宋体"/>
                <a:ea typeface="宋体"/>
              </a:rPr>
              <a:t>从基层上看去，中国社会是乡土性的。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609600" y="2552700"/>
            <a:ext cx="10972800" cy="723900"/>
          </a:xfrm>
          <a:prstGeom prst="rect"/>
        </p:spPr>
        <p:txBody>
          <a:bodyPr wrap="none" lIns="0" tIns="0" rIns="0" bIns="0"/>
          <a:p>
            <a:pPr>
              <a:lnSpc>
                <a:spcPct val="210000"/>
              </a:lnSpc>
            </a:pPr>
            <a:r>
              <a:rPr lang="zh-CN" sz="2250">
                <a:solidFill>
                  <a:srgbClr val="1F3A34"/>
                </a:solidFill>
                <a:latin typeface="宋体"/>
                <a:ea typeface="宋体"/>
              </a:rPr>
              <a:t>乡下人离不了泥土，因为在乡下住，种地是最普遍的谋生办法。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609600" y="3276600"/>
            <a:ext cx="10972800" cy="723900"/>
          </a:xfrm>
          <a:prstGeom prst="rect"/>
        </p:spPr>
        <p:txBody>
          <a:bodyPr wrap="none" lIns="0" tIns="0" rIns="0" bIns="0"/>
          <a:p>
            <a:pPr>
              <a:lnSpc>
                <a:spcPct val="210000"/>
              </a:lnSpc>
            </a:pPr>
            <a:r>
              <a:rPr lang="zh-CN" sz="2250">
                <a:solidFill>
                  <a:srgbClr val="1F3A34"/>
                </a:solidFill>
                <a:latin typeface="宋体"/>
                <a:ea typeface="宋体"/>
              </a:rPr>
              <a:t>土气是因为不流动而发生的。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609600" y="4000500"/>
            <a:ext cx="10972800" cy="723900"/>
          </a:xfrm>
          <a:prstGeom prst="rect"/>
        </p:spPr>
        <p:txBody>
          <a:bodyPr wrap="none" lIns="0" tIns="0" rIns="0" bIns="0"/>
          <a:p>
            <a:pPr>
              <a:lnSpc>
                <a:spcPct val="210000"/>
              </a:lnSpc>
            </a:pPr>
            <a:r>
              <a:rPr lang="zh-CN" sz="2250">
                <a:solidFill>
                  <a:srgbClr val="1F3A34"/>
                </a:solidFill>
                <a:latin typeface="宋体"/>
                <a:ea typeface="宋体"/>
              </a:rPr>
              <a:t>以农为生的人，世代定居是常态，迁移是变态。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609600" y="4914900"/>
            <a:ext cx="10972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——《乡土本色》，第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1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篇</a:t>
            </a:r>
            <a:endParaRPr/>
          </a:p>
        </p:txBody>
      </p:sp>
      <p:sp>
        <p:nvSpPr>
          <p:cNvPr id="240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209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费孝通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06/19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243" name="" descr="&lt;Slide style={{ background: '#F5F1E6', padding: '40px 64px', fontFamily: '宋体' }}&gt;&#13;&#10;  &lt;Box style={{ flexDirection: 'row', justifyContent: 'space-between', alignItems: 'flex-end', height: 72, position: 'relative', zIndex: 5 }}&gt;&#13;&#10;    &lt;Text style={{ fontSize: 40, fontWeight: 'bold', color: '#1F3A34', lineHeight: 1.15 }}&gt;读法一：接龙&lt;/Text&gt;&#13;&#10;    &lt;Text style={{ fontSize: 24, color: '#6B6B6B' }}&gt;管论证&lt;/Text&gt;&#13;&#10;  &lt;/Box&gt;&#13;&#10;  &lt;Box style={{ height: 472, marginTop: 20, flexDirection: 'column', position: 'relative', zIndex: 5 }}&gt;&#13;&#10;    &lt;Box style={{ flexDirection: 'row', height: 472, alignItems: 'center' }}&gt;&#13;&#10;      &lt;Box style={{ width: 660, flexDirection: 'column' }}&gt;&#13;&#10;        &lt;Text style={{ fontSize: 28, color: '#1F3A34', lineHeight: 1.4 }}&gt;乡下人离不了泥土&lt;/Text&gt;&#13;&#10;        &lt;Text style={{ fontSize: 24, color: '#B4552D', marginLeft: 12 }}&gt;↓ 因为&lt;/Text&gt;&#13;&#10;        &lt;Text style={{ fontSize: 28, color: '#1F3A34', lineHeight: 1.4 }}&gt;种地是最普遍的谋生办法&lt;/Text&gt;&#13;&#10;        &lt;Text style={{ fontSize: 24, color: '#B4552D', marginLeft: 12 }}&gt;↓ 所以&lt;/Text&gt;&#13;&#10;        &lt;Text style={{ fontSize: 28, color: '#1F3A34', lineHeight: 1.4 }}&gt;不流动&lt;/Text&gt;&#13;&#10;        &lt;Text style={{ fontSize: 24, color: '#B4552D', marginLeft: 12 }}&gt;↓ 所以&lt;/Text&gt;&#13;&#10;        &lt;Text style={{ fontSize: 28, color: '#1F3A34', lineHeight: 1.4 }}&gt;熟人社会&lt;/Text&gt;&#13;&#10;      &lt;/Box&gt;&#13;&#10;      &lt;Box style={{ flex: 1, marginLeft: 32, padding: 24, background: 'rgba(31,58,52,0.06)', flexDirection: 'column' }}&gt;&#13;&#10;        &lt;Text style={{ fontSize: 26, fontWeight: 'bold', color: '#1F3A34' }}&gt;判据&lt;/Text&gt;&#13;&#10;        &lt;Text style={{ fontSize: 26, color: '#1F3A34', lineHeight: 1.9, marginTop: 12 }}&gt;每个箭头都能填出&lt;/Text&gt;&#13;&#10;        &lt;Text style={{ fontSize: 26, color: '#B4552D', lineHeight: 1.9 }}&gt;因为 / 所以 / 但是 / 于是&lt;/Text&gt;&#13;&#10;        &lt;Text style={{ fontSize: 26, color: '#1F3A34', lineHeight: 1.9, marginTop: 12 }}&gt;填不出＝这一步没推出来&lt;/Text&gt;&#13;&#10;      &lt;/Box&gt;&#13;&#10;  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费孝通&lt;/Text&gt;&#13;&#10;    &lt;Text style={{ fontSize: 24, color: '#B4552D' }}&gt;07/19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2286000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读法一：接龙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10896600" y="790575"/>
            <a:ext cx="685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管论证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609600" y="2181225"/>
            <a:ext cx="6286500" cy="4572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乡下人离不了泥土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723900" y="2638425"/>
            <a:ext cx="6172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 xml:space="preserve">↓ </a:t>
            </a:r>
            <a:r>
              <a:rPr lang="zh-CN" sz="1800">
                <a:solidFill>
                  <a:srgbClr val="B4552D"/>
                </a:solidFill>
                <a:latin typeface="宋体"/>
                <a:ea typeface="宋体"/>
              </a:rPr>
              <a:t>因为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609600" y="2914650"/>
            <a:ext cx="6286500" cy="4572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种地是最普遍的谋生办法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723900" y="3371850"/>
            <a:ext cx="6172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 xml:space="preserve">↓ </a:t>
            </a:r>
            <a:r>
              <a:rPr lang="zh-CN" sz="1800">
                <a:solidFill>
                  <a:srgbClr val="B4552D"/>
                </a:solidFill>
                <a:latin typeface="宋体"/>
                <a:ea typeface="宋体"/>
              </a:rPr>
              <a:t>所以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609600" y="3648075"/>
            <a:ext cx="6286500" cy="4572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不流动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723900" y="4105275"/>
            <a:ext cx="6172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 xml:space="preserve">↓ </a:t>
            </a:r>
            <a:r>
              <a:rPr lang="zh-CN" sz="1800">
                <a:solidFill>
                  <a:srgbClr val="B4552D"/>
                </a:solidFill>
                <a:latin typeface="宋体"/>
                <a:ea typeface="宋体"/>
              </a:rPr>
              <a:t>所以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609600" y="4381500"/>
            <a:ext cx="6286500" cy="4572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熟人社会</a:t>
            </a:r>
            <a:endParaRPr/>
          </a:p>
        </p:txBody>
      </p:sp>
      <p:sp>
        <p:nvSpPr>
          <p:cNvPr id="254" name=""/>
          <p:cNvSpPr/>
          <p:nvPr/>
        </p:nvSpPr>
        <p:spPr>
          <a:xfrm rot="0" flipH="0" flipV="0">
            <a:off x="7200900" y="2152650"/>
            <a:ext cx="4381500" cy="2705100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7429500" y="2381250"/>
            <a:ext cx="39243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F3A34"/>
                </a:solidFill>
                <a:latin typeface="宋体"/>
                <a:ea typeface="宋体"/>
              </a:rPr>
              <a:t>判据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7429500" y="2800350"/>
            <a:ext cx="3924300" cy="57150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每个箭头都能填出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7429500" y="3371850"/>
            <a:ext cx="3924300" cy="57150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950">
                <a:solidFill>
                  <a:srgbClr val="B4552D"/>
                </a:solidFill>
                <a:latin typeface="宋体"/>
                <a:ea typeface="宋体"/>
              </a:rPr>
              <a:t>因为</a:t>
            </a:r>
            <a:r>
              <a:rPr lang="en-US" sz="1950">
                <a:solidFill>
                  <a:srgbClr val="B4552D"/>
                </a:solidFill>
                <a:latin typeface="宋体"/>
                <a:ea typeface="宋体"/>
              </a:rPr>
              <a:t xml:space="preserve"> / </a:t>
            </a:r>
            <a:r>
              <a:rPr lang="zh-CN" sz="1950">
                <a:solidFill>
                  <a:srgbClr val="B4552D"/>
                </a:solidFill>
                <a:latin typeface="宋体"/>
                <a:ea typeface="宋体"/>
              </a:rPr>
              <a:t>所以</a:t>
            </a:r>
            <a:r>
              <a:rPr lang="en-US" sz="1950">
                <a:solidFill>
                  <a:srgbClr val="B4552D"/>
                </a:solidFill>
                <a:latin typeface="宋体"/>
                <a:ea typeface="宋体"/>
              </a:rPr>
              <a:t xml:space="preserve"> / </a:t>
            </a:r>
            <a:r>
              <a:rPr lang="zh-CN" sz="1950">
                <a:solidFill>
                  <a:srgbClr val="B4552D"/>
                </a:solidFill>
                <a:latin typeface="宋体"/>
                <a:ea typeface="宋体"/>
              </a:rPr>
              <a:t>但是</a:t>
            </a:r>
            <a:r>
              <a:rPr lang="en-US" sz="1950">
                <a:solidFill>
                  <a:srgbClr val="B4552D"/>
                </a:solidFill>
                <a:latin typeface="宋体"/>
                <a:ea typeface="宋体"/>
              </a:rPr>
              <a:t xml:space="preserve"> / </a:t>
            </a:r>
            <a:r>
              <a:rPr lang="zh-CN" sz="1950">
                <a:solidFill>
                  <a:srgbClr val="B4552D"/>
                </a:solidFill>
                <a:latin typeface="宋体"/>
                <a:ea typeface="宋体"/>
              </a:rPr>
              <a:t>于是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7429500" y="4057650"/>
            <a:ext cx="3924300" cy="57150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填不出＝这一步没推出来</a:t>
            </a:r>
            <a:endParaRPr/>
          </a:p>
        </p:txBody>
      </p:sp>
      <p:sp>
        <p:nvSpPr>
          <p:cNvPr id="259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209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费孝通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07/19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262" name="" descr="&lt;Slide style={{ background: '#F5F1E6', padding: '40px 64px', fontFamily: '宋体' }}&gt;&#13;&#10;  &lt;Box style={{ flexDirection: 'row', justifyContent: 'space-between', alignItems: 'flex-end', height: 72, position: 'relative', zIndex: 5 }}&gt;&#13;&#10;    &lt;Text style={{ fontSize: 40, fontWeight: 'bold', color: '#1F3A34', lineHeight: 1.15 }}&gt;读法二：分维&lt;/Text&gt;&#13;&#10;    &lt;Text style={{ fontSize: 24, color: '#6B6B6B' }}&gt;管辨析&lt;/Text&gt;&#13;&#10;  &lt;/Box&gt;&#13;&#10;  &lt;Box style={{ height: 472, marginTop: 20, flexDirection: 'column', position: 'relative', zIndex: 5 }}&gt;&#13;&#10;    &lt;Box style={{ height: 472, flexDirection: 'column', justifyContent: 'center' }}&gt;&#13;&#10;      &lt;Box style={{ flexDirection: 'row', height: 64, alignItems: 'center', borderBottom: '2px solid #B4552D' }}&gt;&#13;&#10;        &lt;Text style={{ width: 200, fontSize: 26, fontWeight: 'bold', color: '#1F3A34' }}&gt;比什么&lt;/Text&gt;&#13;&#10;        &lt;Text style={{ flex: 1, fontSize: 26, fontWeight: 'bold', color: '#1F3A34' }}&gt;乡土社会&lt;/Text&gt;&#13;&#10;        &lt;Text style={{ flex: 1, fontSize: 26, fontWeight: 'bold', color: '#1F3A34' }}&gt;现代社会&lt;/Text&gt;&#13;&#10;      &lt;/Box&gt;&#13;&#10;      &lt;Box style={{ flexDirection: 'row', height: 88, alignItems: 'center', borderBottom: '1px solid rgba(31,58,52,0.15)' }}&gt;&#13;&#10;        &lt;Text style={{ width: 200, fontSize: 26, color: '#1F3A34' }}&gt;界限&lt;/Text&gt;&#13;&#10;        &lt;Text style={{ flex: 1, fontSize: 26, color: '#1F3A34' }}&gt;可伸缩&lt;/Text&gt;&#13;&#10;        &lt;Text style={{ flex: 1, fontSize: 26, color: '#1F3A34' }}&gt;分明&lt;/Text&gt;&#13;&#10;      &lt;/Box&gt;&#13;&#10;      &lt;Box style={{ flexDirection: 'row', height: 88, alignItems: 'center', borderBottom: '1px solid rgba(31,58,52,0.15)' }}&gt;&#13;&#10;        &lt;Text style={{ width: 200, fontSize: 26, color: '#1F3A34' }}&gt;单位&lt;/Text&gt;&#13;&#10;        &lt;Text style={{ flex: 1, fontSize: 26, color: '#1F3A34' }}&gt;家&lt;/Text&gt;&#13;&#10;        &lt;Text style={{ flex: 1, fontSize: 26, color: '#1F3A34' }}&gt;团体&lt;/Text&gt;&#13;&#10;      &lt;/Box&gt;&#13;&#10;      &lt;Box style={{ flexDirection: 'row', height: 88, alignItems: 'center', borderBottom: '1px solid rgba(31,58,52,0.15)' }}&gt;&#13;&#10;        &lt;Text style={{ width: 200, fontSize: 26, color: '#1F3A34' }}&gt;中心&lt;/Text&gt;&#13;&#10;        &lt;Text style={{ flex: 1, fontSize: 26, color: '#1F3A34' }}&gt;己&lt;/Text&gt;&#13;&#10;        &lt;Text style={{ flex: 1, fontSize: 26, color: '#1F3A34' }}&gt;个人&lt;/Text&gt;&#13;&#10;      &lt;/Box&gt;&#13;&#10;      &lt;Text style={{ fontSize: 26, color: '#B4552D', marginTop: 18 }}&gt;判据：每格是同一把尺子量两边，一边量不了的维度不算&lt;/Text&gt;&#13;&#10;  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费孝通&lt;/Text&gt;&#13;&#10;    &lt;Text style={{ fontSize: 24, color: '#B4552D' }}&gt;08/19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2286000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读法二：分维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10896600" y="790575"/>
            <a:ext cx="685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管辨析</a:t>
            </a:r>
            <a:endParaRPr/>
          </a:p>
        </p:txBody>
      </p:sp>
      <p:sp>
        <p:nvSpPr>
          <p:cNvPr id="266" name=""/>
          <p:cNvSpPr/>
          <p:nvPr/>
        </p:nvSpPr>
        <p:spPr>
          <a:xfrm rot="0" flipH="0" flipV="0">
            <a:off x="609600" y="1704975"/>
            <a:ext cx="10972800" cy="609600"/>
          </a:xfrm>
          <a:custGeom>
            <a:pathLst>
              <a:path w="1152" h="64">
                <a:moveTo>
                  <a:pt x="0" y="62"/>
                </a:moveTo>
                <a:lnTo>
                  <a:pt x="1152" y="62"/>
                </a:lnTo>
                <a:lnTo>
                  <a:pt x="1152" y="64"/>
                </a:lnTo>
                <a:lnTo>
                  <a:pt x="0" y="64"/>
                </a:lnTo>
                <a:close/>
              </a:path>
            </a:pathLst>
          </a:custGeom>
          <a:solidFill>
            <a:srgbClr val="B4552D"/>
          </a:solidFill>
          <a:ln/>
        </p:spPr>
        <p:txBody>
          <a:bodyPr/>
          <a:p/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609600" y="1847850"/>
            <a:ext cx="19050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F3A34"/>
                </a:solidFill>
                <a:latin typeface="宋体"/>
                <a:ea typeface="宋体"/>
              </a:rPr>
              <a:t>比什么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2514600" y="1847850"/>
            <a:ext cx="45339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F3A34"/>
                </a:solidFill>
                <a:latin typeface="宋体"/>
                <a:ea typeface="宋体"/>
              </a:rPr>
              <a:t>乡土社会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7048500" y="1847850"/>
            <a:ext cx="45339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F3A34"/>
                </a:solidFill>
                <a:latin typeface="宋体"/>
                <a:ea typeface="宋体"/>
              </a:rPr>
              <a:t>现代社会</a:t>
            </a:r>
            <a:endParaRPr/>
          </a:p>
        </p:txBody>
      </p:sp>
      <p:sp>
        <p:nvSpPr>
          <p:cNvPr id="270" name=""/>
          <p:cNvSpPr/>
          <p:nvPr/>
        </p:nvSpPr>
        <p:spPr>
          <a:xfrm rot="0" flipH="0" flipV="0">
            <a:off x="609600" y="2314575"/>
            <a:ext cx="10972800" cy="838200"/>
          </a:xfrm>
          <a:custGeom>
            <a:pathLst>
              <a:path w="1152" h="88">
                <a:moveTo>
                  <a:pt x="0" y="87"/>
                </a:moveTo>
                <a:lnTo>
                  <a:pt x="1152" y="87"/>
                </a:lnTo>
                <a:lnTo>
                  <a:pt x="1152" y="88"/>
                </a:lnTo>
                <a:lnTo>
                  <a:pt x="0" y="88"/>
                </a:lnTo>
                <a:close/>
              </a:path>
            </a:pathLst>
          </a:custGeom>
          <a:solidFill>
            <a:srgbClr val="1F3A34">
              <a:alpha val="15000"/>
            </a:srgbClr>
          </a:solidFill>
          <a:ln/>
        </p:spPr>
        <p:txBody>
          <a:bodyPr/>
          <a:p/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609600" y="2581275"/>
            <a:ext cx="19050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界限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2514600" y="2581275"/>
            <a:ext cx="45339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可伸缩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7048500" y="2581275"/>
            <a:ext cx="45339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分明</a:t>
            </a:r>
            <a:endParaRPr/>
          </a:p>
        </p:txBody>
      </p:sp>
      <p:sp>
        <p:nvSpPr>
          <p:cNvPr id="274" name=""/>
          <p:cNvSpPr/>
          <p:nvPr/>
        </p:nvSpPr>
        <p:spPr>
          <a:xfrm rot="0" flipH="0" flipV="0">
            <a:off x="609600" y="3152775"/>
            <a:ext cx="10972800" cy="838200"/>
          </a:xfrm>
          <a:custGeom>
            <a:pathLst>
              <a:path w="1152" h="88">
                <a:moveTo>
                  <a:pt x="0" y="87"/>
                </a:moveTo>
                <a:lnTo>
                  <a:pt x="1152" y="87"/>
                </a:lnTo>
                <a:lnTo>
                  <a:pt x="1152" y="88"/>
                </a:lnTo>
                <a:lnTo>
                  <a:pt x="0" y="88"/>
                </a:lnTo>
                <a:close/>
              </a:path>
            </a:pathLst>
          </a:custGeom>
          <a:solidFill>
            <a:srgbClr val="1F3A34">
              <a:alpha val="15000"/>
            </a:srgbClr>
          </a:solidFill>
          <a:ln/>
        </p:spPr>
        <p:txBody>
          <a:bodyPr/>
          <a:p/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609600" y="3419475"/>
            <a:ext cx="19050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单位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2514600" y="3419475"/>
            <a:ext cx="45339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家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7048500" y="3419475"/>
            <a:ext cx="45339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团体</a:t>
            </a:r>
            <a:endParaRPr/>
          </a:p>
        </p:txBody>
      </p:sp>
      <p:sp>
        <p:nvSpPr>
          <p:cNvPr id="278" name=""/>
          <p:cNvSpPr/>
          <p:nvPr/>
        </p:nvSpPr>
        <p:spPr>
          <a:xfrm rot="0" flipH="0" flipV="0">
            <a:off x="609600" y="3990975"/>
            <a:ext cx="10972800" cy="838200"/>
          </a:xfrm>
          <a:custGeom>
            <a:pathLst>
              <a:path w="1152" h="88">
                <a:moveTo>
                  <a:pt x="0" y="87"/>
                </a:moveTo>
                <a:lnTo>
                  <a:pt x="1152" y="87"/>
                </a:lnTo>
                <a:lnTo>
                  <a:pt x="1152" y="88"/>
                </a:lnTo>
                <a:lnTo>
                  <a:pt x="0" y="88"/>
                </a:lnTo>
                <a:close/>
              </a:path>
            </a:pathLst>
          </a:custGeom>
          <a:solidFill>
            <a:srgbClr val="1F3A34">
              <a:alpha val="15000"/>
            </a:srgbClr>
          </a:solidFill>
          <a:ln/>
        </p:spPr>
        <p:txBody>
          <a:bodyPr/>
          <a:p/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609600" y="4257675"/>
            <a:ext cx="19050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中心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2514600" y="4257675"/>
            <a:ext cx="45339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己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7048500" y="4257675"/>
            <a:ext cx="45339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个人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609600" y="5000625"/>
            <a:ext cx="109728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B4552D"/>
                </a:solidFill>
                <a:latin typeface="宋体"/>
                <a:ea typeface="宋体"/>
              </a:rPr>
              <a:t>判据：每格是同一把尺子量两边，一边量不了的维度不算</a:t>
            </a:r>
            <a:endParaRPr/>
          </a:p>
        </p:txBody>
      </p:sp>
      <p:sp>
        <p:nvSpPr>
          <p:cNvPr id="283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209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费孝通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08/19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286" name="" descr="&lt;Slide style={{ background: '#F5F1E6', padding: '40px 64px', fontFamily: '宋体' }}&gt;&#13;&#10;  &lt;Box style={{ flexDirection: 'row', justifyContent: 'space-between', alignItems: 'flex-end', height: 72, position: 'relative', zIndex: 5 }}&gt;&#13;&#10;    &lt;Text style={{ fontSize: 40, fontWeight: 'bold', color: '#1F3A34', lineHeight: 1.15 }}&gt;读法三：画圈&lt;/Text&gt;&#13;&#10;    &lt;Text style={{ fontSize: 24, color: '#6B6B6B' }}&gt;管结构&lt;/Text&gt;&#13;&#10;  &lt;/Box&gt;&#13;&#10;  &lt;Box style={{ height: 472, marginTop: 20, flexDirection: 'column', position: 'relative', zIndex: 5 }}&gt;&#13;&#10;    &lt;Box style={{ flexDirection: 'row', height: 472, alignItems: 'center' }}&gt;&#13;&#10;      &lt;Box style={{ width: 440, marginRight: 32, flexDirection: 'column' }}&gt;&#13;&#10;        &lt;Image src=&quot;assets/img_waves.jpg&quot; style={{ width: 440, height: 300, objectFit: 'cover' }} /&gt;&#13;&#10;        &lt;Text style={{ fontSize: 24, color: '#6B6B6B', marginTop: 10 }}&gt;水波纹 · 水墨示意&lt;/Text&gt;&#13;&#10;      &lt;/Box&gt;&#13;&#10;      &lt;Box style={{ flex: 1, flexDirection: 'column' }}&gt;&#13;&#10;        &lt;Text style={{ fontSize: 26, color: '#1F3A34', lineHeight: 1.8 }}&gt;「好像把一块石头丢在水面上&lt;/Text&gt;&#13;&#10;        &lt;Text style={{ fontSize: 26, color: '#1F3A34', lineHeight: 1.8 }}&gt;所发生的一圈圈推出去的波纹。」&lt;/Text&gt;&#13;&#10;        &lt;Text style={{ fontSize: 28, color: '#B4552D', marginTop: 20 }}&gt;己 → 家 → 族 → 乡 → 天下&lt;/Text&gt;&#13;&#10;        &lt;Text style={{ fontSize: 26, color: '#1F3A34', lineHeight: 1.9, marginTop: 20 }}&gt;判据：箭头必须有字&lt;/Text&gt;&#13;&#10;        &lt;Text style={{ fontSize: 26, color: '#1F3A34', lineHeight: 1.9 }}&gt;没字的箭头等于没画&lt;/Text&gt;&#13;&#10;      &lt;/Box&gt;&#13;&#10;  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费孝通&lt;/Text&gt;&#13;&#10;    &lt;Text style={{ fontSize: 24, color: '#B4552D' }}&gt;09/19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2286000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读法三：画圈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10896600" y="790575"/>
            <a:ext cx="685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管结构</a:t>
            </a:r>
            <a:endParaRPr/>
          </a:p>
        </p:txBody>
      </p:sp>
      <p:pic>
        <p:nvPicPr>
          <p:cNvPr id="290" name=""/>
          <p:cNvPicPr>
            <a:picLocks noChangeAspect="1"/>
          </p:cNvPicPr>
          <p:nvPr/>
        </p:nvPicPr>
        <p:blipFill>
          <a:blip r:embed="rId1"/>
          <a:srcRect l="3328" t="0" r="3328" b="0"/>
          <a:stretch>
            <a:fillRect/>
          </a:stretch>
        </p:blipFill>
        <p:spPr>
          <a:xfrm rot="0" flipH="0" flipV="0">
            <a:off x="609600" y="1895475"/>
            <a:ext cx="4191000" cy="2857500"/>
          </a:xfrm>
          <a:prstGeom prst="rect">
            <a:avLst/>
          </a:prstGeom>
          <a:ln/>
        </p:spPr>
      </p:pic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609600" y="4848225"/>
            <a:ext cx="4191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水波纹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·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水墨示意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5105400" y="2038350"/>
            <a:ext cx="6477000" cy="5429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「好像把一块石头丢在水面上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5105400" y="2581275"/>
            <a:ext cx="6477000" cy="5429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所发生的一圈圈推出去的波纹。」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5105400" y="3314700"/>
            <a:ext cx="64770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>
                <a:solidFill>
                  <a:srgbClr val="B4552D"/>
                </a:solidFill>
                <a:latin typeface="宋体"/>
                <a:ea typeface="宋体"/>
              </a:rPr>
              <a:t>己</a:t>
            </a:r>
            <a:r>
              <a:rPr lang="en-US" sz="2100">
                <a:solidFill>
                  <a:srgbClr val="B4552D"/>
                </a:solidFill>
                <a:latin typeface="宋体"/>
                <a:ea typeface="宋体"/>
              </a:rPr>
              <a:t xml:space="preserve"> → </a:t>
            </a:r>
            <a:r>
              <a:rPr lang="zh-CN" sz="2100">
                <a:solidFill>
                  <a:srgbClr val="B4552D"/>
                </a:solidFill>
                <a:latin typeface="宋体"/>
                <a:ea typeface="宋体"/>
              </a:rPr>
              <a:t>家</a:t>
            </a:r>
            <a:r>
              <a:rPr lang="en-US" sz="2100">
                <a:solidFill>
                  <a:srgbClr val="B4552D"/>
                </a:solidFill>
                <a:latin typeface="宋体"/>
                <a:ea typeface="宋体"/>
              </a:rPr>
              <a:t xml:space="preserve"> → </a:t>
            </a:r>
            <a:r>
              <a:rPr lang="zh-CN" sz="2100">
                <a:solidFill>
                  <a:srgbClr val="B4552D"/>
                </a:solidFill>
                <a:latin typeface="宋体"/>
                <a:ea typeface="宋体"/>
              </a:rPr>
              <a:t>族</a:t>
            </a:r>
            <a:r>
              <a:rPr lang="en-US" sz="2100">
                <a:solidFill>
                  <a:srgbClr val="B4552D"/>
                </a:solidFill>
                <a:latin typeface="宋体"/>
                <a:ea typeface="宋体"/>
              </a:rPr>
              <a:t xml:space="preserve"> → </a:t>
            </a:r>
            <a:r>
              <a:rPr lang="zh-CN" sz="2100">
                <a:solidFill>
                  <a:srgbClr val="B4552D"/>
                </a:solidFill>
                <a:latin typeface="宋体"/>
                <a:ea typeface="宋体"/>
              </a:rPr>
              <a:t>乡</a:t>
            </a:r>
            <a:r>
              <a:rPr lang="en-US" sz="2100">
                <a:solidFill>
                  <a:srgbClr val="B4552D"/>
                </a:solidFill>
                <a:latin typeface="宋体"/>
                <a:ea typeface="宋体"/>
              </a:rPr>
              <a:t xml:space="preserve"> → </a:t>
            </a:r>
            <a:r>
              <a:rPr lang="zh-CN" sz="2100">
                <a:solidFill>
                  <a:srgbClr val="B4552D"/>
                </a:solidFill>
                <a:latin typeface="宋体"/>
                <a:ea typeface="宋体"/>
              </a:rPr>
              <a:t>天下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5105400" y="3829050"/>
            <a:ext cx="6477000" cy="57150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判据：箭头必须有字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5105400" y="4400550"/>
            <a:ext cx="6477000" cy="57150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没字的箭头等于没画</a:t>
            </a:r>
            <a:endParaRPr/>
          </a:p>
        </p:txBody>
      </p:sp>
      <p:sp>
        <p:nvSpPr>
          <p:cNvPr id="297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209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费孝通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09/19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3" name="" descr="&lt;Slide style={{ background: '#F5F1E6', padding: '40px 64px', fontFamily: '宋体' }}&gt;&#13;&#10;  &lt;Box style={{ flexDirection: 'row', justifyContent: 'space-between', alignItems: 'flex-end', height: 72, position: 'relative', zIndex: 5 }}&gt;&#13;&#10;    &lt;Text style={{ fontSize: 40, fontWeight: 'bold', color: '#1F3A34', lineHeight: 1.15 }}&gt;读法四：找例&lt;/Text&gt;&#13;&#10;    &lt;Text style={{ fontSize: 24, color: '#6B6B6B' }}&gt;管迁移&lt;/Text&gt;&#13;&#10;  &lt;/Box&gt;&#13;&#10;  &lt;Box style={{ height: 472, marginTop: 20, flexDirection: 'column', position: 'relative', zIndex: 5 }}&gt;&#13;&#10;    &lt;Box style={{ height: 472, flexDirection: 'column', justifyContent: 'center' }}&gt;&#13;&#10;      &lt;Box style={{ flexDirection: 'row', height: 120 }}&gt;&#13;&#10;        &lt;Box style={{ flex: 1, marginRight: 16, padding: 20, background: 'rgba(31,58,52,0.06)' }}&gt;&#13;&#10;          &lt;Text style={{ fontSize: 28, fontWeight: 'bold', color: '#1F3A34' }}&gt;六尺巷&lt;/Text&gt;&#13;&#10;          &lt;Text style={{ fontSize: 24, color: '#6B6B6B', marginTop: 8 }}&gt;不打官司的完整样本&lt;/Text&gt;&#13;&#10;        &lt;/Box&gt;&#13;&#10;        &lt;Box style={{ flex: 1, padding: 20, background: 'rgba(31,58,52,0.06)' }}&gt;&#13;&#10;          &lt;Text style={{ fontSize: 28, fontWeight: 'bold', color: '#1F3A34' }}&gt;贾母择钗&lt;/Text&gt;&#13;&#10;          &lt;Text style={{ fontSize: 24, color: '#6B6B6B', marginTop: 8 }}&gt;为什么选宝钗不选黛玉&lt;/Text&gt;&#13;&#10;        &lt;/Box&gt;&#13;&#10;      &lt;/Box&gt;&#13;&#10;      &lt;Box style={{ flexDirection: 'row', height: 120, marginTop: 16 }}&gt;&#13;&#10;        &lt;Box style={{ flex: 1, marginRight: 16, padding: 20, background: 'rgba(31,58,52,0.06)' }}&gt;&#13;&#10;          &lt;Text style={{ fontSize: 28, fontWeight: 'bold', color: '#1F3A34' }}&gt;刘十九&lt;/Text&gt;&#13;&#10;          &lt;Text style={{ fontSize: 24, color: '#6B6B6B', marginTop: 8 }}&gt;称谓里的血缘排行&lt;/Text&gt;&#13;&#10;        &lt;/Box&gt;&#13;&#10;        &lt;Box style={{ flex: 1, padding: 20, background: 'rgba(31,58,52,0.06)' }}&gt;&#13;&#10;          &lt;Text style={{ fontSize: 28, fontWeight: 'bold', color: '#1F3A34' }}&gt;啥是佩奇&lt;/Text&gt;&#13;&#10;          &lt;Text style={{ fontSize: 24, color: '#6B6B6B', marginTop: 8 }}&gt;名实分离的当代样本&lt;/Text&gt;&#13;&#10;        &lt;/Box&gt;&#13;&#10;      &lt;/Box&gt;&#13;&#10;      &lt;Text style={{ fontSize: 26, color: '#B4552D', marginTop: 24 }}&gt;判据：例子能指回书中一句定义，说得出「第几篇说的」&lt;/Text&gt;&#13;&#10;  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费孝通&lt;/Text&gt;&#13;&#10;    &lt;Text style={{ fontSize: 24, color: '#B4552D' }}&gt;10/19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2286000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读法四：找例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10896600" y="790575"/>
            <a:ext cx="685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管迁移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609600" y="2019300"/>
            <a:ext cx="5410200" cy="1143000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800100" y="2209800"/>
            <a:ext cx="50292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F3A34"/>
                </a:solidFill>
                <a:latin typeface="宋体"/>
                <a:ea typeface="宋体"/>
              </a:rPr>
              <a:t>六尺巷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800100" y="2609850"/>
            <a:ext cx="5029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不打官司的完整样本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6172200" y="2019300"/>
            <a:ext cx="5410200" cy="1143000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6362700" y="2209800"/>
            <a:ext cx="50292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F3A34"/>
                </a:solidFill>
                <a:latin typeface="宋体"/>
                <a:ea typeface="宋体"/>
              </a:rPr>
              <a:t>贾母择钗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6362700" y="2609850"/>
            <a:ext cx="5029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为什么选宝钗不选黛玉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609600" y="3314700"/>
            <a:ext cx="5410200" cy="1143000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800100" y="3505200"/>
            <a:ext cx="50292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F3A34"/>
                </a:solidFill>
                <a:latin typeface="宋体"/>
                <a:ea typeface="宋体"/>
              </a:rPr>
              <a:t>刘十九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800100" y="3905250"/>
            <a:ext cx="5029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称谓里的血缘排行</a:t>
            </a:r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6172200" y="3314700"/>
            <a:ext cx="5410200" cy="1143000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6362700" y="3505200"/>
            <a:ext cx="50292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F3A34"/>
                </a:solidFill>
                <a:latin typeface="宋体"/>
                <a:ea typeface="宋体"/>
              </a:rPr>
              <a:t>啥是佩奇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6362700" y="3905250"/>
            <a:ext cx="5029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名实分离的当代样本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609600" y="4686300"/>
            <a:ext cx="109728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B4552D"/>
                </a:solidFill>
                <a:latin typeface="宋体"/>
                <a:ea typeface="宋体"/>
              </a:rPr>
              <a:t>判据：例子能指回书中一句定义，说得出「第几篇说的」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209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费孝通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10/19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33" name="" descr="&lt;Slide style={{ background: '#F5F1E6', padding: '40px 64px', fontFamily: '宋体' }}&gt;&#13;&#10;  &lt;Box style={{ flexDirection: 'row', justifyContent: 'space-between', alignItems: 'flex-end', height: 72, position: 'relative', zIndex: 5 }}&gt;&#13;&#10;    &lt;Text style={{ fontSize: 40, fontWeight: 'bold', color: '#1F3A34', lineHeight: 1.15 }}&gt;四种读法，各问什么&lt;/Text&gt;&#13;&#10;    &lt;Text style={{ fontSize: 24, color: '#6B6B6B' }}&gt;小结对照&lt;/Text&gt;&#13;&#10;  &lt;/Box&gt;&#13;&#10;  &lt;Box style={{ height: 472, marginTop: 20, flexDirection: 'column', position: 'relative', zIndex: 5 }}&gt;&#13;&#10;    &lt;Box style={{ height: 472, flexDirection: 'column', justifyContent: 'center' }}&gt;&#13;&#10;      &lt;Box style={{ flexDirection: 'row', height: 72, alignItems: 'center', borderBottom: '2px solid #B4552D' }}&gt;&#13;&#10;        &lt;Text style={{ width: 180, fontSize: 26, fontWeight: 'bold', color: '#1F3A34' }}&gt;读法&lt;/Text&gt;&#13;&#10;        &lt;Text style={{ width: 180, fontSize: 26, fontWeight: 'bold', color: '#1F3A34' }}&gt;管什么&lt;/Text&gt;&#13;&#10;        &lt;Text style={{ flex: 1, fontSize: 26, fontWeight: 'bold', color: '#1F3A34' }}&gt;它在问&lt;/Text&gt;&#13;&#10;      &lt;/Box&gt;&#13;&#10;      &lt;Box style={{ flexDirection: 'row', height: 88, alignItems: 'center', borderBottom: '1px solid rgba(31,58,52,0.15)' }}&gt;&#13;&#10;        &lt;Text style={{ width: 180, fontSize: 28, color: '#1F3A34' }}&gt;接龙&lt;/Text&gt;&#13;&#10;        &lt;Text style={{ width: 180, fontSize: 28, color: '#6B6B6B' }}&gt;论证&lt;/Text&gt;&#13;&#10;        &lt;Text style={{ flex: 1, fontSize: 28, color: '#1F3A34' }}&gt;他怎么推的&lt;/Text&gt;&#13;&#10;      &lt;/Box&gt;&#13;&#10;      &lt;Box style={{ flexDirection: 'row', height: 88, alignItems: 'center', borderBottom: '1px solid rgba(31,58,52,0.15)' }}&gt;&#13;&#10;        &lt;Text style={{ width: 180, fontSize: 28, color: '#1F3A34' }}&gt;分维&lt;/Text&gt;&#13;&#10;        &lt;Text style={{ width: 180, fontSize: 28, color: '#6B6B6B' }}&gt;辨析&lt;/Text&gt;&#13;&#10;        &lt;Text style={{ flex: 1, fontSize: 28, color: '#1F3A34' }}&gt;差在哪&lt;/Text&gt;&#13;&#10;      &lt;/Box&gt;&#13;&#10;      &lt;Box style={{ flexDirection: 'row', height: 88, alignItems: 'center', borderBottom: '1px solid rgba(31,58,52,0.15)' }}&gt;&#13;&#10;        &lt;Text style={{ width: 180, fontSize: 28, color: '#1F3A34' }}&gt;画圈&lt;/Text&gt;&#13;&#10;        &lt;Text style={{ width: 180, fontSize: 28, color: '#6B6B6B' }}&gt;结构&lt;/Text&gt;&#13;&#10;        &lt;Text style={{ flex: 1, fontSize: 28, color: '#1F3A34' }}&gt;在哪一格&lt;/Text&gt;&#13;&#10;      &lt;/Box&gt;&#13;&#10;      &lt;Box style={{ flexDirection: 'row', height: 88, alignItems: 'center' }}&gt;&#13;&#10;        &lt;Text style={{ width: 180, fontSize: 28, color: '#1F3A34' }}&gt;找例&lt;/Text&gt;&#13;&#10;        &lt;Text style={{ width: 180, fontSize: 28, color: '#6B6B6B' }}&gt;迁移&lt;/Text&gt;&#13;&#10;        &lt;Text style={{ flex: 1, fontSize: 28, color: '#1F3A34' }}&gt;今天还成不成立&lt;/Text&gt;&#13;&#10;      &lt;/Box&gt;&#13;&#10;  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费孝通&lt;/Text&gt;&#13;&#10;    &lt;Text style={{ fontSize: 24, color: '#B4552D' }}&gt;11/19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3429000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四种读法，各问什么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10668000" y="790575"/>
            <a:ext cx="914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小结对照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609600" y="1485900"/>
            <a:ext cx="10972800" cy="685800"/>
          </a:xfrm>
          <a:custGeom>
            <a:pathLst>
              <a:path w="1152" h="72">
                <a:moveTo>
                  <a:pt x="0" y="70"/>
                </a:moveTo>
                <a:lnTo>
                  <a:pt x="1152" y="70"/>
                </a:lnTo>
                <a:lnTo>
                  <a:pt x="1152" y="72"/>
                </a:lnTo>
                <a:lnTo>
                  <a:pt x="0" y="72"/>
                </a:lnTo>
                <a:close/>
              </a:path>
            </a:pathLst>
          </a:custGeom>
          <a:solidFill>
            <a:srgbClr val="B4552D"/>
          </a:solidFill>
          <a:ln/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609600" y="1666875"/>
            <a:ext cx="17145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F3A34"/>
                </a:solidFill>
                <a:latin typeface="宋体"/>
                <a:ea typeface="宋体"/>
              </a:rPr>
              <a:t>读法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2324100" y="1666875"/>
            <a:ext cx="17145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F3A34"/>
                </a:solidFill>
                <a:latin typeface="宋体"/>
                <a:ea typeface="宋体"/>
              </a:rPr>
              <a:t>管什么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4038600" y="1666875"/>
            <a:ext cx="75438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F3A34"/>
                </a:solidFill>
                <a:latin typeface="宋体"/>
                <a:ea typeface="宋体"/>
              </a:rPr>
              <a:t>它在问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609600" y="2171700"/>
            <a:ext cx="10972800" cy="838200"/>
          </a:xfrm>
          <a:custGeom>
            <a:pathLst>
              <a:path w="1152" h="88">
                <a:moveTo>
                  <a:pt x="0" y="87"/>
                </a:moveTo>
                <a:lnTo>
                  <a:pt x="1152" y="87"/>
                </a:lnTo>
                <a:lnTo>
                  <a:pt x="1152" y="88"/>
                </a:lnTo>
                <a:lnTo>
                  <a:pt x="0" y="88"/>
                </a:lnTo>
                <a:close/>
              </a:path>
            </a:pathLst>
          </a:custGeom>
          <a:solidFill>
            <a:srgbClr val="1F3A34">
              <a:alpha val="15000"/>
            </a:srgbClr>
          </a:solidFill>
          <a:ln/>
        </p:spPr>
        <p:txBody>
          <a:bodyPr/>
          <a:p/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609600" y="2428875"/>
            <a:ext cx="17145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接龙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2324100" y="2428875"/>
            <a:ext cx="17145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>
                <a:solidFill>
                  <a:srgbClr val="6B6B6B"/>
                </a:solidFill>
                <a:latin typeface="宋体"/>
                <a:ea typeface="宋体"/>
              </a:rPr>
              <a:t>论证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4038600" y="2428875"/>
            <a:ext cx="75438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他怎么推的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609600" y="3009900"/>
            <a:ext cx="10972800" cy="838200"/>
          </a:xfrm>
          <a:custGeom>
            <a:pathLst>
              <a:path w="1152" h="88">
                <a:moveTo>
                  <a:pt x="0" y="87"/>
                </a:moveTo>
                <a:lnTo>
                  <a:pt x="1152" y="87"/>
                </a:lnTo>
                <a:lnTo>
                  <a:pt x="1152" y="88"/>
                </a:lnTo>
                <a:lnTo>
                  <a:pt x="0" y="88"/>
                </a:lnTo>
                <a:close/>
              </a:path>
            </a:pathLst>
          </a:custGeom>
          <a:solidFill>
            <a:srgbClr val="1F3A34">
              <a:alpha val="15000"/>
            </a:srgbClr>
          </a:solidFill>
          <a:ln/>
        </p:spPr>
        <p:txBody>
          <a:bodyPr/>
          <a:p/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609600" y="3267075"/>
            <a:ext cx="17145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分维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2324100" y="3267075"/>
            <a:ext cx="17145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>
                <a:solidFill>
                  <a:srgbClr val="6B6B6B"/>
                </a:solidFill>
                <a:latin typeface="宋体"/>
                <a:ea typeface="宋体"/>
              </a:rPr>
              <a:t>辨析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4038600" y="3267075"/>
            <a:ext cx="75438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差在哪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609600" y="3848100"/>
            <a:ext cx="10972800" cy="838200"/>
          </a:xfrm>
          <a:custGeom>
            <a:pathLst>
              <a:path w="1152" h="88">
                <a:moveTo>
                  <a:pt x="0" y="87"/>
                </a:moveTo>
                <a:lnTo>
                  <a:pt x="1152" y="87"/>
                </a:lnTo>
                <a:lnTo>
                  <a:pt x="1152" y="88"/>
                </a:lnTo>
                <a:lnTo>
                  <a:pt x="0" y="88"/>
                </a:lnTo>
                <a:close/>
              </a:path>
            </a:pathLst>
          </a:custGeom>
          <a:solidFill>
            <a:srgbClr val="1F3A34">
              <a:alpha val="15000"/>
            </a:srgbClr>
          </a:solidFill>
          <a:ln/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609600" y="4105275"/>
            <a:ext cx="17145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画圈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2324100" y="4105275"/>
            <a:ext cx="17145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>
                <a:solidFill>
                  <a:srgbClr val="6B6B6B"/>
                </a:solidFill>
                <a:latin typeface="宋体"/>
                <a:ea typeface="宋体"/>
              </a:rPr>
              <a:t>结构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4038600" y="4105275"/>
            <a:ext cx="75438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在哪一格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609600" y="4943475"/>
            <a:ext cx="17145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找例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2324100" y="4943475"/>
            <a:ext cx="17145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>
                <a:solidFill>
                  <a:srgbClr val="6B6B6B"/>
                </a:solidFill>
                <a:latin typeface="宋体"/>
                <a:ea typeface="宋体"/>
              </a:rPr>
              <a:t>迁移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4038600" y="4943475"/>
            <a:ext cx="75438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今天还成不成立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209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费孝通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11/19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59" name="" descr="&lt;Slide style={{ background: '#F5F1E6', padding: '40px 64px', fontFamily: '宋体' }}&gt;&#13;&#10;  &lt;Image src=&quot;assets/bg_fields.jpg&quot; style={{ position: 'absolute', top: 0, left: 0, width: 1280, height: 720, objectFit: 'cover' }} /&gt;&#13;&#10;  &lt;Box style={{ height: 640, flexDirection: 'column', justifyContent: 'center', alignItems: 'flex-end', position: 'relative', zIndex: 5 }}&gt;&#13;&#10;    &lt;Box style={{ flexDirection: 'column', alignItems: 'flex-end', background: 'rgba(245,241,230,0.82)', padding: '32px 28px' }}&gt;&#13;&#10;      &lt;Text style={{ fontSize: 26, color: '#B4552D', letterSpacing: 4 }}&gt;环 节 二&lt;/Text&gt;&#13;&#10;      &lt;Text style={{ fontSize: 64, fontWeight: 'bold', color: '#1F3A34', marginTop: 12 }}&gt;分派十四篇&lt;/Text&gt;&#13;&#10;      &lt;Text style={{ fontSize: 30, color: '#1F3A34', marginTop: 20 }}&gt;哪一篇配哪一种，凭什么&lt;/Text&gt;&#13;&#10;    &lt;/Box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pic>
        <p:nvPicPr>
          <p:cNvPr id="61" name=""/>
          <p:cNvPicPr>
            <a:picLocks noChangeAspect="1"/>
          </p:cNvPicPr>
          <p:nvPr/>
        </p:nvPicPr>
        <p:blipFill>
          <a:blip r:embed="rId1"/>
          <a:srcRect l="0" t="5808" r="0" b="5808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62" name=""/>
          <p:cNvSpPr/>
          <p:nvPr/>
        </p:nvSpPr>
        <p:spPr>
          <a:xfrm rot="0" flipH="0" flipV="0">
            <a:off x="7905750" y="2286000"/>
            <a:ext cx="3676650" cy="2295525"/>
          </a:xfrm>
          <a:prstGeom prst="rect">
            <a:avLst/>
          </a:prstGeom>
          <a:solidFill>
            <a:srgbClr val="F5F1E6">
              <a:alpha val="82000"/>
            </a:srgbClr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10220325" y="2590800"/>
            <a:ext cx="10953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spc="300">
                <a:solidFill>
                  <a:srgbClr val="B4552D"/>
                </a:solidFill>
                <a:latin typeface="宋体"/>
                <a:ea typeface="宋体"/>
              </a:rPr>
              <a:t>环</a:t>
            </a:r>
            <a:r>
              <a:rPr lang="en-US" sz="1950" spc="300">
                <a:solidFill>
                  <a:srgbClr val="B4552D"/>
                </a:solidFill>
                <a:latin typeface="宋体"/>
                <a:ea typeface="宋体"/>
              </a:rPr>
              <a:t xml:space="preserve"> </a:t>
            </a:r>
            <a:r>
              <a:rPr lang="zh-CN" sz="1950" spc="300">
                <a:solidFill>
                  <a:srgbClr val="B4552D"/>
                </a:solidFill>
                <a:latin typeface="宋体"/>
                <a:ea typeface="宋体"/>
              </a:rPr>
              <a:t>节</a:t>
            </a:r>
            <a:r>
              <a:rPr lang="en-US" sz="1950" spc="300">
                <a:solidFill>
                  <a:srgbClr val="B4552D"/>
                </a:solidFill>
                <a:latin typeface="宋体"/>
                <a:ea typeface="宋体"/>
              </a:rPr>
              <a:t xml:space="preserve"> </a:t>
            </a:r>
            <a:r>
              <a:rPr lang="zh-CN" sz="1950" spc="300">
                <a:solidFill>
                  <a:srgbClr val="B4552D"/>
                </a:solidFill>
                <a:latin typeface="宋体"/>
                <a:ea typeface="宋体"/>
              </a:rPr>
              <a:t>二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8267700" y="3009900"/>
            <a:ext cx="304800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800" b="1">
                <a:solidFill>
                  <a:srgbClr val="1F3A34"/>
                </a:solidFill>
                <a:latin typeface="宋体"/>
                <a:ea typeface="宋体"/>
              </a:rPr>
              <a:t>分派十四篇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8172450" y="3933825"/>
            <a:ext cx="31432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>
                <a:solidFill>
                  <a:srgbClr val="1F3A34"/>
                </a:solidFill>
                <a:latin typeface="宋体"/>
                <a:ea typeface="宋体"/>
              </a:rPr>
              <a:t>哪一篇配哪一种，凭什么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66" name="" descr="&lt;Slide style={{ background: '#F5F1E6', padding: '40px 64px', fontFamily: '宋体' }}&gt;&#13;&#10;  &lt;Box style={{ flexDirection: 'row', justifyContent: 'space-between', alignItems: 'flex-end', height: 72, position: 'relative', zIndex: 5 }}&gt;&#13;&#10;    &lt;Text style={{ fontSize: 40, fontWeight: 'bold', color: '#1F3A34', lineHeight: 1.15 }}&gt;任务二：给十四篇配读法&lt;/Text&gt;&#13;&#10;    &lt;Text style={{ fontSize: 24, color: '#6B6B6B' }}&gt;小组 4 分钟&lt;/Text&gt;&#13;&#10;  &lt;/Box&gt;&#13;&#10;  &lt;Box style={{ height: 472, marginTop: 20, flexDirection: 'column', position: 'relative', zIndex: 5 }}&gt;&#13;&#10;    &lt;Box style={{ height: 472, flexDirection: 'column', justifyContent: 'center' }}&gt;&#13;&#10;      &lt;Text style={{ fontSize: 30, color: '#1F3A34', lineHeight: 2 }}&gt;一、每组认领一个板块&lt;/Text&gt;&#13;&#10;      &lt;Text style={{ fontSize: 30, color: '#1F3A34', lineHeight: 2 }}&gt;二、判断本板块每一篇配哪种读法&lt;/Text&gt;&#13;&#10;      &lt;Text style={{ fontSize: 30, color: '#1F3A34', lineHeight: 2 }}&gt;三、理由要指出这篇的论证长什么样&lt;/Text&gt;&#13;&#10;      &lt;Box style={{ marginTop: 28, borderLeft: '4px solid #B4552D', paddingLeft: 24 }}&gt;&#13;&#10;        &lt;Text style={{ fontSize: 28, color: '#1F3A34', lineHeight: 1.9 }}&gt;写「内容多」「比较好读」的不算&lt;/Text&gt;&#13;&#10;        &lt;Text style={{ fontSize: 28, color: '#B4552D', lineHeight: 1.9, marginTop: 8 }}&gt;觉得我配错了，现在提，指得出论证形态我就改&lt;/Text&gt;&#13;&#10;      &lt;/Box&gt;&#13;&#10;  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费孝通&lt;/Text&gt;&#13;&#10;    &lt;Text style={{ fontSize: 24, color: '#B4552D' }}&gt;13/19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4191000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任务二：给十四篇配读法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10391775" y="790575"/>
            <a:ext cx="11906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小组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4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分钟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609600" y="1695450"/>
            <a:ext cx="10972800" cy="685800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2250">
                <a:solidFill>
                  <a:srgbClr val="1F3A34"/>
                </a:solidFill>
                <a:latin typeface="宋体"/>
                <a:ea typeface="宋体"/>
              </a:rPr>
              <a:t>一、每组认领一个板块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609600" y="2381250"/>
            <a:ext cx="10972800" cy="685800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2250">
                <a:solidFill>
                  <a:srgbClr val="1F3A34"/>
                </a:solidFill>
                <a:latin typeface="宋体"/>
                <a:ea typeface="宋体"/>
              </a:rPr>
              <a:t>二、判断本板块每一篇配哪种读法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609600" y="3067050"/>
            <a:ext cx="10972800" cy="685800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2250">
                <a:solidFill>
                  <a:srgbClr val="1F3A34"/>
                </a:solidFill>
                <a:latin typeface="宋体"/>
                <a:ea typeface="宋体"/>
              </a:rPr>
              <a:t>三、理由要指出这篇的论证长什么样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609600" y="4019550"/>
            <a:ext cx="11010900" cy="1295400"/>
          </a:xfrm>
          <a:custGeom>
            <a:pathLst>
              <a:path w="1156" h="136">
                <a:moveTo>
                  <a:pt x="0" y="0"/>
                </a:moveTo>
                <a:lnTo>
                  <a:pt x="4" y="0"/>
                </a:lnTo>
                <a:lnTo>
                  <a:pt x="4" y="136"/>
                </a:lnTo>
                <a:lnTo>
                  <a:pt x="0" y="136"/>
                </a:lnTo>
                <a:close/>
              </a:path>
            </a:pathLst>
          </a:custGeom>
          <a:solidFill>
            <a:srgbClr val="B4552D"/>
          </a:soli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876300" y="4019550"/>
            <a:ext cx="10706100" cy="60960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写「内容多」「比较好读」的不算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876300" y="4705350"/>
            <a:ext cx="10706100" cy="60960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2100">
                <a:solidFill>
                  <a:srgbClr val="B4552D"/>
                </a:solidFill>
                <a:latin typeface="宋体"/>
                <a:ea typeface="宋体"/>
              </a:rPr>
              <a:t>觉得我配错了，现在提，指得出论证形态我就改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209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费孝通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13/19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79" name="" descr="&lt;Slide style={{ background: '#F5F1E6', padding: '40px 64px', fontFamily: '宋体' }}&gt;&#13;&#10;  &lt;Box style={{ flexDirection: 'row', justifyContent: 'space-between', alignItems: 'flex-end', height: 72, position: 'relative', zIndex: 5 }}&gt;&#13;&#10;    &lt;Text style={{ fontSize: 40, fontWeight: 'bold', color: '#1F3A34', lineHeight: 1.15 }}&gt;分派表&lt;/Text&gt;&#13;&#10;    &lt;Text style={{ fontSize: 24, color: '#6B6B6B' }}&gt;教师判断 · 可反驳&lt;/Text&gt;&#13;&#10;  &lt;/Box&gt;&#13;&#10;  &lt;Box style={{ height: 472, marginTop: 20, flexDirection: 'column', position: 'relative', zIndex: 5 }}&gt;&#13;&#10;    &lt;Box style={{ height: 472, flexDirection: 'column', justifyContent: 'center' }}&gt;&#13;&#10;      &lt;Box style={{ flexDirection: 'row', height: 60, alignItems: 'center', borderBottom: '2px solid #B4552D' }}&gt;&#13;&#10;        &lt;Text style={{ width: 260, fontSize: 26, fontWeight: 'bold', color: '#1F3A34' }}&gt;板块&lt;/Text&gt;&#13;&#10;        &lt;Text style={{ flex: 1, fontSize: 26, fontWeight: 'bold', color: '#1F3A34' }}&gt;篇目 · 读法&lt;/Text&gt;&#13;&#10;      &lt;/Box&gt;&#13;&#10;      &lt;Box style={{ flexDirection: 'row', height: 82, alignItems: 'center', borderBottom: '1px solid rgba(31,58,52,0.15)' }}&gt;&#13;&#10;        &lt;Text style={{ width: 260, fontSize: 26, color: '#1F3A34' }}&gt;一 乡土性&lt;/Text&gt;&#13;&#10;        &lt;Text style={{ flex: 1, fontSize: 26, color: '#1F3A34' }}&gt;1 接龙 · 2 分维 · 3 分维&lt;/Text&gt;&#13;&#10;      &lt;/Box&gt;&#13;&#10;      &lt;Box style={{ flexDirection: 'row', height: 82, alignItems: 'center', borderBottom: '1px solid rgba(31,58,52,0.15)' }}&gt;&#13;&#10;        &lt;Text style={{ width: 260, fontSize: 26, color: '#1F3A34' }}&gt;二 格局与道德&lt;/Text&gt;&#13;&#10;        &lt;Text style={{ flex: 1, fontSize: 26, color: '#1F3A34' }}&gt;4 画圈 · 5 分维 · 6 分维 · 7 接龙&lt;/Text&gt;&#13;&#10;      &lt;/Box&gt;&#13;&#10;      &lt;Box style={{ flexDirection: 'row', height: 82, alignItems: 'center', borderBottom: '1px solid rgba(31,58,52,0.15)' }}&gt;&#13;&#10;        &lt;Text style={{ width: 260, fontSize: 26, color: '#1F3A34' }}&gt;三 礼治&lt;/Text&gt;&#13;&#10;        &lt;Text style={{ flex: 1, fontSize: 26, color: '#1F3A34' }}&gt;8 分维 · 9 找例&lt;/Text&gt;&#13;&#10;      &lt;/Box&gt;&#13;&#10;      &lt;Box style={{ flexDirection: 'row', height: 82, alignItems: 'center' }}&gt;&#13;&#10;        &lt;Text style={{ width: 260, fontSize: 26, color: '#1F3A34' }}&gt;四 权力&lt;/Text&gt;&#13;&#10;        &lt;Text style={{ flex: 1, fontSize: 26, color: '#1F3A34' }}&gt;10 接龙 · 11 接龙 · 12 分维 · 13 找例 · 14 找例&lt;/Text&gt;&#13;&#10;      &lt;/Box&gt;&#13;&#10;  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费孝通&lt;/Text&gt;&#13;&#10;    &lt;Text style={{ fontSize: 24, color: '#B4552D' }}&gt;14/19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1143000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分派表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9753600" y="790575"/>
            <a:ext cx="1828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教师判断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·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可反驳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609600" y="1657350"/>
            <a:ext cx="10972800" cy="571500"/>
          </a:xfrm>
          <a:custGeom>
            <a:pathLst>
              <a:path w="1152" h="60">
                <a:moveTo>
                  <a:pt x="0" y="58"/>
                </a:moveTo>
                <a:lnTo>
                  <a:pt x="1152" y="58"/>
                </a:lnTo>
                <a:lnTo>
                  <a:pt x="1152" y="60"/>
                </a:lnTo>
                <a:lnTo>
                  <a:pt x="0" y="60"/>
                </a:lnTo>
                <a:close/>
              </a:path>
            </a:pathLst>
          </a:custGeom>
          <a:solidFill>
            <a:srgbClr val="B4552D"/>
          </a:solidFill>
          <a:ln/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609600" y="1781175"/>
            <a:ext cx="24765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F3A34"/>
                </a:solidFill>
                <a:latin typeface="宋体"/>
                <a:ea typeface="宋体"/>
              </a:rPr>
              <a:t>板块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3086100" y="1781175"/>
            <a:ext cx="84963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F3A34"/>
                </a:solidFill>
                <a:latin typeface="宋体"/>
                <a:ea typeface="宋体"/>
              </a:rPr>
              <a:t>篇目</a:t>
            </a:r>
            <a:r>
              <a:rPr lang="en-US" sz="1950" b="1">
                <a:solidFill>
                  <a:srgbClr val="1F3A34"/>
                </a:solidFill>
                <a:latin typeface="宋体"/>
                <a:ea typeface="宋体"/>
              </a:rPr>
              <a:t xml:space="preserve"> · </a:t>
            </a:r>
            <a:r>
              <a:rPr lang="zh-CN" sz="1950" b="1">
                <a:solidFill>
                  <a:srgbClr val="1F3A34"/>
                </a:solidFill>
                <a:latin typeface="宋体"/>
                <a:ea typeface="宋体"/>
              </a:rPr>
              <a:t>读法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609600" y="2228850"/>
            <a:ext cx="10972800" cy="781050"/>
          </a:xfrm>
          <a:custGeom>
            <a:pathLst>
              <a:path w="1152" h="82">
                <a:moveTo>
                  <a:pt x="0" y="81"/>
                </a:moveTo>
                <a:lnTo>
                  <a:pt x="1152" y="81"/>
                </a:lnTo>
                <a:lnTo>
                  <a:pt x="1152" y="82"/>
                </a:lnTo>
                <a:lnTo>
                  <a:pt x="0" y="82"/>
                </a:lnTo>
                <a:close/>
              </a:path>
            </a:pathLst>
          </a:custGeom>
          <a:solidFill>
            <a:srgbClr val="1F3A34">
              <a:alpha val="15000"/>
            </a:srgbClr>
          </a:solidFill>
          <a:ln/>
        </p:spPr>
        <p:txBody>
          <a:bodyPr/>
          <a:p/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609600" y="2466975"/>
            <a:ext cx="24765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一</a:t>
            </a:r>
            <a:r>
              <a:rPr lang="en-US" sz="1950">
                <a:solidFill>
                  <a:srgbClr val="1F3A34"/>
                </a:solidFill>
                <a:latin typeface="宋体"/>
                <a:ea typeface="宋体"/>
              </a:rPr>
              <a:t xml:space="preserve"> </a:t>
            </a: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乡土性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3086100" y="2466975"/>
            <a:ext cx="84963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>
                <a:solidFill>
                  <a:srgbClr val="1F3A34"/>
                </a:solidFill>
                <a:latin typeface="宋体"/>
                <a:ea typeface="宋体"/>
              </a:rPr>
              <a:t xml:space="preserve">1 </a:t>
            </a: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接龙</a:t>
            </a:r>
            <a:r>
              <a:rPr lang="en-US" sz="1950">
                <a:solidFill>
                  <a:srgbClr val="1F3A34"/>
                </a:solidFill>
                <a:latin typeface="宋体"/>
                <a:ea typeface="宋体"/>
              </a:rPr>
              <a:t xml:space="preserve"> · 2 </a:t>
            </a: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分维</a:t>
            </a:r>
            <a:r>
              <a:rPr lang="en-US" sz="1950">
                <a:solidFill>
                  <a:srgbClr val="1F3A34"/>
                </a:solidFill>
                <a:latin typeface="宋体"/>
                <a:ea typeface="宋体"/>
              </a:rPr>
              <a:t xml:space="preserve"> · 3 </a:t>
            </a: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分维</a:t>
            </a:r>
            <a:endParaRPr/>
          </a:p>
        </p:txBody>
      </p:sp>
      <p:sp>
        <p:nvSpPr>
          <p:cNvPr id="89" name=""/>
          <p:cNvSpPr/>
          <p:nvPr/>
        </p:nvSpPr>
        <p:spPr>
          <a:xfrm rot="0" flipH="0" flipV="0">
            <a:off x="609600" y="3009900"/>
            <a:ext cx="10972800" cy="781050"/>
          </a:xfrm>
          <a:custGeom>
            <a:pathLst>
              <a:path w="1152" h="82">
                <a:moveTo>
                  <a:pt x="0" y="81"/>
                </a:moveTo>
                <a:lnTo>
                  <a:pt x="1152" y="81"/>
                </a:lnTo>
                <a:lnTo>
                  <a:pt x="1152" y="82"/>
                </a:lnTo>
                <a:lnTo>
                  <a:pt x="0" y="82"/>
                </a:lnTo>
                <a:close/>
              </a:path>
            </a:pathLst>
          </a:custGeom>
          <a:solidFill>
            <a:srgbClr val="1F3A34">
              <a:alpha val="15000"/>
            </a:srgbClr>
          </a:solidFill>
          <a:ln/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609600" y="3248025"/>
            <a:ext cx="24765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二</a:t>
            </a:r>
            <a:r>
              <a:rPr lang="en-US" sz="1950">
                <a:solidFill>
                  <a:srgbClr val="1F3A34"/>
                </a:solidFill>
                <a:latin typeface="宋体"/>
                <a:ea typeface="宋体"/>
              </a:rPr>
              <a:t xml:space="preserve"> </a:t>
            </a: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格局与道德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3086100" y="3248025"/>
            <a:ext cx="84963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>
                <a:solidFill>
                  <a:srgbClr val="1F3A34"/>
                </a:solidFill>
                <a:latin typeface="宋体"/>
                <a:ea typeface="宋体"/>
              </a:rPr>
              <a:t xml:space="preserve">4 </a:t>
            </a: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画圈</a:t>
            </a:r>
            <a:r>
              <a:rPr lang="en-US" sz="1950">
                <a:solidFill>
                  <a:srgbClr val="1F3A34"/>
                </a:solidFill>
                <a:latin typeface="宋体"/>
                <a:ea typeface="宋体"/>
              </a:rPr>
              <a:t xml:space="preserve"> · 5 </a:t>
            </a: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分维</a:t>
            </a:r>
            <a:r>
              <a:rPr lang="en-US" sz="1950">
                <a:solidFill>
                  <a:srgbClr val="1F3A34"/>
                </a:solidFill>
                <a:latin typeface="宋体"/>
                <a:ea typeface="宋体"/>
              </a:rPr>
              <a:t xml:space="preserve"> · 6 </a:t>
            </a: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分维</a:t>
            </a:r>
            <a:r>
              <a:rPr lang="en-US" sz="1950">
                <a:solidFill>
                  <a:srgbClr val="1F3A34"/>
                </a:solidFill>
                <a:latin typeface="宋体"/>
                <a:ea typeface="宋体"/>
              </a:rPr>
              <a:t xml:space="preserve"> · 7 </a:t>
            </a: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接龙</a:t>
            </a:r>
            <a:endParaRPr/>
          </a:p>
        </p:txBody>
      </p:sp>
      <p:sp>
        <p:nvSpPr>
          <p:cNvPr id="92" name=""/>
          <p:cNvSpPr/>
          <p:nvPr/>
        </p:nvSpPr>
        <p:spPr>
          <a:xfrm rot="0" flipH="0" flipV="0">
            <a:off x="609600" y="3790950"/>
            <a:ext cx="10972800" cy="781050"/>
          </a:xfrm>
          <a:custGeom>
            <a:pathLst>
              <a:path w="1152" h="82">
                <a:moveTo>
                  <a:pt x="0" y="81"/>
                </a:moveTo>
                <a:lnTo>
                  <a:pt x="1152" y="81"/>
                </a:lnTo>
                <a:lnTo>
                  <a:pt x="1152" y="82"/>
                </a:lnTo>
                <a:lnTo>
                  <a:pt x="0" y="82"/>
                </a:lnTo>
                <a:close/>
              </a:path>
            </a:pathLst>
          </a:custGeom>
          <a:solidFill>
            <a:srgbClr val="1F3A34">
              <a:alpha val="15000"/>
            </a:srgbClr>
          </a:solidFill>
          <a:ln/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609600" y="4029075"/>
            <a:ext cx="24765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三</a:t>
            </a:r>
            <a:r>
              <a:rPr lang="en-US" sz="1950">
                <a:solidFill>
                  <a:srgbClr val="1F3A34"/>
                </a:solidFill>
                <a:latin typeface="宋体"/>
                <a:ea typeface="宋体"/>
              </a:rPr>
              <a:t xml:space="preserve"> </a:t>
            </a: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礼治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3086100" y="4029075"/>
            <a:ext cx="84963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>
                <a:solidFill>
                  <a:srgbClr val="1F3A34"/>
                </a:solidFill>
                <a:latin typeface="宋体"/>
                <a:ea typeface="宋体"/>
              </a:rPr>
              <a:t xml:space="preserve">8 </a:t>
            </a: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分维</a:t>
            </a:r>
            <a:r>
              <a:rPr lang="en-US" sz="1950">
                <a:solidFill>
                  <a:srgbClr val="1F3A34"/>
                </a:solidFill>
                <a:latin typeface="宋体"/>
                <a:ea typeface="宋体"/>
              </a:rPr>
              <a:t xml:space="preserve"> · 9 </a:t>
            </a: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找例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609600" y="4810125"/>
            <a:ext cx="24765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四</a:t>
            </a:r>
            <a:r>
              <a:rPr lang="en-US" sz="1950">
                <a:solidFill>
                  <a:srgbClr val="1F3A34"/>
                </a:solidFill>
                <a:latin typeface="宋体"/>
                <a:ea typeface="宋体"/>
              </a:rPr>
              <a:t xml:space="preserve"> </a:t>
            </a: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权力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3086100" y="4810125"/>
            <a:ext cx="84963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>
                <a:solidFill>
                  <a:srgbClr val="1F3A34"/>
                </a:solidFill>
                <a:latin typeface="宋体"/>
                <a:ea typeface="宋体"/>
              </a:rPr>
              <a:t xml:space="preserve">10 </a:t>
            </a: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接龙</a:t>
            </a:r>
            <a:r>
              <a:rPr lang="en-US" sz="1950">
                <a:solidFill>
                  <a:srgbClr val="1F3A34"/>
                </a:solidFill>
                <a:latin typeface="宋体"/>
                <a:ea typeface="宋体"/>
              </a:rPr>
              <a:t xml:space="preserve"> · 11 </a:t>
            </a: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接龙</a:t>
            </a:r>
            <a:r>
              <a:rPr lang="en-US" sz="1950">
                <a:solidFill>
                  <a:srgbClr val="1F3A34"/>
                </a:solidFill>
                <a:latin typeface="宋体"/>
                <a:ea typeface="宋体"/>
              </a:rPr>
              <a:t xml:space="preserve"> · 12 </a:t>
            </a: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分维</a:t>
            </a:r>
            <a:r>
              <a:rPr lang="en-US" sz="1950">
                <a:solidFill>
                  <a:srgbClr val="1F3A34"/>
                </a:solidFill>
                <a:latin typeface="宋体"/>
                <a:ea typeface="宋体"/>
              </a:rPr>
              <a:t xml:space="preserve"> · 13 </a:t>
            </a: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找例</a:t>
            </a:r>
            <a:r>
              <a:rPr lang="en-US" sz="1950">
                <a:solidFill>
                  <a:srgbClr val="1F3A34"/>
                </a:solidFill>
                <a:latin typeface="宋体"/>
                <a:ea typeface="宋体"/>
              </a:rPr>
              <a:t xml:space="preserve"> · 14 </a:t>
            </a: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找例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209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费孝通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14/19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00" name="" descr="&lt;Slide style={{ background: '#F5F1E6', padding: '40px 64px', fontFamily: '宋体' }}&gt;&#13;&#10;  &lt;Box style={{ flexDirection: 'row', justifyContent: 'space-between', alignItems: 'flex-end', height: 72, position: 'relative', zIndex: 5 }}&gt;&#13;&#10;    &lt;Text style={{ fontSize: 40, fontWeight: 'bold', color: '#1F3A34', lineHeight: 1.15 }}&gt;环节三：定下计划&lt;/Text&gt;&#13;&#10;    &lt;Text style={{ fontSize: 24, color: '#6B6B6B' }}&gt;最后 4 分钟&lt;/Text&gt;&#13;&#10;  &lt;/Box&gt;&#13;&#10;  &lt;Box style={{ height: 472, marginTop: 20, flexDirection: 'column', position: 'relative', zIndex: 5 }}&gt;&#13;&#10;    &lt;Box style={{ height: 472, flexDirection: 'column', justifyContent: 'center' }}&gt;&#13;&#10;      &lt;Text style={{ fontSize: 32, color: '#1F3A34', lineHeight: 2.1 }}&gt;读法有了，还得有人真去读。&lt;/Text&gt;&#13;&#10;      &lt;Text style={{ fontSize: 32, color: '#1F3A34', lineHeight: 2.1 }}&gt;五周读完，本周读哪三篇，今天写下来。&lt;/Text&gt;&#13;&#10;      &lt;Text style={{ fontSize: 28, color: '#B4552D', marginTop: 28 }}&gt;课上只解决两件事：读不下去，读不明白&lt;/Text&gt;&#13;&#10;  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费孝通&lt;/Text&gt;&#13;&#10;    &lt;Text style={{ fontSize: 24, color: '#B4552D' }}&gt;15/19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3048000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环节三：定下计划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10391775" y="790575"/>
            <a:ext cx="11906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最后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4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分钟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609600" y="2438400"/>
            <a:ext cx="10972800" cy="771525"/>
          </a:xfrm>
          <a:prstGeom prst="rect"/>
        </p:spPr>
        <p:txBody>
          <a:bodyPr wrap="none" lIns="0" tIns="0" rIns="0" bIns="0"/>
          <a:p>
            <a:pPr>
              <a:lnSpc>
                <a:spcPct val="210000"/>
              </a:lnSpc>
            </a:pPr>
            <a:r>
              <a:rPr lang="zh-CN" sz="2400">
                <a:solidFill>
                  <a:srgbClr val="1F3A34"/>
                </a:solidFill>
                <a:latin typeface="宋体"/>
                <a:ea typeface="宋体"/>
              </a:rPr>
              <a:t>读法有了，还得有人真去读。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609600" y="3209925"/>
            <a:ext cx="10972800" cy="771525"/>
          </a:xfrm>
          <a:prstGeom prst="rect"/>
        </p:spPr>
        <p:txBody>
          <a:bodyPr wrap="none" lIns="0" tIns="0" rIns="0" bIns="0"/>
          <a:p>
            <a:pPr>
              <a:lnSpc>
                <a:spcPct val="210000"/>
              </a:lnSpc>
            </a:pPr>
            <a:r>
              <a:rPr lang="zh-CN" sz="2400">
                <a:solidFill>
                  <a:srgbClr val="1F3A34"/>
                </a:solidFill>
                <a:latin typeface="宋体"/>
                <a:ea typeface="宋体"/>
              </a:rPr>
              <a:t>五周读完，本周读哪三篇，今天写下来。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609600" y="4248150"/>
            <a:ext cx="109728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>
                <a:solidFill>
                  <a:srgbClr val="B4552D"/>
                </a:solidFill>
                <a:latin typeface="宋体"/>
                <a:ea typeface="宋体"/>
              </a:rPr>
              <a:t>课上只解决两件事：读不下去，读不明白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209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费孝通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15/19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10" name="" descr="&lt;Slide style={{ background: '#F5F1E6', padding: '40px 64px', fontFamily: '宋体' }}&gt;&#13;&#10;  &lt;Box style={{ flexDirection: 'row', justifyContent: 'space-between', alignItems: 'flex-end', height: 72, position: 'relative', zIndex: 5 }}&gt;&#13;&#10;    &lt;Text style={{ fontSize: 40, fontWeight: 'bold', color: '#1F3A34', lineHeight: 1.15 }}&gt;五周进度&lt;/Text&gt;&#13;&#10;    &lt;Text style={{ fontSize: 24, color: '#6B6B6B' }}&gt;写在学案上&lt;/Text&gt;&#13;&#10;  &lt;/Box&gt;&#13;&#10;  &lt;Box style={{ height: 472, marginTop: 20, flexDirection: 'column', position: 'relative', zIndex: 5 }}&gt;&#13;&#10;    &lt;Box style={{ height: 472, flexDirection: 'column', justifyContent: 'center' }}&gt;&#13;&#10;      &lt;Box style={{ flexDirection: 'row', height: 56, alignItems: 'center', borderBottom: '2px solid #B4552D' }}&gt;&#13;&#10;        &lt;Text style={{ width: 130, fontSize: 24, fontWeight: 'bold', color: '#1F3A34' }}&gt;周次&lt;/Text&gt;&#13;&#10;        &lt;Text style={{ flex: 1, fontSize: 24, fontWeight: 'bold', color: '#1F3A34' }}&gt;读哪几篇&lt;/Text&gt;&#13;&#10;        &lt;Text style={{ width: 220, fontSize: 24, fontWeight: 'bold', color: '#1F3A34' }}&gt;主用读法&lt;/Text&gt;&#13;&#10;      &lt;/Box&gt;&#13;&#10;      &lt;Box style={{ flexDirection: 'row', height: 76, alignItems: 'center', borderBottom: '1px solid rgba(31,58,52,0.15)' }}&gt;&#13;&#10;        &lt;Text style={{ width: 130, fontSize: 24, color: '#1F3A34' }}&gt;第 1 周&lt;/Text&gt;&#13;&#10;        &lt;Text style={{ flex: 1, fontSize: 24, color: '#1F3A34' }}&gt;1–3 篇 乡土本色 · 文字下乡&lt;/Text&gt;&#13;&#10;        &lt;Text style={{ width: 220, fontSize: 24, color: '#B4552D' }}&gt;接龙 ＋ 分维&lt;/Text&gt;&#13;&#10;      &lt;/Box&gt;&#13;&#10;      &lt;Box style={{ flexDirection: 'row', height: 76, alignItems: 'center', borderBottom: '1px solid rgba(31,58,52,0.15)' }}&gt;&#13;&#10;        &lt;Text style={{ width: 130, fontSize: 24, color: '#1F3A34' }}&gt;第 2 周&lt;/Text&gt;&#13;&#10;        &lt;Text style={{ flex: 1, fontSize: 24, color: '#1F3A34' }}&gt;4–7 篇 差序格局 · 家族&lt;/Text&gt;&#13;&#10;        &lt;Text style={{ width: 220, fontSize: 24, color: '#B4552D' }}&gt;画圈 ＋ 分维&lt;/Text&gt;&#13;&#10;      &lt;/Box&gt;&#13;&#10;      &lt;Box style={{ flexDirection: 'row', height: 76, alignItems: 'center', borderBottom: '1px solid rgba(31,58,52,0.15)' }}&gt;&#13;&#10;        &lt;Text style={{ width: 130, fontSize: 24, color: '#1F3A34' }}&gt;第 3 周&lt;/Text&gt;&#13;&#10;        &lt;Text style={{ flex: 1, fontSize: 24, color: '#1F3A34' }}&gt;8–9 篇 礼治秩序 · 无讼&lt;/Text&gt;&#13;&#10;        &lt;Text style={{ width: 220, fontSize: 24, color: '#B4552D' }}&gt;分维 ＋ 找例&lt;/Text&gt;&#13;&#10;      &lt;/Box&gt;&#13;&#10;      &lt;Box style={{ flexDirection: 'row', height: 76, alignItems: 'center', borderBottom: '1px solid rgba(31,58,52,0.15)' }}&gt;&#13;&#10;        &lt;Text style={{ width: 130, fontSize: 24, color: '#1F3A34' }}&gt;第 4 周&lt;/Text&gt;&#13;&#10;        &lt;Text style={{ flex: 1, fontSize: 24, color: '#1F3A34' }}&gt;10–14 篇 四种权力 · 变迁&lt;/Text&gt;&#13;&#10;        &lt;Text style={{ width: 220, fontSize: 24, color: '#B4552D' }}&gt;接龙 ＋ 找例&lt;/Text&gt;&#13;&#10;      &lt;/Box&gt;&#13;&#10;      &lt;Box style={{ flexDirection: 'row', height: 76, alignItems: 'center' }}&gt;&#13;&#10;        &lt;Text style={{ width: 130, fontSize: 24, color: '#1F3A34' }}&gt;第 5 周&lt;/Text&gt;&#13;&#10;        &lt;Text style={{ flex: 1, fontSize: 24, color: '#1F3A34' }}&gt;全书回看 · 读书报告&lt;/Text&gt;&#13;&#10;        &lt;Text style={{ width: 220, fontSize: 24, color: '#B4552D' }}&gt;四种合用&lt;/Text&gt;&#13;&#10;      &lt;/Box&gt;&#13;&#10;  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费孝通&lt;/Text&gt;&#13;&#10;    &lt;Text style={{ fontSize: 24, color: '#B4552D' }}&gt;16/19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1524000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五周进度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10439400" y="790575"/>
            <a:ext cx="1143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写在学案上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609600" y="1428750"/>
            <a:ext cx="10972800" cy="533400"/>
          </a:xfrm>
          <a:custGeom>
            <a:pathLst>
              <a:path w="1152" h="56">
                <a:moveTo>
                  <a:pt x="0" y="54"/>
                </a:moveTo>
                <a:lnTo>
                  <a:pt x="1152" y="54"/>
                </a:lnTo>
                <a:lnTo>
                  <a:pt x="1152" y="56"/>
                </a:lnTo>
                <a:lnTo>
                  <a:pt x="0" y="56"/>
                </a:lnTo>
                <a:close/>
              </a:path>
            </a:pathLst>
          </a:custGeom>
          <a:solidFill>
            <a:srgbClr val="B4552D"/>
          </a:solidFill>
          <a:ln/>
        </p:spPr>
        <p:txBody>
          <a:bodyPr/>
          <a:p/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609600" y="1552575"/>
            <a:ext cx="12382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F3A34"/>
                </a:solidFill>
                <a:latin typeface="宋体"/>
                <a:ea typeface="宋体"/>
              </a:rPr>
              <a:t>周次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1847850" y="1552575"/>
            <a:ext cx="76390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F3A34"/>
                </a:solidFill>
                <a:latin typeface="宋体"/>
                <a:ea typeface="宋体"/>
              </a:rPr>
              <a:t>读哪几篇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9486900" y="1552575"/>
            <a:ext cx="2095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F3A34"/>
                </a:solidFill>
                <a:latin typeface="宋体"/>
                <a:ea typeface="宋体"/>
              </a:rPr>
              <a:t>主用读法</a:t>
            </a:r>
            <a:endParaRPr/>
          </a:p>
        </p:txBody>
      </p:sp>
      <p:sp>
        <p:nvSpPr>
          <p:cNvPr id="118" name=""/>
          <p:cNvSpPr/>
          <p:nvPr/>
        </p:nvSpPr>
        <p:spPr>
          <a:xfrm rot="0" flipH="0" flipV="0">
            <a:off x="609600" y="1962150"/>
            <a:ext cx="10972800" cy="723900"/>
          </a:xfrm>
          <a:custGeom>
            <a:pathLst>
              <a:path w="1152" h="76">
                <a:moveTo>
                  <a:pt x="0" y="75"/>
                </a:moveTo>
                <a:lnTo>
                  <a:pt x="1152" y="75"/>
                </a:lnTo>
                <a:lnTo>
                  <a:pt x="1152" y="76"/>
                </a:lnTo>
                <a:lnTo>
                  <a:pt x="0" y="76"/>
                </a:lnTo>
                <a:close/>
              </a:path>
            </a:pathLst>
          </a:custGeom>
          <a:solidFill>
            <a:srgbClr val="1F3A34">
              <a:alpha val="15000"/>
            </a:srgbClr>
          </a:solidFill>
          <a:ln/>
        </p:spPr>
        <p:txBody>
          <a:bodyPr/>
          <a:p/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609600" y="2181225"/>
            <a:ext cx="12382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1F3A34"/>
                </a:solidFill>
                <a:latin typeface="宋体"/>
                <a:ea typeface="宋体"/>
              </a:rPr>
              <a:t>第</a:t>
            </a:r>
            <a:r>
              <a:rPr lang="en-US" sz="1800">
                <a:solidFill>
                  <a:srgbClr val="1F3A34"/>
                </a:solidFill>
                <a:latin typeface="宋体"/>
                <a:ea typeface="宋体"/>
              </a:rPr>
              <a:t xml:space="preserve"> 1 </a:t>
            </a:r>
            <a:r>
              <a:rPr lang="zh-CN" sz="1800">
                <a:solidFill>
                  <a:srgbClr val="1F3A34"/>
                </a:solidFill>
                <a:latin typeface="宋体"/>
                <a:ea typeface="宋体"/>
              </a:rPr>
              <a:t>周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1847850" y="2181225"/>
            <a:ext cx="76390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1F3A34"/>
                </a:solidFill>
                <a:latin typeface="宋体"/>
                <a:ea typeface="宋体"/>
              </a:rPr>
              <a:t xml:space="preserve">1–3 </a:t>
            </a:r>
            <a:r>
              <a:rPr lang="zh-CN" sz="1800">
                <a:solidFill>
                  <a:srgbClr val="1F3A34"/>
                </a:solidFill>
                <a:latin typeface="宋体"/>
                <a:ea typeface="宋体"/>
              </a:rPr>
              <a:t>篇</a:t>
            </a:r>
            <a:r>
              <a:rPr lang="en-US" sz="1800">
                <a:solidFill>
                  <a:srgbClr val="1F3A34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1F3A34"/>
                </a:solidFill>
                <a:latin typeface="宋体"/>
                <a:ea typeface="宋体"/>
              </a:rPr>
              <a:t>乡土本色</a:t>
            </a:r>
            <a:r>
              <a:rPr lang="en-US" sz="1800">
                <a:solidFill>
                  <a:srgbClr val="1F3A34"/>
                </a:solidFill>
                <a:latin typeface="宋体"/>
                <a:ea typeface="宋体"/>
              </a:rPr>
              <a:t xml:space="preserve"> · </a:t>
            </a:r>
            <a:r>
              <a:rPr lang="zh-CN" sz="1800">
                <a:solidFill>
                  <a:srgbClr val="1F3A34"/>
                </a:solidFill>
                <a:latin typeface="宋体"/>
                <a:ea typeface="宋体"/>
              </a:rPr>
              <a:t>文字下乡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9486900" y="2181225"/>
            <a:ext cx="2095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B4552D"/>
                </a:solidFill>
                <a:latin typeface="宋体"/>
                <a:ea typeface="宋体"/>
              </a:rPr>
              <a:t>接龙</a:t>
            </a: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B4552D"/>
                </a:solidFill>
                <a:latin typeface="宋体"/>
                <a:ea typeface="宋体"/>
              </a:rPr>
              <a:t>＋</a:t>
            </a: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B4552D"/>
                </a:solidFill>
                <a:latin typeface="宋体"/>
                <a:ea typeface="宋体"/>
              </a:rPr>
              <a:t>分维</a:t>
            </a:r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609600" y="2686050"/>
            <a:ext cx="10972800" cy="723900"/>
          </a:xfrm>
          <a:custGeom>
            <a:pathLst>
              <a:path w="1152" h="76">
                <a:moveTo>
                  <a:pt x="0" y="75"/>
                </a:moveTo>
                <a:lnTo>
                  <a:pt x="1152" y="75"/>
                </a:lnTo>
                <a:lnTo>
                  <a:pt x="1152" y="76"/>
                </a:lnTo>
                <a:lnTo>
                  <a:pt x="0" y="76"/>
                </a:lnTo>
                <a:close/>
              </a:path>
            </a:pathLst>
          </a:custGeom>
          <a:solidFill>
            <a:srgbClr val="1F3A34">
              <a:alpha val="15000"/>
            </a:srgbClr>
          </a:solidFill>
          <a:ln/>
        </p:spPr>
        <p:txBody>
          <a:bodyPr/>
          <a:p/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609600" y="2905125"/>
            <a:ext cx="12382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1F3A34"/>
                </a:solidFill>
                <a:latin typeface="宋体"/>
                <a:ea typeface="宋体"/>
              </a:rPr>
              <a:t>第</a:t>
            </a:r>
            <a:r>
              <a:rPr lang="en-US" sz="1800">
                <a:solidFill>
                  <a:srgbClr val="1F3A34"/>
                </a:solidFill>
                <a:latin typeface="宋体"/>
                <a:ea typeface="宋体"/>
              </a:rPr>
              <a:t xml:space="preserve"> 2 </a:t>
            </a:r>
            <a:r>
              <a:rPr lang="zh-CN" sz="1800">
                <a:solidFill>
                  <a:srgbClr val="1F3A34"/>
                </a:solidFill>
                <a:latin typeface="宋体"/>
                <a:ea typeface="宋体"/>
              </a:rPr>
              <a:t>周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1847850" y="2905125"/>
            <a:ext cx="76390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1F3A34"/>
                </a:solidFill>
                <a:latin typeface="宋体"/>
                <a:ea typeface="宋体"/>
              </a:rPr>
              <a:t xml:space="preserve">4–7 </a:t>
            </a:r>
            <a:r>
              <a:rPr lang="zh-CN" sz="1800">
                <a:solidFill>
                  <a:srgbClr val="1F3A34"/>
                </a:solidFill>
                <a:latin typeface="宋体"/>
                <a:ea typeface="宋体"/>
              </a:rPr>
              <a:t>篇</a:t>
            </a:r>
            <a:r>
              <a:rPr lang="en-US" sz="1800">
                <a:solidFill>
                  <a:srgbClr val="1F3A34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1F3A34"/>
                </a:solidFill>
                <a:latin typeface="宋体"/>
                <a:ea typeface="宋体"/>
              </a:rPr>
              <a:t>差序格局</a:t>
            </a:r>
            <a:r>
              <a:rPr lang="en-US" sz="1800">
                <a:solidFill>
                  <a:srgbClr val="1F3A34"/>
                </a:solidFill>
                <a:latin typeface="宋体"/>
                <a:ea typeface="宋体"/>
              </a:rPr>
              <a:t xml:space="preserve"> · </a:t>
            </a:r>
            <a:r>
              <a:rPr lang="zh-CN" sz="1800">
                <a:solidFill>
                  <a:srgbClr val="1F3A34"/>
                </a:solidFill>
                <a:latin typeface="宋体"/>
                <a:ea typeface="宋体"/>
              </a:rPr>
              <a:t>家族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9486900" y="2905125"/>
            <a:ext cx="2095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B4552D"/>
                </a:solidFill>
                <a:latin typeface="宋体"/>
                <a:ea typeface="宋体"/>
              </a:rPr>
              <a:t>画圈</a:t>
            </a: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B4552D"/>
                </a:solidFill>
                <a:latin typeface="宋体"/>
                <a:ea typeface="宋体"/>
              </a:rPr>
              <a:t>＋</a:t>
            </a: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B4552D"/>
                </a:solidFill>
                <a:latin typeface="宋体"/>
                <a:ea typeface="宋体"/>
              </a:rPr>
              <a:t>分维</a:t>
            </a:r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609600" y="3409950"/>
            <a:ext cx="10972800" cy="723900"/>
          </a:xfrm>
          <a:custGeom>
            <a:pathLst>
              <a:path w="1152" h="76">
                <a:moveTo>
                  <a:pt x="0" y="75"/>
                </a:moveTo>
                <a:lnTo>
                  <a:pt x="1152" y="75"/>
                </a:lnTo>
                <a:lnTo>
                  <a:pt x="1152" y="76"/>
                </a:lnTo>
                <a:lnTo>
                  <a:pt x="0" y="76"/>
                </a:lnTo>
                <a:close/>
              </a:path>
            </a:pathLst>
          </a:custGeom>
          <a:solidFill>
            <a:srgbClr val="1F3A34">
              <a:alpha val="15000"/>
            </a:srgbClr>
          </a:solidFill>
          <a:ln/>
        </p:spPr>
        <p:txBody>
          <a:bodyPr/>
          <a:p/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609600" y="3629025"/>
            <a:ext cx="12382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1F3A34"/>
                </a:solidFill>
                <a:latin typeface="宋体"/>
                <a:ea typeface="宋体"/>
              </a:rPr>
              <a:t>第</a:t>
            </a:r>
            <a:r>
              <a:rPr lang="en-US" sz="1800">
                <a:solidFill>
                  <a:srgbClr val="1F3A34"/>
                </a:solidFill>
                <a:latin typeface="宋体"/>
                <a:ea typeface="宋体"/>
              </a:rPr>
              <a:t xml:space="preserve"> 3 </a:t>
            </a:r>
            <a:r>
              <a:rPr lang="zh-CN" sz="1800">
                <a:solidFill>
                  <a:srgbClr val="1F3A34"/>
                </a:solidFill>
                <a:latin typeface="宋体"/>
                <a:ea typeface="宋体"/>
              </a:rPr>
              <a:t>周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1847850" y="3629025"/>
            <a:ext cx="76390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1F3A34"/>
                </a:solidFill>
                <a:latin typeface="宋体"/>
                <a:ea typeface="宋体"/>
              </a:rPr>
              <a:t xml:space="preserve">8–9 </a:t>
            </a:r>
            <a:r>
              <a:rPr lang="zh-CN" sz="1800">
                <a:solidFill>
                  <a:srgbClr val="1F3A34"/>
                </a:solidFill>
                <a:latin typeface="宋体"/>
                <a:ea typeface="宋体"/>
              </a:rPr>
              <a:t>篇</a:t>
            </a:r>
            <a:r>
              <a:rPr lang="en-US" sz="1800">
                <a:solidFill>
                  <a:srgbClr val="1F3A34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1F3A34"/>
                </a:solidFill>
                <a:latin typeface="宋体"/>
                <a:ea typeface="宋体"/>
              </a:rPr>
              <a:t>礼治秩序</a:t>
            </a:r>
            <a:r>
              <a:rPr lang="en-US" sz="1800">
                <a:solidFill>
                  <a:srgbClr val="1F3A34"/>
                </a:solidFill>
                <a:latin typeface="宋体"/>
                <a:ea typeface="宋体"/>
              </a:rPr>
              <a:t xml:space="preserve"> · </a:t>
            </a:r>
            <a:r>
              <a:rPr lang="zh-CN" sz="1800">
                <a:solidFill>
                  <a:srgbClr val="1F3A34"/>
                </a:solidFill>
                <a:latin typeface="宋体"/>
                <a:ea typeface="宋体"/>
              </a:rPr>
              <a:t>无讼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9486900" y="3629025"/>
            <a:ext cx="2095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B4552D"/>
                </a:solidFill>
                <a:latin typeface="宋体"/>
                <a:ea typeface="宋体"/>
              </a:rPr>
              <a:t>分维</a:t>
            </a: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B4552D"/>
                </a:solidFill>
                <a:latin typeface="宋体"/>
                <a:ea typeface="宋体"/>
              </a:rPr>
              <a:t>＋</a:t>
            </a: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B4552D"/>
                </a:solidFill>
                <a:latin typeface="宋体"/>
                <a:ea typeface="宋体"/>
              </a:rPr>
              <a:t>找例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609600" y="4133850"/>
            <a:ext cx="10972800" cy="723900"/>
          </a:xfrm>
          <a:custGeom>
            <a:pathLst>
              <a:path w="1152" h="76">
                <a:moveTo>
                  <a:pt x="0" y="75"/>
                </a:moveTo>
                <a:lnTo>
                  <a:pt x="1152" y="75"/>
                </a:lnTo>
                <a:lnTo>
                  <a:pt x="1152" y="76"/>
                </a:lnTo>
                <a:lnTo>
                  <a:pt x="0" y="76"/>
                </a:lnTo>
                <a:close/>
              </a:path>
            </a:pathLst>
          </a:custGeom>
          <a:solidFill>
            <a:srgbClr val="1F3A34">
              <a:alpha val="15000"/>
            </a:srgbClr>
          </a:solidFill>
          <a:ln/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609600" y="4352925"/>
            <a:ext cx="12382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1F3A34"/>
                </a:solidFill>
                <a:latin typeface="宋体"/>
                <a:ea typeface="宋体"/>
              </a:rPr>
              <a:t>第</a:t>
            </a:r>
            <a:r>
              <a:rPr lang="en-US" sz="1800">
                <a:solidFill>
                  <a:srgbClr val="1F3A34"/>
                </a:solidFill>
                <a:latin typeface="宋体"/>
                <a:ea typeface="宋体"/>
              </a:rPr>
              <a:t xml:space="preserve"> 4 </a:t>
            </a:r>
            <a:r>
              <a:rPr lang="zh-CN" sz="1800">
                <a:solidFill>
                  <a:srgbClr val="1F3A34"/>
                </a:solidFill>
                <a:latin typeface="宋体"/>
                <a:ea typeface="宋体"/>
              </a:rPr>
              <a:t>周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1847850" y="4352925"/>
            <a:ext cx="76390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1F3A34"/>
                </a:solidFill>
                <a:latin typeface="宋体"/>
                <a:ea typeface="宋体"/>
              </a:rPr>
              <a:t xml:space="preserve">10–14 </a:t>
            </a:r>
            <a:r>
              <a:rPr lang="zh-CN" sz="1800">
                <a:solidFill>
                  <a:srgbClr val="1F3A34"/>
                </a:solidFill>
                <a:latin typeface="宋体"/>
                <a:ea typeface="宋体"/>
              </a:rPr>
              <a:t>篇</a:t>
            </a:r>
            <a:r>
              <a:rPr lang="en-US" sz="1800">
                <a:solidFill>
                  <a:srgbClr val="1F3A34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1F3A34"/>
                </a:solidFill>
                <a:latin typeface="宋体"/>
                <a:ea typeface="宋体"/>
              </a:rPr>
              <a:t>四种权力</a:t>
            </a:r>
            <a:r>
              <a:rPr lang="en-US" sz="1800">
                <a:solidFill>
                  <a:srgbClr val="1F3A34"/>
                </a:solidFill>
                <a:latin typeface="宋体"/>
                <a:ea typeface="宋体"/>
              </a:rPr>
              <a:t xml:space="preserve"> · </a:t>
            </a:r>
            <a:r>
              <a:rPr lang="zh-CN" sz="1800">
                <a:solidFill>
                  <a:srgbClr val="1F3A34"/>
                </a:solidFill>
                <a:latin typeface="宋体"/>
                <a:ea typeface="宋体"/>
              </a:rPr>
              <a:t>变迁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9486900" y="4352925"/>
            <a:ext cx="2095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B4552D"/>
                </a:solidFill>
                <a:latin typeface="宋体"/>
                <a:ea typeface="宋体"/>
              </a:rPr>
              <a:t>接龙</a:t>
            </a: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B4552D"/>
                </a:solidFill>
                <a:latin typeface="宋体"/>
                <a:ea typeface="宋体"/>
              </a:rPr>
              <a:t>＋</a:t>
            </a: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B4552D"/>
                </a:solidFill>
                <a:latin typeface="宋体"/>
                <a:ea typeface="宋体"/>
              </a:rPr>
              <a:t>找例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609600" y="5086350"/>
            <a:ext cx="12382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1F3A34"/>
                </a:solidFill>
                <a:latin typeface="宋体"/>
                <a:ea typeface="宋体"/>
              </a:rPr>
              <a:t>第</a:t>
            </a:r>
            <a:r>
              <a:rPr lang="en-US" sz="1800">
                <a:solidFill>
                  <a:srgbClr val="1F3A34"/>
                </a:solidFill>
                <a:latin typeface="宋体"/>
                <a:ea typeface="宋体"/>
              </a:rPr>
              <a:t xml:space="preserve"> 5 </a:t>
            </a:r>
            <a:r>
              <a:rPr lang="zh-CN" sz="1800">
                <a:solidFill>
                  <a:srgbClr val="1F3A34"/>
                </a:solidFill>
                <a:latin typeface="宋体"/>
                <a:ea typeface="宋体"/>
              </a:rPr>
              <a:t>周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1847850" y="5086350"/>
            <a:ext cx="76390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1F3A34"/>
                </a:solidFill>
                <a:latin typeface="宋体"/>
                <a:ea typeface="宋体"/>
              </a:rPr>
              <a:t>全书回看</a:t>
            </a:r>
            <a:r>
              <a:rPr lang="en-US" sz="1800">
                <a:solidFill>
                  <a:srgbClr val="1F3A34"/>
                </a:solidFill>
                <a:latin typeface="宋体"/>
                <a:ea typeface="宋体"/>
              </a:rPr>
              <a:t xml:space="preserve"> · </a:t>
            </a:r>
            <a:r>
              <a:rPr lang="zh-CN" sz="1800">
                <a:solidFill>
                  <a:srgbClr val="1F3A34"/>
                </a:solidFill>
                <a:latin typeface="宋体"/>
                <a:ea typeface="宋体"/>
              </a:rPr>
              <a:t>读书报告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9486900" y="5086350"/>
            <a:ext cx="2095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B4552D"/>
                </a:solidFill>
                <a:latin typeface="宋体"/>
                <a:ea typeface="宋体"/>
              </a:rPr>
              <a:t>四种合用</a:t>
            </a:r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209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费孝通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16/19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40" name="" descr="&lt;Slide style={{ background: '#F5F1E6', padding: '40px 64px', fontFamily: '宋体' }}&gt;&#13;&#10;  &lt;Box style={{ flexDirection: 'row', justifyContent: 'space-between', alignItems: 'flex-end', height: 72, position: 'relative', zIndex: 5 }}&gt;&#13;&#10;    &lt;Text style={{ fontSize: 40, fontWeight: 'bold', color: '#1F3A34', lineHeight: 1.15 }}&gt;概念卡：五栏&lt;/Text&gt;&#13;&#10;    &lt;Text style={{ fontSize: 24, color: '#6B6B6B' }}&gt;每周三张&lt;/Text&gt;&#13;&#10;  &lt;/Box&gt;&#13;&#10;  &lt;Box style={{ height: 472, marginTop: 20, flexDirection: 'column', position: 'relative', zIndex: 5 }}&gt;&#13;&#10;    &lt;Box style={{ height: 472, flexDirection: 'column', justifyContent: 'center' }}&gt;&#13;&#10;      &lt;Text style={{ fontSize: 30, color: '#1F3A34', lineHeight: 2.2 }}&gt;一、术语（书上的原词，不改写）&lt;/Text&gt;&#13;&#10;      &lt;Text style={{ fontSize: 30, color: '#1F3A34', lineHeight: 2.2 }}&gt;二、原文定义（抄一句，标篇名页码）&lt;/Text&gt;&#13;&#10;      &lt;Text style={{ fontSize: 30, color: '#1F3A34', lineHeight: 2.2 }}&gt;三、我的一句话解释（不许用书上的话）&lt;/Text&gt;&#13;&#10;      &lt;Text style={{ fontSize: 30, color: '#1F3A34', lineHeight: 2.2 }}&gt;四、一个例子（哪里像）&lt;/Text&gt;&#13;&#10;      &lt;Text style={{ fontSize: 30, color: '#B4552D', lineHeight: 2.2 }}&gt;五、一个反例（哪里不像）——这栏不许空&lt;/Text&gt;&#13;&#10;  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费孝通&lt;/Text&gt;&#13;&#10;    &lt;Text style={{ fontSize: 24, color: '#B4552D' }}&gt;17/19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2286000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概念卡：五栏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10668000" y="790575"/>
            <a:ext cx="914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每周三张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609600" y="1600200"/>
            <a:ext cx="10972800" cy="762000"/>
          </a:xfrm>
          <a:prstGeom prst="rect"/>
        </p:spPr>
        <p:txBody>
          <a:bodyPr wrap="none" lIns="0" tIns="0" rIns="0" bIns="0"/>
          <a:p>
            <a:pPr>
              <a:lnSpc>
                <a:spcPct val="220000"/>
              </a:lnSpc>
            </a:pPr>
            <a:r>
              <a:rPr lang="zh-CN" sz="2250">
                <a:solidFill>
                  <a:srgbClr val="1F3A34"/>
                </a:solidFill>
                <a:latin typeface="宋体"/>
                <a:ea typeface="宋体"/>
              </a:rPr>
              <a:t>一、术语（书上的原词，不改写）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609600" y="2362200"/>
            <a:ext cx="10972800" cy="762000"/>
          </a:xfrm>
          <a:prstGeom prst="rect"/>
        </p:spPr>
        <p:txBody>
          <a:bodyPr wrap="none" lIns="0" tIns="0" rIns="0" bIns="0"/>
          <a:p>
            <a:pPr>
              <a:lnSpc>
                <a:spcPct val="220000"/>
              </a:lnSpc>
            </a:pPr>
            <a:r>
              <a:rPr lang="zh-CN" sz="2250">
                <a:solidFill>
                  <a:srgbClr val="1F3A34"/>
                </a:solidFill>
                <a:latin typeface="宋体"/>
                <a:ea typeface="宋体"/>
              </a:rPr>
              <a:t>二、原文定义（抄一句，标篇名页码）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609600" y="3124200"/>
            <a:ext cx="10972800" cy="762000"/>
          </a:xfrm>
          <a:prstGeom prst="rect"/>
        </p:spPr>
        <p:txBody>
          <a:bodyPr wrap="none" lIns="0" tIns="0" rIns="0" bIns="0"/>
          <a:p>
            <a:pPr>
              <a:lnSpc>
                <a:spcPct val="220000"/>
              </a:lnSpc>
            </a:pPr>
            <a:r>
              <a:rPr lang="zh-CN" sz="2250">
                <a:solidFill>
                  <a:srgbClr val="1F3A34"/>
                </a:solidFill>
                <a:latin typeface="宋体"/>
                <a:ea typeface="宋体"/>
              </a:rPr>
              <a:t>三、我的一句话解释（不许用书上的话）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609600" y="3886200"/>
            <a:ext cx="10972800" cy="762000"/>
          </a:xfrm>
          <a:prstGeom prst="rect"/>
        </p:spPr>
        <p:txBody>
          <a:bodyPr wrap="none" lIns="0" tIns="0" rIns="0" bIns="0"/>
          <a:p>
            <a:pPr>
              <a:lnSpc>
                <a:spcPct val="220000"/>
              </a:lnSpc>
            </a:pPr>
            <a:r>
              <a:rPr lang="zh-CN" sz="2250">
                <a:solidFill>
                  <a:srgbClr val="1F3A34"/>
                </a:solidFill>
                <a:latin typeface="宋体"/>
                <a:ea typeface="宋体"/>
              </a:rPr>
              <a:t>四、一个例子（哪里像）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609600" y="4648200"/>
            <a:ext cx="10972800" cy="762000"/>
          </a:xfrm>
          <a:prstGeom prst="rect"/>
        </p:spPr>
        <p:txBody>
          <a:bodyPr wrap="none" lIns="0" tIns="0" rIns="0" bIns="0"/>
          <a:p>
            <a:pPr>
              <a:lnSpc>
                <a:spcPct val="220000"/>
              </a:lnSpc>
            </a:pPr>
            <a:r>
              <a:rPr lang="zh-CN" sz="2250">
                <a:solidFill>
                  <a:srgbClr val="B4552D"/>
                </a:solidFill>
                <a:latin typeface="宋体"/>
                <a:ea typeface="宋体"/>
              </a:rPr>
              <a:t>五、一个反例（哪里不像）——这栏不许空</a:t>
            </a:r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209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费孝通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17/19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52" name="" descr="&lt;Slide style={{ background: '#F5F1E6', padding: '40px 64px', fontFamily: '宋体' }}&gt;&#13;&#10;  &lt;Box style={{ flexDirection: 'row', justifyContent: 'space-between', alignItems: 'flex-end', height: 72, position: 'relative', zIndex: 5 }}&gt;&#13;&#10;    &lt;Text style={{ fontSize: 40, fontWeight: 'bold', color: '#1F3A34', lineHeight: 1.15 }}&gt;小结：四句话&lt;/Text&gt;&#13;&#10;    &lt;Text style={{ fontSize: 24, color: '#6B6B6B' }}&gt;回扣主问题&lt;/Text&gt;&#13;&#10;  &lt;/Box&gt;&#13;&#10;  &lt;Box style={{ height: 472, marginTop: 20, flexDirection: 'column', position: 'relative', zIndex: 5 }}&gt;&#13;&#10;    &lt;Box style={{ height: 472, flexDirection: 'column', justifyContent: 'center' }}&gt;&#13;&#10;      &lt;Text style={{ fontSize: 32, color: '#1F3A34', lineHeight: 2.1 }}&gt;接龙看论证，分维看辨析，&lt;/Text&gt;&#13;&#10;      &lt;Text style={{ fontSize: 32, color: '#1F3A34', lineHeight: 2.1 }}&gt;画圈看结构，找例看迁移。&lt;/Text&gt;&#13;&#10;      &lt;Box style={{ marginTop: 32, borderLeft: '4px solid #B4552D', paddingLeft: 24 }}&gt;&#13;&#10;        &lt;Text style={{ fontSize: 30, color: '#1F3A34', lineHeight: 1.9 }}&gt;十四篇不必用一种读法；&lt;/Text&gt;&#13;&#10;        &lt;Text style={{ fontSize: 30, color: '#1F3A34', lineHeight: 1.9 }}&gt;但每一篇，都要有一种读法读得动它。&lt;/Text&gt;&#13;&#10;      &lt;/Box&gt;&#13;&#10;  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费孝通&lt;/Text&gt;&#13;&#10;    &lt;Text style={{ fontSize: 24, color: '#B4552D' }}&gt;18/19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2286000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小结：四句话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10439400" y="790575"/>
            <a:ext cx="1143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回扣主问题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609600" y="1924050"/>
            <a:ext cx="10972800" cy="771525"/>
          </a:xfrm>
          <a:prstGeom prst="rect"/>
        </p:spPr>
        <p:txBody>
          <a:bodyPr wrap="none" lIns="0" tIns="0" rIns="0" bIns="0"/>
          <a:p>
            <a:pPr>
              <a:lnSpc>
                <a:spcPct val="210000"/>
              </a:lnSpc>
            </a:pPr>
            <a:r>
              <a:rPr lang="zh-CN" sz="2400">
                <a:solidFill>
                  <a:srgbClr val="1F3A34"/>
                </a:solidFill>
                <a:latin typeface="宋体"/>
                <a:ea typeface="宋体"/>
              </a:rPr>
              <a:t>接龙看论证，分维看辨析，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609600" y="2695575"/>
            <a:ext cx="10972800" cy="771525"/>
          </a:xfrm>
          <a:prstGeom prst="rect"/>
        </p:spPr>
        <p:txBody>
          <a:bodyPr wrap="none" lIns="0" tIns="0" rIns="0" bIns="0"/>
          <a:p>
            <a:pPr>
              <a:lnSpc>
                <a:spcPct val="210000"/>
              </a:lnSpc>
            </a:pPr>
            <a:r>
              <a:rPr lang="zh-CN" sz="2400">
                <a:solidFill>
                  <a:srgbClr val="1F3A34"/>
                </a:solidFill>
                <a:latin typeface="宋体"/>
                <a:ea typeface="宋体"/>
              </a:rPr>
              <a:t>画圈看结构，找例看迁移。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609600" y="3771900"/>
            <a:ext cx="11010900" cy="1314450"/>
          </a:xfrm>
          <a:custGeom>
            <a:pathLst>
              <a:path w="1156" h="138">
                <a:moveTo>
                  <a:pt x="0" y="0"/>
                </a:moveTo>
                <a:lnTo>
                  <a:pt x="4" y="0"/>
                </a:lnTo>
                <a:lnTo>
                  <a:pt x="4" y="138"/>
                </a:lnTo>
                <a:lnTo>
                  <a:pt x="0" y="138"/>
                </a:lnTo>
                <a:close/>
              </a:path>
            </a:pathLst>
          </a:custGeom>
          <a:solidFill>
            <a:srgbClr val="B4552D"/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876300" y="3771900"/>
            <a:ext cx="10706100" cy="65722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2250">
                <a:solidFill>
                  <a:srgbClr val="1F3A34"/>
                </a:solidFill>
                <a:latin typeface="宋体"/>
                <a:ea typeface="宋体"/>
              </a:rPr>
              <a:t>十四篇不必用一种读法；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876300" y="4429125"/>
            <a:ext cx="10706100" cy="65722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2250">
                <a:solidFill>
                  <a:srgbClr val="1F3A34"/>
                </a:solidFill>
                <a:latin typeface="宋体"/>
                <a:ea typeface="宋体"/>
              </a:rPr>
              <a:t>但每一篇，都要有一种读法读得动它。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209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费孝通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18/19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64" name="" descr="&lt;Slide style={{ background: '#F5F1E6', padding: '40px 64px', fontFamily: '宋体' }}&gt;&#13;&#10;  &lt;Box style={{ flexDirection: 'row', justifyContent: 'space-between', alignItems: 'flex-end', height: 72, position: 'relative', zIndex: 5 }}&gt;&#13;&#10;    &lt;Text style={{ fontSize: 40, fontWeight: 'bold', color: '#1F3A34', lineHeight: 1.15 }}&gt;作业：三层&lt;/Text&gt;&#13;&#10;    &lt;Text style={{ fontSize: 24, color: '#6B6B6B' }}&gt;基础全员&lt;/Text&gt;&#13;&#10;  &lt;/Box&gt;&#13;&#10;  &lt;Box style={{ height: 472, marginTop: 20, flexDirection: 'column', position: 'relative', zIndex: 5 }}&gt;&#13;&#10;    &lt;Box style={{ height: 472, flexDirection: 'column', justifyContent: 'center' }}&gt;&#13;&#10;      &lt;Box style={{ padding: 20, background: 'rgba(31,58,52,0.06)', marginBottom: 14 }}&gt;&#13;&#10;        &lt;Text style={{ fontSize: 26, color: '#B4552D' }}&gt;基础 · 全员&lt;/Text&gt;&#13;&#10;        &lt;Text style={{ fontSize: 26, color: '#1F3A34', lineHeight: 1.8, marginTop: 6 }}&gt;读 1–3 篇，各做一张概念卡，五栏齐全&lt;/Text&gt;&#13;&#10;      &lt;/Box&gt;&#13;&#10;      &lt;Box style={{ padding: 20, background: 'rgba(31,58,52,0.06)', marginBottom: 14 }}&gt;&#13;&#10;        &lt;Text style={{ fontSize: 26, color: '#B4552D' }}&gt;提高 · 自选&lt;/Text&gt;&#13;&#10;        &lt;Text style={{ fontSize: 26, color: '#1F3A34', lineHeight: 1.8, marginTop: 6 }}&gt;用接龙读法把《文字下乡》读成五环以上的链&lt;/Text&gt;&#13;&#10;      &lt;/Box&gt;&#13;&#10;      &lt;Box style={{ padding: 20, background: 'rgba(31,58,52,0.06)' }}&gt;&#13;&#10;        &lt;Text style={{ fontSize: 26, color: '#B4552D' }}&gt;拓展 · 自选&lt;/Text&gt;&#13;&#10;        &lt;Text style={{ fontSize: 26, color: '#1F3A34', lineHeight: 1.8, marginTop: 6 }}&gt;从家乡找一个乡土痕迹，用书中概念解释，写出套不上的一处&lt;/Text&gt;&#13;&#10;      &lt;/Box&gt;&#13;&#10;  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费孝通&lt;/Text&gt;&#13;&#10;    &lt;Text style={{ fontSize: 24, color: '#B4552D' }}&gt;19/19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1905000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作业：三层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10668000" y="790575"/>
            <a:ext cx="914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基础全员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609600" y="1447800"/>
            <a:ext cx="10972800" cy="1285875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800100" y="1638300"/>
            <a:ext cx="105918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B4552D"/>
                </a:solidFill>
                <a:latin typeface="宋体"/>
                <a:ea typeface="宋体"/>
              </a:rPr>
              <a:t>基础</a:t>
            </a:r>
            <a:r>
              <a:rPr lang="en-US" sz="1950">
                <a:solidFill>
                  <a:srgbClr val="B4552D"/>
                </a:solidFill>
                <a:latin typeface="宋体"/>
                <a:ea typeface="宋体"/>
              </a:rPr>
              <a:t xml:space="preserve"> · </a:t>
            </a:r>
            <a:r>
              <a:rPr lang="zh-CN" sz="1950">
                <a:solidFill>
                  <a:srgbClr val="B4552D"/>
                </a:solidFill>
                <a:latin typeface="宋体"/>
                <a:ea typeface="宋体"/>
              </a:rPr>
              <a:t>全员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800100" y="2000250"/>
            <a:ext cx="10591800" cy="5429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读</a:t>
            </a:r>
            <a:r>
              <a:rPr lang="en-US" sz="1950">
                <a:solidFill>
                  <a:srgbClr val="1F3A34"/>
                </a:solidFill>
                <a:latin typeface="宋体"/>
                <a:ea typeface="宋体"/>
              </a:rPr>
              <a:t xml:space="preserve"> 1–3 </a:t>
            </a: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篇，各做一张概念卡，五栏齐全</a:t>
            </a:r>
            <a:endParaRPr/>
          </a:p>
        </p:txBody>
      </p:sp>
      <p:sp>
        <p:nvSpPr>
          <p:cNvPr id="171" name=""/>
          <p:cNvSpPr/>
          <p:nvPr/>
        </p:nvSpPr>
        <p:spPr>
          <a:xfrm rot="0" flipH="0" flipV="0">
            <a:off x="609600" y="2867025"/>
            <a:ext cx="10972800" cy="1285875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800100" y="3057525"/>
            <a:ext cx="105918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B4552D"/>
                </a:solidFill>
                <a:latin typeface="宋体"/>
                <a:ea typeface="宋体"/>
              </a:rPr>
              <a:t>提高</a:t>
            </a:r>
            <a:r>
              <a:rPr lang="en-US" sz="1950">
                <a:solidFill>
                  <a:srgbClr val="B4552D"/>
                </a:solidFill>
                <a:latin typeface="宋体"/>
                <a:ea typeface="宋体"/>
              </a:rPr>
              <a:t xml:space="preserve"> · </a:t>
            </a:r>
            <a:r>
              <a:rPr lang="zh-CN" sz="1950">
                <a:solidFill>
                  <a:srgbClr val="B4552D"/>
                </a:solidFill>
                <a:latin typeface="宋体"/>
                <a:ea typeface="宋体"/>
              </a:rPr>
              <a:t>自选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800100" y="3419475"/>
            <a:ext cx="10591800" cy="5429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用接龙读法把《文字下乡》读成五环以上的链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609600" y="4286250"/>
            <a:ext cx="10972800" cy="1285875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800100" y="4476750"/>
            <a:ext cx="105918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B4552D"/>
                </a:solidFill>
                <a:latin typeface="宋体"/>
                <a:ea typeface="宋体"/>
              </a:rPr>
              <a:t>拓展</a:t>
            </a:r>
            <a:r>
              <a:rPr lang="en-US" sz="1950">
                <a:solidFill>
                  <a:srgbClr val="B4552D"/>
                </a:solidFill>
                <a:latin typeface="宋体"/>
                <a:ea typeface="宋体"/>
              </a:rPr>
              <a:t xml:space="preserve"> · </a:t>
            </a:r>
            <a:r>
              <a:rPr lang="zh-CN" sz="1950">
                <a:solidFill>
                  <a:srgbClr val="B4552D"/>
                </a:solidFill>
                <a:latin typeface="宋体"/>
                <a:ea typeface="宋体"/>
              </a:rPr>
              <a:t>自选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800100" y="4838700"/>
            <a:ext cx="10591800" cy="5429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从家乡找一个乡土痕迹，用书中概念解释，写出套不上的一处</a:t>
            </a:r>
            <a:endParaRPr/>
          </a:p>
        </p:txBody>
      </p:sp>
      <p:sp>
        <p:nvSpPr>
          <p:cNvPr id="177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209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费孝通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19/19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2026-10-26T19:47:54Z</dcterms:created>
  <dcterms:modified xsi:type="dcterms:W3CDTF">2026-10-26T19:47:54Z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{"AIGC":{"Label":"1","ContentProducer":"00119111010856365494821B355","ProduceID":"01a177f4ad8c7994b2065a19fbb7e0d6","ReservedCode1":"","ContentPropagator":"00119111010856365494821B355","PropagateID":"01a177f4ad8c7994b2065a19fbb7e0d6","ReservedCode2":""}}</vt:lpwstr>
  </property>
</Properties>
</file>