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20" Type="http://schemas.openxmlformats.org/officeDocument/2006/relationships/tableStyles" Target="tableStyles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21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background: '#F5F1E6', padding: '40px 64px', fontFamily: '宋体' }}&gt;&#13;&#10;  &lt;Image src=&quot;../课件/assets/bg_soil.jpg&quot; style={{ position: 'absolute', top: 0, left: 0, width: 1280, height: 720, objectFit: 'cover' }} /&gt;&#13;&#10;  &lt;Box style={{ height: 560, flexDirection: 'row', alignItems: 'center', position: 'relative', zIndex: 5 }}&gt;&#13;&#10;    &lt;Box style={{ width: 700, background: 'rgba(245,241,230,0.9)', padding: '44px 36px 44px 32px', flexDirection: 'column', borderLeft: '6px solid #B4552D' }}&gt;&#13;&#10;      &lt;Text style={{ fontSize: 56, fontWeight: 'bold', color: '#1F3A34', lineHeight: 1.3 }}&gt;《乡土中国》&lt;/Text&gt;&#13;&#10;      &lt;Text style={{ fontSize: 34, color: '#1F3A34', marginTop: 14 }}&gt;第 2 课时 · 推进课&lt;/Text&gt;&#13;&#10;      &lt;Text style={{ fontSize: 30, color: '#B4552D', marginTop: 26 }}&gt;接龙与分维：读前三篇&lt;/Text&gt;&#13;&#10;    &lt;/Box&gt;&#13;&#10;  &lt;/Box&gt;&#13;&#10;  &lt;Box style={{ height: 46, borderTop: '1px solid rgba(31,58,52,0.2)', flexDirection: 'row', justifyContent: 'space-between', alignItems: 'center', paddingTop: 8, position: 'relative', zIndex: 5, background: 'rgba(245,241,230,0.92)', paddingLeft: 12, paddingRight: 12 }}&gt;&#13;&#10;    &lt;Text style={{ fontSize: 24, color: '#6B6B6B' }}&gt;统编版必修上 · 第五单元&lt;/Text&gt;&#13;&#10;    &lt;Text style={{ fontSize: 24, color: '#B4552D' }}&gt;01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657350"/>
            <a:ext cx="6610350" cy="2790825"/>
          </a:xfrm>
          <a:prstGeom prst="rect">
            <a:avLst/>
          </a:prstGeom>
          <a:solidFill>
            <a:srgbClr val="F5F1E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657350"/>
            <a:ext cx="6667500" cy="2790825"/>
          </a:xfrm>
          <a:custGeom>
            <a:pathLst>
              <a:path w="700" h="293">
                <a:moveTo>
                  <a:pt x="0" y="0"/>
                </a:moveTo>
                <a:lnTo>
                  <a:pt x="6" y="0"/>
                </a:lnTo>
                <a:lnTo>
                  <a:pt x="6" y="293"/>
                </a:lnTo>
                <a:lnTo>
                  <a:pt x="0" y="29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596265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1F3A34"/>
                </a:solidFill>
                <a:latin typeface="宋体"/>
                <a:ea typeface="宋体"/>
              </a:rPr>
              <a:t>《乡土中国》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3048000"/>
            <a:ext cx="5962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2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课时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推进课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5962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接龙与分维：读前三篇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724525"/>
            <a:ext cx="10972800" cy="428625"/>
          </a:xfrm>
          <a:prstGeom prst="rect">
            <a:avLst/>
          </a:prstGeom>
          <a:solidFill>
            <a:srgbClr val="F5F1E6">
              <a:alpha val="9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09600" y="5715000"/>
            <a:ext cx="10972800" cy="438150"/>
          </a:xfrm>
          <a:custGeom>
            <a:pathLst>
              <a:path w="1152" h="4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第五单元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77550" y="583882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上周的问题单：三张真问题&lt;/Text&gt;&#13;&#10;    &lt;Text style={{ fontSize: 24, color: '#6B6B6B' }}&gt;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color: '#1F3A34', lineHeight: 2.0 }}&gt;上周你们交的问题单，有三张问的不是“内容是什么”。&lt;/Text&gt;&#13;&#10;    &lt;Box style={{ marginTop: 24, flexDirection: 'column' }}&gt;&#13;&#10;      &lt;Text style={{ fontSize: 28, color: '#1F3A34', lineHeight: 2.0, background: 'rgba(31,58,52,0.06)', padding: 14 }}&gt;「为什么他说话这么绕？」&lt;/Text&gt;&#13;&#10;      &lt;Text style={{ fontSize: 28, color: '#1F3A34', lineHeight: 2.0, background: 'rgba(31,58,52,0.06)', padding: 14, marginTop: 10 }}&gt;「第一句就下判断，凭什么？」&lt;/Text&gt;&#13;&#10;      &lt;Text style={{ fontSize: 28, color: '#1F3A34', lineHeight: 2.0, background: 'rgba(31,58,52,0.06)', padding: 14, marginTop: 10 }}&gt;「土气到底是什么意思？」&lt;/Text&gt;&#13;&#10;    &lt;/Box&gt;&#13;&#10;    &lt;Text style={{ fontSize: 26, color: '#B4552D', marginTop: 22 }}&gt;这些问得对。今天接着问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2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57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上周的问题单：三张真问题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582400" y="10668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上周你们交的问题单，有三张问的不是“内容是什么”。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2219325"/>
            <a:ext cx="10972800" cy="9144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10972800" cy="91440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「为什么他说话这么绕？」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3228975"/>
            <a:ext cx="10972800" cy="9144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10972800" cy="91440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「第一句就下判断，凭什么？」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4238625"/>
            <a:ext cx="10972800" cy="9144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10972800" cy="91440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「土气到底是什么意思？」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53625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这些问得对。今天接着问。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主问题&lt;/Text&gt;&#13;&#10;    &lt;Text style={{ fontSize: 24, color: '#6B6B6B' }}&gt;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52, fontWeight: 'bold', color: '#1F3A34', lineHeight: 1.55 }}&gt;乡下人“愚”，&lt;/Text&gt;&#13;&#10;    &lt;Text style={{ fontSize: 52, fontWeight: 'bold', color: '#1F3A34', lineHeight: 1.55 }}&gt;是脑子的问题还是条件的问题？&lt;/Text&gt;&#13;&#10;    &lt;Box style={{ marginTop: 36, borderLeft: '4px solid #B4552D', paddingLeft: 24 }}&gt;&#13;&#10;      &lt;Text style={{ fontSize: 28, color: '#1F3A34' }}&gt;先写下你的第一判断，下课前对照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3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582400" y="10668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乡下人“愚”，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3900" b="1">
                <a:solidFill>
                  <a:srgbClr val="1F3A34"/>
                </a:solidFill>
                <a:latin typeface="宋体"/>
                <a:ea typeface="宋体"/>
              </a:rPr>
              <a:t>是脑子的问题还是条件的问题？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4438650"/>
            <a:ext cx="11010900" cy="323850"/>
          </a:xfrm>
          <a:custGeom>
            <a:pathLst>
              <a:path w="1156" h="34">
                <a:moveTo>
                  <a:pt x="0" y="0"/>
                </a:moveTo>
                <a:lnTo>
                  <a:pt x="4" y="0"/>
                </a:lnTo>
                <a:lnTo>
                  <a:pt x="4" y="34"/>
                </a:lnTo>
                <a:lnTo>
                  <a:pt x="0" y="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先写下你的第一判断，下课前对照。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今天做三件事&lt;/Text&gt;&#13;&#10;    &lt;Text style={{ fontSize: 24, color: '#6B6B6B' }}&gt;任务总览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6, background: 'rgba(31,58,52,0.06)', height: 310, flexDirection: 'column' }}&gt;&#13;&#10;      &lt;Text style={{ fontSize: 25, color: '#B4552D' }}&gt;任务一 · 15 分钟&lt;/Text&gt;&#13;&#10;      &lt;Text style={{ fontSize: 32, fontWeight: 'bold', color: '#1F3A34', marginTop: 14 }}&gt;接龙《乡土本色》&lt;/Text&gt;&#13;&#10;      &lt;Text style={{ fontSize: 25, color: '#1F3A34', lineHeight: 1.8, marginTop: 14 }}&gt;六句接成一条链，每个箭头填因果词&lt;/Text&gt;&#13;&#10;    &lt;/Box&gt;&#13;&#10;    &lt;Box style={{ flex: 1, marginRight: 18, padding: 26, background: 'rgba(31,58,52,0.06)', height: 310, flexDirection: 'column' }}&gt;&#13;&#10;      &lt;Text style={{ fontSize: 25, color: '#B4552D' }}&gt;任务二 · 16 分钟&lt;/Text&gt;&#13;&#10;      &lt;Text style={{ fontSize: 32, fontWeight: 'bold', color: '#1F3A34', marginTop: 14 }}&gt;给“愚”分两栏&lt;/Text&gt;&#13;&#10;      &lt;Text style={{ fontSize: 25, color: '#1F3A34', lineHeight: 1.8, marginTop: 14 }}&gt;要驳的说法 ／ 他自己的说法&lt;/Text&gt;&#13;&#10;    &lt;/Box&gt;&#13;&#10;    &lt;Box style={{ flex: 1, padding: 26, background: 'rgba(31,58,52,0.06)', height: 310, flexDirection: 'column' }}&gt;&#13;&#10;      &lt;Text style={{ fontSize: 25, color: '#B4552D' }}&gt;任务三 · 6 分钟&lt;/Text&gt;&#13;&#10;      &lt;Text style={{ fontSize: 32, fontWeight: 'bold', color: '#1F3A34', marginTop: 14 }}&gt;补上时间这一维&lt;/Text&gt;&#13;&#10;      &lt;Text style={{ fontSize: 25, color: '#1F3A34', lineHeight: 1.8, marginTop: 14 }}&gt;《再论》是同一件事的另一半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4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今天做三件事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任务总览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任务一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15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接龙《乡土本色》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32004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六句接成一条链，每个箭头填因果词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32435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57200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任务二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16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57200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给“愚”分两栏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572000" y="3200400"/>
            <a:ext cx="30480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要驳的说法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／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他自己的说法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80391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2867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任务三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6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2867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补上时间这一维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286750" y="32004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《再论》是同一件事的另一半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5" name="" descr="&lt;Slide style={{ background: '#F5F1E6', padding: '40px 64px', fontFamily: '宋体' }}&gt;&#13;&#10;  &lt;Image src=&quot;../课件/assets/bg_fields.jpg&quot; style={{ position: 'absolute', top: -40, left: -64, width: 1408, height: 800, objectFit: 'cover' }} /&gt;&#13;&#10;  &lt;Box style={{ position: 'absolute', top: -40, left: -64, width: 1408, height: 800, background: 'rgba(245,241,230,0.62)', zIndex: 1 }} /&gt;&#13;&#10;  &lt;Box style={{ flexDirection: 'row', justifyContent: 'space-between', alignItems: 'flex-end', height: 72, position: 'relative', zIndex: 5 }}&gt;&#13;&#10;    &lt;Text style={{ fontSize: 40, fontWeight: 'bold', color: '#1F3A34', lineHeight: 1.15 }}&gt;原文：乡土本色&lt;/Text&gt;&#13;&#10;    &lt;Text style={{ fontSize: 24, color: '#6B6B6B' }}&gt;第 1 篇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color: '#1F3A34', lineHeight: 2.0 }}&gt;从基层上看去，中国社会是乡土性的。&lt;/Text&gt;&#13;&#10;    &lt;Text style={{ fontSize: 28, color: '#1F3A34', lineHeight: 2.0 }}&gt;乡下人离不了泥土，因为在乡下住，种地是最普遍的谋生办法。&lt;/Text&gt;&#13;&#10;    &lt;Text style={{ fontSize: 28, color: '#1F3A34', lineHeight: 2.0 }}&gt;土气是因为不流动而发生的。&lt;/Text&gt;&#13;&#10;    &lt;Text style={{ fontSize: 28, color: '#1F3A34', lineHeight: 2.0 }}&gt;以农为生的人，世代定居是常态，迁移是变态。&lt;/Text&gt;&#13;&#10;    &lt;Text style={{ fontSize: 24, color: '#6B6B6B', marginTop: 18 }}&gt;——《乡土本色》，第 1 篇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5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 r:embed="rId1"/>
          <a:srcRect l="0" t="5361" r="0" b="5361"/>
          <a:stretch>
            <a:fillRect/>
          </a:stretch>
        </p:blipFill>
        <p:spPr>
          <a:xfrm rot="0" flipH="0" flipV="0">
            <a:off x="-609600" y="-381000"/>
            <a:ext cx="13411200" cy="76200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-609600" y="-381000"/>
            <a:ext cx="13411200" cy="7620000"/>
          </a:xfrm>
          <a:prstGeom prst="rect">
            <a:avLst/>
          </a:prstGeom>
          <a:solidFill>
            <a:srgbClr val="F5F1E6">
              <a:alpha val="62000"/>
            </a:srgbClr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原文：乡土本色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848975" y="790575"/>
            <a:ext cx="733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1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从基层上看去，中国社会是乡土性的。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乡下人离不了泥土，因为在乡下住，种地是最普遍的谋生办法。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32861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土气是因为不流动而发生的。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39338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以农为生的人，世代定居是常态，迁移是变态。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——《乡土本色》，第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1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篇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05/17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接龙怎么接&lt;/Text&gt;&#13;&#10;    &lt;Text style={{ fontSize: 24, color: '#6B6B6B' }}&gt;示范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color: '#1F3A34', lineHeight: 1.6 }}&gt;乡下人离不了泥土&lt;/Text&gt;&#13;&#10;    &lt;Text style={{ fontSize: 26, color: '#B4552D', marginLeft: 14 }}&gt;↓ 因为&lt;/Text&gt;&#13;&#10;    &lt;Text style={{ fontSize: 30, color: '#1F3A34', lineHeight: 1.6 }}&gt;种地是最普遍的谋生办法&lt;/Text&gt;&#13;&#10;    &lt;Box style={{ marginTop: 26, borderLeft: '4px solid #B4552D', paddingLeft: 22 }}&gt;&#13;&#10;      &lt;Text style={{ fontSize: 26, color: '#1F3A34', lineHeight: 1.8 }}&gt;每一句先压成一个短句&lt;/Text&gt;&#13;&#10;      &lt;Text style={{ fontSize: 26, color: '#1F3A34', lineHeight: 1.8 }}&gt;箭头里填“因为 / 所以 / 但是 / 于是”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6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接龙怎么接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示范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10972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乡下人离不了泥土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42950" y="2686050"/>
            <a:ext cx="1083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↓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因为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10972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种地是最普遍的谋生办法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3790950"/>
            <a:ext cx="11010900" cy="1085850"/>
          </a:xfrm>
          <a:custGeom>
            <a:pathLst>
              <a:path w="1156" h="114">
                <a:moveTo>
                  <a:pt x="0" y="0"/>
                </a:moveTo>
                <a:lnTo>
                  <a:pt x="4" y="0"/>
                </a:lnTo>
                <a:lnTo>
                  <a:pt x="4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57250" y="3790950"/>
            <a:ext cx="107251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每一句先压成一个短句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57250" y="4333875"/>
            <a:ext cx="107251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箭头里填“因为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所以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但是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于是”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判据&lt;/Text&gt;&#13;&#10;    &lt;Text style={{ fontSize: 24, color: '#6B6B6B' }}&gt;读法一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4, fontWeight: 'bold', color: '#1F3A34' }}&gt;判据：这个箭头能换成“因为”吗？&lt;/Text&gt;&#13;&#10;    &lt;Box style={{ marginTop: 30, flexDirection: 'column' }}&gt;&#13;&#10;      &lt;Text style={{ fontSize: 28, color: '#1F3A34', lineHeight: 2.0 }}&gt;能换 → 前后是因果，链是通的&lt;/Text&gt;&#13;&#10;      &lt;Text style={{ fontSize: 28, color: '#1F3A34', lineHeight: 2.0 }}&gt;只能写“然后” → 前后是时间顺序，不是因果&lt;/Text&gt;&#13;&#10;      &lt;Text style={{ fontSize: 28, color: '#B4552D', lineHeight: 2.0 }}&gt;什么也填不出 → 作者在这里跳了一步，断点就在这&lt;/Text&gt;&#13;&#10;    &lt;/Box&gt;&#13;&#10;    &lt;Text style={{ fontSize: 26, color: '#6B6B6B', marginTop: 26 }}&gt;断点不是你读得差，是作者留的缝——质疑就从这里进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7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判据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读法一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判据：这个箭头能换成“因为”吗？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能换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前后是因果，链是通的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只能写“然后”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前后是时间顺序，不是因果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109728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什么也填不出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作者在这里跳了一步，断点就在这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47910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断点不是你读得差，是作者留的缝——质疑就从这里进。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07/17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任务一：把六句接成一条链&lt;/Text&gt;&#13;&#10;    &lt;Text style={{ fontSize: 24, color: '#6B6B6B' }}&gt;独立＋互看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30, flexDirection: 'column' }}&gt;&#13;&#10;      &lt;Text style={{ fontSize: 30, color: '#1F3A34', lineHeight: 1.5 }}&gt;① 乡土性的&lt;/Text&gt;&#13;&#10;      &lt;Text style={{ fontSize: 24, color: '#B4552D', marginLeft: 12 }}&gt;↓（　　）&lt;/Text&gt;&#13;&#10;      &lt;Text style={{ fontSize: 30, color: '#1F3A34', lineHeight: 1.5 }}&gt;② 离不了泥土&lt;/Text&gt;&#13;&#10;      &lt;Text style={{ fontSize: 24, color: '#B4552D', marginLeft: 12 }}&gt;↓（　　）&lt;/Text&gt;&#13;&#10;      &lt;Text style={{ fontSize: 30, color: '#1F3A34', lineHeight: 1.5 }}&gt;③ 不流动&lt;/Text&gt;&#13;&#10;      &lt;Text style={{ fontSize: 24, color: '#B4552D', marginLeft: 12 }}&gt;↓（　　）&lt;/Text&gt;&#13;&#10;      &lt;Text style={{ fontSize: 30, color: '#1F3A34', lineHeight: 1.5 }}&gt;④ 熟人社会&lt;/Text&gt;&#13;&#10;    &lt;/Box&gt;&#13;&#10;    &lt;Box style={{ width: 420, padding: 24, background: 'rgba(31,58,52,0.06)', flexDirection: 'column' }}&gt;&#13;&#10;      &lt;Text style={{ fontSize: 26, fontWeight: 'bold', color: '#1F3A34' }}&gt;小组互看&lt;/Text&gt;&#13;&#10;      &lt;Text style={{ fontSize: 26, color: '#1F3A34', lineHeight: 1.9, marginTop: 12 }}&gt;找出对方链上“填不出因果词”的那个箭头。&lt;/Text&gt;&#13;&#10;      &lt;Text style={{ fontSize: 26, color: '#B4552D', lineHeight: 1.9, marginTop: 12 }}&gt;两个人的断点不一定在同一处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8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57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任务一：把六句接成一条链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独立＋互看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66865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①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乡土性的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23900" y="258127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↓（　　）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66865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②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离不了泥土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23900" y="3371850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↓（　　）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3648075"/>
            <a:ext cx="66865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③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不流动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3900" y="416242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↓（　　）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4438650"/>
            <a:ext cx="66865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④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熟人社会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581900" y="2162175"/>
            <a:ext cx="4000500" cy="269557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10500" y="2390775"/>
            <a:ext cx="3543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小组互看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10500" y="2809875"/>
            <a:ext cx="35433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找出对方链上“填不出因果词”的那个箭头。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10500" y="4057650"/>
            <a:ext cx="3543300" cy="5715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两个人的断点不一定在同一处。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两种常见问题&lt;/Text&gt;&#13;&#10;    &lt;Text style={{ fontSize: 24, color: '#6B6B6B' }}&gt;对照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8, background: 'rgba(180,85,45,0.08)', height: 330, flexDirection: 'column' }}&gt;&#13;&#10;      &lt;Text style={{ fontSize: 30, fontWeight: 'bold', color: '#B4552D' }}&gt;断了的链&lt;/Text&gt;&#13;&#10;      &lt;Text style={{ fontSize: 26, color: '#1F3A34', lineHeight: 2.0, marginTop: 16 }}&gt;从“乡土性”直接跳到“不流动”，中间少了一环。&lt;/Text&gt;&#13;&#10;      &lt;Text style={{ fontSize: 26, color: '#1F3A34', lineHeight: 2.0, marginTop: 8 }}&gt;这一环是什么？往书里找。&lt;/Text&gt;&#13;&#10;    &lt;/Box&gt;&#13;&#10;    &lt;Box style={{ flex: 1, padding: 28, background: 'rgba(31,58,52,0.06)', height: 330, flexDirection: 'column' }}&gt;&#13;&#10;      &lt;Text style={{ fontSize: 30, fontWeight: 'bold', color: '#1F3A34' }}&gt;全是“然后”的链&lt;/Text&gt;&#13;&#10;      &lt;Text style={{ fontSize: 26, color: '#1F3A34', lineHeight: 2.0, marginTop: 16 }}&gt;每句都顺，但只是时间顺序。&lt;/Text&gt;&#13;&#10;      &lt;Text style={{ fontSize: 26, color: '#1F3A34', lineHeight: 2.0, marginTop: 8 }}&gt;顺序不等于因果——把它换成“因为”试试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09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两种常见问题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对照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1933575"/>
            <a:ext cx="5400675" cy="3143250"/>
          </a:xfrm>
          <a:prstGeom prst="rect">
            <a:avLst/>
          </a:prstGeom>
          <a:solidFill>
            <a:srgbClr val="B4552D">
              <a:alpha val="8000"/>
            </a:srgbClr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2200275"/>
            <a:ext cx="4867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断了的链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76300" y="2695575"/>
            <a:ext cx="4867275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从“乡土性”直接跳到“不流动”，中间少了一环。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76300" y="3962400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这一环是什么？往书里找。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181725" y="1933575"/>
            <a:ext cx="5400675" cy="3143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48425" y="2200275"/>
            <a:ext cx="4867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全是“然后”的链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48425" y="2695575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每句都顺，但只是时间顺序。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448425" y="3371850"/>
            <a:ext cx="48672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顺序不等于因果——把它换成“因为”试试。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3" name="" descr="&lt;Slide style={{ background: '#F5F1E6', padding: '40px 64px', fontFamily: '宋体' }}&gt;&#13;&#10;  &lt;Image src=&quot;../课件/assets/bg_village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4)', padding: '32px 28px' }}&gt;&#13;&#10;      &lt;Text style={{ fontSize: 26, color: '#B4552D', letterSpacing: 4 }}&gt;任 务 二&lt;/Text&gt;&#13;&#10;      &lt;Text style={{ fontSize: 60, fontWeight: 'bold', color: '#1F3A34', marginTop: 12 }}&gt;给“愚”分两栏&lt;/Text&gt;&#13;&#10;      &lt;Text style={{ fontSize: 30, color: '#1F3A34', marginTop: 20 }}&gt;换个问法：要驳的，和他自己说的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" name=""/>
          <p:cNvSpPr/>
          <p:nvPr/>
        </p:nvSpPr>
        <p:spPr>
          <a:xfrm rot="0" flipH="0" flipV="0">
            <a:off x="6762750" y="2305050"/>
            <a:ext cx="4819650" cy="2247900"/>
          </a:xfrm>
          <a:prstGeom prst="rect">
            <a:avLst/>
          </a:prstGeom>
          <a:solidFill>
            <a:srgbClr val="F5F1E6">
              <a:alpha val="84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220325" y="2609850"/>
            <a:ext cx="1095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任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务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二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896225" y="3028950"/>
            <a:ext cx="341947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1F3A34"/>
                </a:solidFill>
                <a:latin typeface="宋体"/>
                <a:ea typeface="宋体"/>
              </a:rPr>
              <a:t>给“愚”分两栏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029450" y="39052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换个问法：要驳的，和他自己说的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两栏表&lt;/Text&gt;&#13;&#10;    &lt;Text style={{ fontSize: 24, color: '#6B6B6B' }}&gt;任务二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flexDirection: 'row', height: 60, alignItems: 'center', borderBottom: '2px solid #B4552D' }}&gt;&#13;&#10;      &lt;Text style={{ width: 220, fontSize: 26, fontWeight: 'bold', color: '#1F3A34' }}&gt;比什么&lt;/Text&gt;&#13;&#10;      &lt;Text style={{ flex: 1, fontSize: 26, fontWeight: 'bold', color: '#1F3A34' }}&gt;要驳的说法&lt;/Text&gt;&#13;&#10;      &lt;Text style={{ flex: 1, fontSize: 26, fontWeight: 'bold', color: '#1F3A34' }}&gt;费孝通的说法&lt;/Text&gt;&#13;&#10;    &lt;/Box&gt;&#13;&#10;    &lt;Box style={{ flexDirection: 'row', height: 300, alignItems: 'center' }}&gt;&#13;&#10;      &lt;Text style={{ width: 220, fontSize: 24, color: '#6B6B6B' }}&gt;（你来写）&lt;/Text&gt;&#13;&#10;      &lt;Text style={{ flex: 1, fontSize: 24, color: '#6B6B6B' }}&gt;&lt;/Text&gt;&#13;&#10;      &lt;Text style={{ flex: 1, fontSize: 24, color: '#6B6B6B' }}&gt;&lt;/Text&gt;&#13;&#10;    &lt;/Box&gt;&#13;&#10;    &lt;Text style={{ fontSize: 26, color: '#B4552D' }}&gt;提醒：先写左栏“比什么”，再填两边。空着“比什么”的表不算表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1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两栏表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任务二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" y="1638300"/>
            <a:ext cx="10972800" cy="571500"/>
          </a:xfrm>
          <a:custGeom>
            <a:pathLst>
              <a:path w="1152" h="60">
                <a:moveTo>
                  <a:pt x="0" y="58"/>
                </a:moveTo>
                <a:lnTo>
                  <a:pt x="1152" y="58"/>
                </a:lnTo>
                <a:lnTo>
                  <a:pt x="1152" y="60"/>
                </a:lnTo>
                <a:lnTo>
                  <a:pt x="0" y="60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比什么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705100" y="1762125"/>
            <a:ext cx="4438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要驳的说法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143750" y="1762125"/>
            <a:ext cx="4438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3A34"/>
                </a:solidFill>
                <a:latin typeface="宋体"/>
                <a:ea typeface="宋体"/>
              </a:rPr>
              <a:t>费孝通的说法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3505200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（你来写）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705100" y="3638550"/>
            <a:ext cx="44386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143750" y="3638550"/>
            <a:ext cx="443865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50673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提醒：先写左栏“比什么”，再填两边。空着“比什么”的表不算表。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三个备用维度&lt;/Text&gt;&#13;&#10;    &lt;Text style={{ fontSize: 24, color: '#6B6B6B' }}&gt;提示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三个备用维度（想不到时用）&lt;/Text&gt;&#13;&#10;    &lt;Box style={{ marginTop: 26, flexDirection: 'column' }}&gt;&#13;&#10;      &lt;Text style={{ fontSize: 28, color: '#1F3A34', lineHeight: 2.2, background: 'rgba(31,58,52,0.06)', padding: 14 }}&gt;一、“愚”是不是能力问题？&lt;/Text&gt;&#13;&#10;      &lt;Text style={{ fontSize: 28, color: '#1F3A34', lineHeight: 2.2, background: 'rgba(31,58,52,0.06)', padding: 14, marginTop: 12 }}&gt;二、乡下人缺的是什么？&lt;/Text&gt;&#13;&#10;      &lt;Text style={{ fontSize: 28, color: '#1F3A34', lineHeight: 2.2, background: 'rgba(31,58,52,0.06)', padding: 14, marginTop: 12 }}&gt;三、缺的原因是什么？&lt;/Text&gt;&#13;&#10;    &lt;/Box&gt;&#13;&#10;    &lt;Text style={{ fontSize: 26, color: '#6B6B6B', marginTop: 24 }}&gt;不必全填，填得出两边的那几行才算数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2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三个备用维度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提示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三个备用维度（想不到时用）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962150"/>
            <a:ext cx="10972800" cy="9715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97155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一、“愚”是不是能力问题？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3048000"/>
            <a:ext cx="10972800" cy="9715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10972800" cy="97155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二、乡下人缺的是什么？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4133850"/>
            <a:ext cx="10972800" cy="9715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4133850"/>
            <a:ext cx="10972800" cy="971550"/>
          </a:xfrm>
          <a:prstGeom prst="rect"/>
        </p:spPr>
        <p:txBody>
          <a:bodyPr wrap="none" lIns="100013" tIns="100013" rIns="100013" bIns="100013"/>
          <a:p>
            <a:pPr>
              <a:lnSpc>
                <a:spcPct val="220000"/>
              </a:lnSpc>
            </a:pPr>
            <a:r>
              <a:rPr lang="zh-CN" sz="210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三、缺的原因是什么？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53340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不必全填，填得出两边的那几行才算数。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12/17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判据&lt;/Text&gt;&#13;&#10;    &lt;Text style={{ fontSize: 24, color: '#6B6B6B' }}&gt;读法二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4, fontWeight: 'bold', color: '#1F3A34' }}&gt;判据：同一把尺子量两边&lt;/Text&gt;&#13;&#10;    &lt;Box style={{ marginTop: 28, borderLeft: '4px solid #B4552D', paddingLeft: 24 }}&gt;&#13;&#10;      &lt;Text style={{ fontSize: 28, color: '#1F3A34', lineHeight: 2.0 }}&gt;左边填“城里人聪明”，右边就得填“乡下人聪明吗”——&lt;/Text&gt;&#13;&#10;      &lt;Text style={{ fontSize: 28, color: '#1F3A34', lineHeight: 2.0 }}&gt;这一维问的是智力，两边都要能答。&lt;/Text&gt;&#13;&#10;      &lt;Text style={{ fontSize: 28, color: '#B4552D', lineHeight: 2.0, marginTop: 12 }}&gt;一边量不了的维度，删掉。&lt;/Text&gt;&#13;&#10;    &lt;/Box&gt;&#13;&#10;    &lt;Text style={{ fontSize: 26, color: '#6B6B6B', marginTop: 26 }}&gt;量表不是填满就算，是每一行都站得住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3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判据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读法二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判据：同一把尺子量两边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2533650"/>
            <a:ext cx="11010900" cy="2057400"/>
          </a:xfrm>
          <a:custGeom>
            <a:pathLst>
              <a:path w="1156" h="216">
                <a:moveTo>
                  <a:pt x="0" y="0"/>
                </a:moveTo>
                <a:lnTo>
                  <a:pt x="4" y="0"/>
                </a:lnTo>
                <a:lnTo>
                  <a:pt x="4" y="216"/>
                </a:lnTo>
                <a:lnTo>
                  <a:pt x="0" y="21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左边填“城里人聪明”，右边就得填“乡下人聪明吗”——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这一维问的是智力，两边都要能答。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76300" y="394335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一边量不了的维度，删掉。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48387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量表不是填满就算，是每一行都站得住。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《再论》：从空间到时间&lt;/Text&gt;&#13;&#10;    &lt;Text style={{ fontSize: 24, color: '#6B6B6B' }}&gt;任务三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color: '#1F3A34', lineHeight: 2.0 }}&gt;《文字下乡》：空间上面对面，字用不上。&lt;/Text&gt;&#13;&#10;    &lt;Text style={{ fontSize: 30, color: '#1F3A34', lineHeight: 2.0 }}&gt;《再论文字下乡》：时间上呢？&lt;/Text&gt;&#13;&#10;    &lt;Box style={{ marginTop: 26, borderLeft: '4px solid #B4552D', paddingLeft: 24 }}&gt;&#13;&#10;      &lt;Text style={{ fontSize: 28, color: '#1F3A34', lineHeight: 2.0 }}&gt;世代定居的人，经验怎么传？&lt;/Text&gt;&#13;&#10;      &lt;Text style={{ fontSize: 28, color: '#1F3A34', lineHeight: 2.0 }}&gt;传给谁？靠什么传？&lt;/Text&gt;&#13;&#10;    &lt;/Box&gt;&#13;&#10;    &lt;Text style={{ fontSize: 26, color: '#B4552D', marginTop: 24 }}&gt;在同一张表的“时间”一行补两格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4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191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《再论》：从空间到时间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《文字下乡》：空间上面对面，字用不上。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10972800" cy="6858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《再论文字下乡》：时间上呢？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3400425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76300" y="34004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世代定居的人，经验怎么传？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76300" y="404812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传给谁？靠什么传？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492442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在同一张表的“时间”一行补两格。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两个维度对照&lt;/Text&gt;&#13;&#10;    &lt;Text style={{ fontSize: 24, color: '#6B6B6B' }}&gt;任务三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6, background: 'rgba(31,58,52,0.06)', height: 300, flexDirection: 'column' }}&gt;&#13;&#10;      &lt;Text style={{ fontSize: 28, fontWeight: 'bold', color: '#B4552D' }}&gt;空间&lt;/Text&gt;&#13;&#10;      &lt;Text style={{ fontSize: 26, color: '#1F3A34', lineHeight: 2.0, marginTop: 14 }}&gt;面对面 → 字用不上&lt;/Text&gt;&#13;&#10;      &lt;Text style={{ fontSize: 26, color: '#1F3A34', lineHeight: 2.0, marginTop: 8 }}&gt;不是不识字，是用不上&lt;/Text&gt;&#13;&#10;    &lt;/Box&gt;&#13;&#10;    &lt;Box style={{ flex: 1, padding: 26, background: 'rgba(31,58,52,0.06)', height: 300, flexDirection: 'column' }}&gt;&#13;&#10;      &lt;Text style={{ fontSize: 28, fontWeight: 'bold', color: '#B4552D' }}&gt;时间&lt;/Text&gt;&#13;&#10;      &lt;Text style={{ fontSize: 26, color: '#1F3A34', lineHeight: 2.0, marginTop: 14 }}&gt;定居 → 经验口耳相传&lt;/Text&gt;&#13;&#10;      &lt;Text style={{ fontSize: 26, color: '#1F3A34', lineHeight: 2.0, marginTop: 8 }}&gt;不是不聪明，是用不上字来记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5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两个维度对照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任务三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076450"/>
            <a:ext cx="5400675" cy="28575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57250" y="2324100"/>
            <a:ext cx="4905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空间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49053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面对面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字用不上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57250" y="3457575"/>
            <a:ext cx="49053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不是不识字，是用不上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181725" y="2076450"/>
            <a:ext cx="5400675" cy="28575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429375" y="2324100"/>
            <a:ext cx="4905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时间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429375" y="2781300"/>
            <a:ext cx="49053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定居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经验口耳相传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429375" y="3457575"/>
            <a:ext cx="4905375" cy="6000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不是不聪明，是用不上字来记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小结&lt;/Text&gt;&#13;&#10;    &lt;Text style={{ fontSize: 24, color: '#6B6B6B' }}&gt;回看第一判断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6, fontWeight: 'bold', color: '#1F3A34', lineHeight: 1.8 }}&gt;愚不是智力判断，&lt;/Text&gt;&#13;&#10;    &lt;Text style={{ fontSize: 36, fontWeight: 'bold', color: '#1F3A34', lineHeight: 1.8 }}&gt;是知识在什么条件下用得上的判断。&lt;/Text&gt;&#13;&#10;    &lt;Box style={{ marginTop: 32, borderLeft: '4px solid #B4552D', paddingLeft: 24 }}&gt;&#13;&#10;      &lt;Text style={{ fontSize: 28, color: '#1F3A34', lineHeight: 1.9 }}&gt;翻开你上课写的第一判断——&lt;/Text&gt;&#13;&#10;      &lt;Text style={{ fontSize: 28, color: '#B4552D', lineHeight: 1.9, marginTop: 6 }}&gt;改没改？哪一句让你改的？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6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小结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210800" y="7905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回看第一判断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700" b="1">
                <a:solidFill>
                  <a:srgbClr val="1F3A34"/>
                </a:solidFill>
                <a:latin typeface="宋体"/>
                <a:ea typeface="宋体"/>
              </a:rPr>
              <a:t>愚不是智力判断，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700" b="1">
                <a:solidFill>
                  <a:srgbClr val="1F3A34"/>
                </a:solidFill>
                <a:latin typeface="宋体"/>
                <a:ea typeface="宋体"/>
              </a:rPr>
              <a:t>是知识在什么条件下用得上的判断。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3762375"/>
            <a:ext cx="11010900" cy="1276350"/>
          </a:xfrm>
          <a:custGeom>
            <a:pathLst>
              <a:path w="1156" h="134">
                <a:moveTo>
                  <a:pt x="0" y="0"/>
                </a:moveTo>
                <a:lnTo>
                  <a:pt x="4" y="0"/>
                </a:lnTo>
                <a:lnTo>
                  <a:pt x="4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6300" y="3762375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翻开你上课写的第一判断——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6300" y="4429125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改没改？哪一句让你改的？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作业&lt;/Text&gt;&#13;&#10;    &lt;Text style={{ fontSize: 24, color: '#6B6B6B' }}&gt;三层&lt;/Text&gt;&#13;&#10;  &lt;/Box&gt;&#13;&#10;  &lt;Box style={{ height: 472, marginTop: 20, flexDirection: 'column', position: 'relative', zIndex: 5 }}&gt;&#13;&#10;  &lt;Box style={{ height: 472, flexDirection: 'column', justifyContent: 'center' }}&gt;&#13;&#10;    &lt;Box style={{ padding: 15, background: 'rgba(31,58,52,0.06)', marginBottom: 10 }}&gt;&#13;&#10;      &lt;Text style={{ fontSize: 26, color: '#B4552D' }}&gt;基础 · 全员&lt;/Text&gt;&#13;&#10;      &lt;Text style={{ fontSize: 26, color: '#1F3A34', lineHeight: 1.8, marginTop: 6 }}&gt;读 4–7 篇，各做一张概念卡，五栏齐全&lt;/Text&gt;&#13;&#10;    &lt;/Box&gt;&#13;&#10;    &lt;Box style={{ padding: 15, background: 'rgba(31,58,52,0.06)', marginBottom: 10 }}&gt;&#13;&#10;      &lt;Text style={{ fontSize: 26, color: '#B4552D' }}&gt;提高 · 自选&lt;/Text&gt;&#13;&#10;      &lt;Text style={{ fontSize: 26, color: '#1F3A34', lineHeight: 1.8, marginTop: 6 }}&gt;把《文字下乡》接成五环以上的链&lt;/Text&gt;&#13;&#10;    &lt;/Box&gt;&#13;&#10;    &lt;Box style={{ padding: 15, background: 'rgba(31,58,52,0.06)' }}&gt;&#13;&#10;      &lt;Text style={{ fontSize: 26, color: '#B4552D' }}&gt;拓展 · 自选&lt;/Text&gt;&#13;&#10;      &lt;Text style={{ fontSize: 26, color: '#1F3A34', lineHeight: 1.8, marginTop: 6 }}&gt;找一个“不识字但很会办事”的人，用今天的表解释他&lt;/Text&gt;&#13;&#10;    &lt;/Box&gt;&#13;&#10;    &lt;Text style={{ fontSize: 26, color: '#6B6B6B', marginTop: 20 }}&gt;下周读第 4 篇，你会发现接不起来——为什么，下节课说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2 课时&lt;/Text&gt;&#13;&#10;    &lt;Text style={{ fontSize: 24, color: '#B4552D' }}&gt;17/17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作业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三层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138112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52475" y="152400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基础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全员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2475" y="188595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读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4–7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篇，各做一张概念卡，五栏齐全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2667000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52475" y="2809875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提高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52475" y="3171825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把《文字下乡》接成五环以上的链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3952875"/>
            <a:ext cx="10972800" cy="1190625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52475" y="4095750"/>
            <a:ext cx="1068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拓展</a:t>
            </a:r>
            <a:r>
              <a:rPr lang="en-US" sz="1950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自选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52475" y="4457700"/>
            <a:ext cx="10687050" cy="5429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找一个“不识字但很会办事”的人，用今天的表解释他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53340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下周读第</a:t>
            </a:r>
            <a:r>
              <a:rPr lang="en-US" sz="1950">
                <a:solidFill>
                  <a:srgbClr val="6B6B6B"/>
                </a:solidFill>
                <a:latin typeface="宋体"/>
                <a:ea typeface="宋体"/>
              </a:rPr>
              <a:t xml:space="preserve"> 4 </a:t>
            </a: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篇，你会发现接不起来——为什么，下节课说。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2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17/17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2026-10-26T21:05:03Z</dcterms:created>
  <dcterms:modified xsi:type="dcterms:W3CDTF">2026-10-26T21:05:03Z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{"AIGC":{"Label":"1","ContentProducer":"00119111010856365494821B355","ProduceID":"01a17819c8fa781eb2a174b2c3a85ac7","ReservedCode1":"","ContentPropagator":"00119111010856365494821B355","PropagateID":"01a17819c8fa781eb2a174b2c3a85ac7","ReservedCode2":""}}</vt:lpwstr>
  </property>
</Properties>
</file>