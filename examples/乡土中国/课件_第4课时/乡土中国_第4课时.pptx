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7" Type="http://schemas.openxmlformats.org/officeDocument/2006/relationships/slide" Target="slides/slide17.xml" /><Relationship Id="rId1" Type="http://schemas.openxmlformats.org/officeDocument/2006/relationships/slide" Target="slides/slide1.xml" /><Relationship Id="rId7" Type="http://schemas.openxmlformats.org/officeDocument/2006/relationships/slide" Target="slides/slide7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2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notesMaster" Target="notesMasters/notesMaster1.xml" /><Relationship Id="rId21" Type="http://schemas.openxmlformats.org/officeDocument/2006/relationships/presProps" Target="presProps.xml" /><Relationship Id="rId23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background: '#F5F1E6', padding: '40px 64px', fontFamily: '宋体' }}&gt;&#13;&#10;  &lt;Image src=&quot;../课件/assets/bg_fields.jpg&quot; style={{ position: 'absolute', top: 0, left: 0, width: 1280, height: 720, objectFit: 'cover' }} /&gt;&#13;&#10;  &lt;Box style={{ height: 560, flexDirection: 'row', alignItems: 'center', position: 'relative', zIndex: 5 }}&gt;&#13;&#10;    &lt;Box style={{ width: 700, background: 'rgba(245,241,230,0.9)', padding: '44px 36px 44px 32px', flexDirection: 'column', borderLeft: '6px solid #B4552D' }}&gt;&#13;&#10;      &lt;Text style={{ fontSize: 56, fontWeight: 'bold', color: '#1F3A34', lineHeight: 1.3 }}&gt;《乡土中国》&lt;/Text&gt;&#13;&#10;      &lt;Text style={{ fontSize: 34, color: '#1F3A34', marginTop: 14 }}&gt;第 4 课时 · 推进课&lt;/Text&gt;&#13;&#10;      &lt;Text style={{ fontSize: 30, color: '#B4552D', marginTop: 26 }}&gt;统整后七篇：礼治与权力&lt;/Text&gt;&#13;&#10;    &lt;/Box&gt;&#13;&#10;  &lt;/Box&gt;&#13;&#10;  &lt;Box style={{ height: 46, borderTop: '1px solid rgba(31,58,52,0.2)', flexDirection: 'row', justifyContent: 'space-between', alignItems: 'center', paddingTop: 8, position: 'relative', zIndex: 5, background: 'rgba(245,241,230,0.92)', paddingLeft: 12, paddingRight: 12 }}&gt;&#13;&#10;    &lt;Text style={{ fontSize: 24, color: '#6B6B6B' }}&gt;统编版必修上 · 第五单元&lt;/Text&gt;&#13;&#10;    &lt;Text style={{ fontSize: 24, color: '#B4552D' }}&gt;01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5808" r="0" b="580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66750" y="1657350"/>
            <a:ext cx="6610350" cy="2790825"/>
          </a:xfrm>
          <a:prstGeom prst="rect">
            <a:avLst/>
          </a:prstGeom>
          <a:solidFill>
            <a:srgbClr val="F5F1E6">
              <a:alpha val="9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1657350"/>
            <a:ext cx="6667500" cy="2790825"/>
          </a:xfrm>
          <a:custGeom>
            <a:pathLst>
              <a:path w="700" h="293">
                <a:moveTo>
                  <a:pt x="0" y="0"/>
                </a:moveTo>
                <a:lnTo>
                  <a:pt x="6" y="0"/>
                </a:lnTo>
                <a:lnTo>
                  <a:pt x="6" y="293"/>
                </a:lnTo>
                <a:lnTo>
                  <a:pt x="0" y="293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71550" y="2076450"/>
            <a:ext cx="5962650" cy="8382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4200" b="1">
                <a:solidFill>
                  <a:srgbClr val="1F3A34"/>
                </a:solidFill>
                <a:latin typeface="宋体"/>
                <a:ea typeface="宋体"/>
              </a:rPr>
              <a:t>《乡土中国》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71550" y="3048000"/>
            <a:ext cx="5962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第</a:t>
            </a:r>
            <a:r>
              <a:rPr lang="en-US" sz="2550">
                <a:solidFill>
                  <a:srgbClr val="1F3A34"/>
                </a:solidFill>
                <a:latin typeface="宋体"/>
                <a:ea typeface="宋体"/>
              </a:rPr>
              <a:t xml:space="preserve"> 4 </a:t>
            </a: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课时</a:t>
            </a:r>
            <a:r>
              <a:rPr lang="en-US" sz="255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推进课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71550" y="3686175"/>
            <a:ext cx="5962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B4552D"/>
                </a:solidFill>
                <a:latin typeface="宋体"/>
                <a:ea typeface="宋体"/>
              </a:rPr>
              <a:t>统整后七篇：礼治与权力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5724525"/>
            <a:ext cx="10972800" cy="428625"/>
          </a:xfrm>
          <a:prstGeom prst="rect">
            <a:avLst/>
          </a:prstGeom>
          <a:solidFill>
            <a:srgbClr val="F5F1E6">
              <a:alpha val="92000"/>
            </a:srgbClr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609600" y="5715000"/>
            <a:ext cx="10972800" cy="438150"/>
          </a:xfrm>
          <a:custGeom>
            <a:pathLst>
              <a:path w="1152" h="4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统编版必修上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第五单元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877550" y="5838825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01/19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35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上周的结构图&lt;/Text&gt;&#13;&#10;    &lt;Text style={{ fontSize: 24, color: '#6B6B6B' }}&gt;导入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28, color: '#1F3A34', lineHeight: 2.0 }}&gt;上节课的结构图上，有一条线是从“差序格局”连到“礼治”的。&lt;/Text&gt;&#13;&#10;    &lt;Box style={{ marginTop: 24, borderLeft: '4px solid #B4552D', paddingLeft: 24 }}&gt;&#13;&#10;      &lt;Text style={{ fontSize: 30, color: '#1F3A34', lineHeight: 2.0 }}&gt;今天专门看这条线：&lt;/Text&gt;&#13;&#10;      &lt;Text style={{ fontSize: 30, color: '#B4552D', lineHeight: 2.0, marginTop: 6 }}&gt;礼治为什么长在差序格局上？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02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上周的结构图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导入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2352675"/>
            <a:ext cx="109728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上节课的结构图上，有一条线是从“差序格局”连到“礼治”的。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09600" y="3228975"/>
            <a:ext cx="11010900" cy="1428750"/>
          </a:xfrm>
          <a:custGeom>
            <a:pathLst>
              <a:path w="1156" h="150">
                <a:moveTo>
                  <a:pt x="0" y="0"/>
                </a:moveTo>
                <a:lnTo>
                  <a:pt x="4" y="0"/>
                </a:lnTo>
                <a:lnTo>
                  <a:pt x="4" y="150"/>
                </a:lnTo>
                <a:lnTo>
                  <a:pt x="0" y="150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76300" y="3228975"/>
            <a:ext cx="10706100" cy="6858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今天专门看这条线：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76300" y="3971925"/>
            <a:ext cx="10706100" cy="6858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250">
                <a:solidFill>
                  <a:srgbClr val="B4552D"/>
                </a:solidFill>
                <a:latin typeface="宋体"/>
                <a:ea typeface="宋体"/>
              </a:rPr>
              <a:t>礼治为什么长在差序格局上？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02/19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4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主问题&lt;/Text&gt;&#13;&#10;    &lt;Text style={{ fontSize: 24, color: '#6B6B6B' }}&gt;&lt;/Text&gt;&#13;&#10;  &lt;/Box&gt;&#13;&#10;  &lt;Box style={{ height: 472, marginTop: 20, flexDirection: 'column', position: 'relative', zIndex: 5 }}&gt;&#13;&#10;  &lt;Box style={{ height: 472, justifyContent: 'center', flexDirection: 'column' }}&gt;&#13;&#10;    &lt;Text style={{ fontSize: 52, fontWeight: 'bold', color: '#1F3A34', lineHeight: 1.55 }}&gt;礼治与法治，&lt;/Text&gt;&#13;&#10;    &lt;Text style={{ fontSize: 52, fontWeight: 'bold', color: '#1F3A34', lineHeight: 1.55 }}&gt;差的是“有没有法”吗？&lt;/Text&gt;&#13;&#10;    &lt;Box style={{ marginTop: 36, borderLeft: '4px solid #B4552D', paddingLeft: 24 }}&gt;&#13;&#10;      &lt;Text style={{ fontSize: 28, color: '#1F3A34' }}&gt;先写下你的答案——多半会改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03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143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主问题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582400" y="1066800"/>
            <a:ext cx="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2247900"/>
            <a:ext cx="109728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3900" b="1">
                <a:solidFill>
                  <a:srgbClr val="1F3A34"/>
                </a:solidFill>
                <a:latin typeface="宋体"/>
                <a:ea typeface="宋体"/>
              </a:rPr>
              <a:t>礼治与法治，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109728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3900" b="1">
                <a:solidFill>
                  <a:srgbClr val="1F3A34"/>
                </a:solidFill>
                <a:latin typeface="宋体"/>
                <a:ea typeface="宋体"/>
              </a:rPr>
              <a:t>差的是“有没有法”吗？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9600" y="4438650"/>
            <a:ext cx="11010900" cy="323850"/>
          </a:xfrm>
          <a:custGeom>
            <a:pathLst>
              <a:path w="1156" h="34">
                <a:moveTo>
                  <a:pt x="0" y="0"/>
                </a:moveTo>
                <a:lnTo>
                  <a:pt x="4" y="0"/>
                </a:lnTo>
                <a:lnTo>
                  <a:pt x="4" y="34"/>
                </a:lnTo>
                <a:lnTo>
                  <a:pt x="0" y="3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76300" y="4438650"/>
            <a:ext cx="10706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先写下你的答案——多半会改。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03/19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57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今天只做三件事&lt;/Text&gt;&#13;&#10;    &lt;Text style={{ fontSize: 24, color: '#6B6B6B' }}&gt;七篇的安排&lt;/Text&gt;&#13;&#10;  &lt;/Box&gt;&#13;&#10;  &lt;Box style={{ height: 472, marginTop: 20, flexDirection: 'column', position: 'relative', zIndex: 5 }}&gt;&#13;&#10;  &lt;Box style={{ flexDirection: 'row', height: 472, alignItems: 'center' }}&gt;&#13;&#10;    &lt;Box style={{ flex: 1, marginRight: 18, padding: 26, background: 'rgba(31,58,52,0.06)', height: 310, flexDirection: 'column' }}&gt;&#13;&#10;      &lt;Text style={{ fontSize: 25, color: '#B4552D' }}&gt;精处理 · 33 分钟&lt;/Text&gt;&#13;&#10;      &lt;Text style={{ fontSize: 30, fontWeight: 'bold', color: '#1F3A34', marginTop: 14, lineHeight: 1.5 }}&gt;8 礼治秩序（分维）&amp;#10;9 无讼（找例）&amp;#10;10–11 权力（接龙）&lt;/Text&gt;&#13;&#10;      &lt;Text style={{ fontSize: 24, color: '#1F3A34', lineHeight: 1.7, marginTop: 12 }}&gt;三篇做透，每篇一种读法&lt;/Text&gt;&#13;&#10;    &lt;/Box&gt;&#13;&#10;    &lt;Box style={{ flex: 1, marginRight: 18, padding: 26, background: 'rgba(31,58,52,0.06)', height: 310, flexDirection: 'column' }}&gt;&#13;&#10;      &lt;Text style={{ fontSize: 25, color: '#B4552D' }}&gt;快速核对 · 8 分钟&lt;/Text&gt;&#13;&#10;      &lt;Text style={{ fontSize: 30, fontWeight: 'bold', color: '#1F3A34', marginTop: 14, lineHeight: 1.5 }}&gt;12 血缘和地缘&amp;#10;13 名实分离&amp;#10;14 从欲望到需要&lt;/Text&gt;&#13;&#10;      &lt;Text style={{ fontSize: 24, color: '#1F3A34', lineHeight: 1.7, marginTop: 12 }}&gt;每篇一句话报读法与理由&lt;/Text&gt;&#13;&#10;    &lt;/Box&gt;&#13;&#10;    &lt;Box style={{ flex: 1, padding: 26, background: 'rgba(31,58,52,0.06)', height: 310, flexDirection: 'column' }}&gt;&#13;&#10;      &lt;Text style={{ fontSize: 25, color: '#B4552D' }}&gt;修订 · 4 分钟&lt;/Text&gt;&#13;&#10;      &lt;Text style={{ fontSize: 30, fontWeight: 'bold', color: '#1F3A34', marginTop: 14 }}&gt;只改一处&lt;/Text&gt;&#13;&#10;      &lt;Text style={{ fontSize: 24, color: '#1F3A34', lineHeight: 1.7, marginTop: 12 }}&gt;分派表上被说服的那一处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04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667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今天只做三件事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七篇的安排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5725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精处理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33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57250" y="2695575"/>
            <a:ext cx="3048000" cy="1543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2250" b="1">
                <a:solidFill>
                  <a:srgbClr val="1F3A34"/>
                </a:solidFill>
                <a:latin typeface="宋体"/>
                <a:ea typeface="宋体"/>
              </a:rPr>
              <a:t xml:space="preserve">8 </a:t>
            </a: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礼治秩序（分维）</a:t>
            </a:r>
            <a:r>
              <a:rPr lang="en-US" sz="2250" b="1">
                <a:solidFill>
                  <a:srgbClr val="1F3A34"/>
                </a:solidFill>
                <a:latin typeface="宋体"/>
                <a:ea typeface="宋体"/>
              </a:rPr>
              <a:t xml:space="preserve"> 9 </a:t>
            </a: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无讼（找例）</a:t>
            </a:r>
            <a:r>
              <a:rPr lang="en-US" sz="2250" b="1">
                <a:solidFill>
                  <a:srgbClr val="1F3A34"/>
                </a:solidFill>
                <a:latin typeface="宋体"/>
                <a:ea typeface="宋体"/>
              </a:rPr>
              <a:t xml:space="preserve"> 10–11 </a:t>
            </a: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权力（接龙）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57250" y="4352925"/>
            <a:ext cx="3048000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三篇做透，每篇一种读法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32435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57200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快速核对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8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572000" y="2695575"/>
            <a:ext cx="30480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2250" b="1">
                <a:solidFill>
                  <a:srgbClr val="1F3A34"/>
                </a:solidFill>
                <a:latin typeface="宋体"/>
                <a:ea typeface="宋体"/>
              </a:rPr>
              <a:t xml:space="preserve">12 </a:t>
            </a: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血缘和地缘</a:t>
            </a:r>
            <a:r>
              <a:rPr lang="en-US" sz="2250" b="1">
                <a:solidFill>
                  <a:srgbClr val="1F3A34"/>
                </a:solidFill>
                <a:latin typeface="宋体"/>
                <a:ea typeface="宋体"/>
              </a:rPr>
              <a:t xml:space="preserve"> 13 </a:t>
            </a: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名实分离</a:t>
            </a:r>
            <a:r>
              <a:rPr lang="en-US" sz="2250" b="1">
                <a:solidFill>
                  <a:srgbClr val="1F3A34"/>
                </a:solidFill>
                <a:latin typeface="宋体"/>
                <a:ea typeface="宋体"/>
              </a:rPr>
              <a:t xml:space="preserve"> 14 </a:t>
            </a: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从欲望到需要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572000" y="3838575"/>
            <a:ext cx="3048000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每篇一句话报读法与理由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803910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28675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修订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4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286750" y="269557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只改一处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286750" y="3152775"/>
            <a:ext cx="3048000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分派表上被说服的那一处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04/19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7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快速核对 ①&lt;/Text&gt;&#13;&#10;    &lt;Text style={{ fontSize: 24, color: '#6B6B6B' }}&gt;12 血缘和地缘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28, fontWeight: 'bold', color: '#1F3A34' }}&gt;快速核对 ①　12 血缘和地缘&lt;/Text&gt;&#13;&#10;    &lt;Box style={{ marginTop: 22, borderLeft: '4px solid #B4552D', paddingLeft: 24 }}&gt;&#13;&#10;      &lt;Text style={{ fontSize: 28, color: '#1F3A34', lineHeight: 2.0 }}&gt;它讲的是什么关系的两栏？&lt;/Text&gt;&#13;&#10;      &lt;Text style={{ fontSize: 28, color: '#B4552D', lineHeight: 2.0, marginTop: 8 }}&gt;你配的是哪种读法？凭哪一句？&lt;/Text&gt;&#13;&#10;    &lt;/Box&gt;&#13;&#10;    &lt;Text style={{ fontSize: 25, color: '#6B6B6B', marginTop: 24 }}&gt;一组一句话报完就换，不展开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05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0193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快速核对</a:t>
            </a:r>
            <a:r>
              <a:rPr lang="en-US" sz="3000" b="1">
                <a:solidFill>
                  <a:srgbClr val="1F3A34"/>
                </a:solidFill>
                <a:latin typeface="宋体"/>
                <a:ea typeface="宋体"/>
              </a:rPr>
              <a:t xml:space="preserve"> ①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0115550" y="790575"/>
            <a:ext cx="1466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12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血缘和地缘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快速核对</a:t>
            </a:r>
            <a:r>
              <a:rPr lang="en-US" sz="2100" b="1">
                <a:solidFill>
                  <a:srgbClr val="1F3A34"/>
                </a:solidFill>
                <a:latin typeface="宋体"/>
                <a:ea typeface="宋体"/>
              </a:rPr>
              <a:t xml:space="preserve"> ①</a:t>
            </a: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　</a:t>
            </a:r>
            <a:r>
              <a:rPr lang="en-US" sz="2100" b="1">
                <a:solidFill>
                  <a:srgbClr val="1F3A34"/>
                </a:solidFill>
                <a:latin typeface="宋体"/>
                <a:ea typeface="宋体"/>
              </a:rPr>
              <a:t xml:space="preserve">12 </a:t>
            </a: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血缘和地缘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2828925"/>
            <a:ext cx="11010900" cy="1371600"/>
          </a:xfrm>
          <a:custGeom>
            <a:pathLst>
              <a:path w="1156" h="144">
                <a:moveTo>
                  <a:pt x="0" y="0"/>
                </a:moveTo>
                <a:lnTo>
                  <a:pt x="4" y="0"/>
                </a:lnTo>
                <a:lnTo>
                  <a:pt x="4" y="144"/>
                </a:lnTo>
                <a:lnTo>
                  <a:pt x="0" y="14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76300" y="282892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它讲的是什么关系的两栏？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76300" y="355282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你配的是哪种读法？凭哪一句？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09600" y="4429125"/>
            <a:ext cx="10972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6B6B6B"/>
                </a:solidFill>
                <a:latin typeface="宋体"/>
                <a:ea typeface="宋体"/>
              </a:rPr>
              <a:t>一组一句话报完就换，不展开。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05/19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88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快速核对 ②&lt;/Text&gt;&#13;&#10;    &lt;Text style={{ fontSize: 24, color: '#6B6B6B' }}&gt;13 名实分离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28, fontWeight: 'bold', color: '#1F3A34' }}&gt;快速核对 ②　13 名实分离&lt;/Text&gt;&#13;&#10;    &lt;Box style={{ marginTop: 22, borderLeft: '4px solid #B4552D', paddingLeft: 24 }}&gt;&#13;&#10;      &lt;Text style={{ fontSize: 28, color: '#1F3A34', lineHeight: 2.0 }}&gt;这一篇靠什么把人说服——推理，还是例子？&lt;/Text&gt;&#13;&#10;      &lt;Text style={{ fontSize: 28, color: '#B4552D', lineHeight: 2.0, marginTop: 8 }}&gt;想想《啥是佩奇》：它是哪一种的当代样本？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06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0193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快速核对</a:t>
            </a:r>
            <a:r>
              <a:rPr lang="en-US" sz="3000" b="1">
                <a:solidFill>
                  <a:srgbClr val="1F3A34"/>
                </a:solidFill>
                <a:latin typeface="宋体"/>
                <a:ea typeface="宋体"/>
              </a:rPr>
              <a:t xml:space="preserve"> ②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0344150" y="790575"/>
            <a:ext cx="1238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13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名实分离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2552700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快速核对</a:t>
            </a:r>
            <a:r>
              <a:rPr lang="en-US" sz="2100" b="1">
                <a:solidFill>
                  <a:srgbClr val="1F3A34"/>
                </a:solidFill>
                <a:latin typeface="宋体"/>
                <a:ea typeface="宋体"/>
              </a:rPr>
              <a:t xml:space="preserve"> ②</a:t>
            </a: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　</a:t>
            </a:r>
            <a:r>
              <a:rPr lang="en-US" sz="2100" b="1">
                <a:solidFill>
                  <a:srgbClr val="1F3A34"/>
                </a:solidFill>
                <a:latin typeface="宋体"/>
                <a:ea typeface="宋体"/>
              </a:rPr>
              <a:t xml:space="preserve">13 </a:t>
            </a: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名实分离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3086100"/>
            <a:ext cx="11010900" cy="1371600"/>
          </a:xfrm>
          <a:custGeom>
            <a:pathLst>
              <a:path w="1156" h="144">
                <a:moveTo>
                  <a:pt x="0" y="0"/>
                </a:moveTo>
                <a:lnTo>
                  <a:pt x="4" y="0"/>
                </a:lnTo>
                <a:lnTo>
                  <a:pt x="4" y="144"/>
                </a:lnTo>
                <a:lnTo>
                  <a:pt x="0" y="14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76300" y="308610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这一篇靠什么把人说服——推理，还是例子？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76300" y="381000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想想《啥是佩奇》：它是哪一种的当代样本？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06/19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99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快速核对 ③&lt;/Text&gt;&#13;&#10;    &lt;Text style={{ fontSize: 24, color: '#6B6B6B' }}&gt;14 从欲望到需要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28, fontWeight: 'bold', color: '#1F3A34' }}&gt;快速核对 ③　14 从欲望到需要&lt;/Text&gt;&#13;&#10;    &lt;Box style={{ marginTop: 22, borderLeft: '4px solid #B4552D', paddingLeft: 24 }}&gt;&#13;&#10;      &lt;Text style={{ fontSize: 28, color: '#1F3A34', lineHeight: 2.0 }}&gt;“从欲望到需要是社会变迁中一个很重要的里程碑。”&lt;/Text&gt;&#13;&#10;      &lt;Text style={{ fontSize: 28, color: '#B4552D', lineHeight: 2.0, marginTop: 8 }}&gt;这句是推出来的，还是举出来的？&lt;/Text&gt;&#13;&#10;    &lt;/Box&gt;&#13;&#10;    &lt;Text style={{ fontSize: 25, color: '#6B6B6B', marginTop: 24 }}&gt;核对完请翻到自己的分派表，等下要改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07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0193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快速核对</a:t>
            </a:r>
            <a:r>
              <a:rPr lang="en-US" sz="3000" b="1">
                <a:solidFill>
                  <a:srgbClr val="1F3A34"/>
                </a:solidFill>
                <a:latin typeface="宋体"/>
                <a:ea typeface="宋体"/>
              </a:rPr>
              <a:t xml:space="preserve"> ③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9886950" y="790575"/>
            <a:ext cx="1695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14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从欲望到需要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快速核对</a:t>
            </a:r>
            <a:r>
              <a:rPr lang="en-US" sz="2100" b="1">
                <a:solidFill>
                  <a:srgbClr val="1F3A34"/>
                </a:solidFill>
                <a:latin typeface="宋体"/>
                <a:ea typeface="宋体"/>
              </a:rPr>
              <a:t xml:space="preserve"> ③</a:t>
            </a: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　</a:t>
            </a:r>
            <a:r>
              <a:rPr lang="en-US" sz="2100" b="1">
                <a:solidFill>
                  <a:srgbClr val="1F3A34"/>
                </a:solidFill>
                <a:latin typeface="宋体"/>
                <a:ea typeface="宋体"/>
              </a:rPr>
              <a:t xml:space="preserve">14 </a:t>
            </a: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从欲望到需要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2828925"/>
            <a:ext cx="11010900" cy="1371600"/>
          </a:xfrm>
          <a:custGeom>
            <a:pathLst>
              <a:path w="1156" h="144">
                <a:moveTo>
                  <a:pt x="0" y="0"/>
                </a:moveTo>
                <a:lnTo>
                  <a:pt x="4" y="0"/>
                </a:lnTo>
                <a:lnTo>
                  <a:pt x="4" y="144"/>
                </a:lnTo>
                <a:lnTo>
                  <a:pt x="0" y="14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76300" y="282892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“从欲望到需要是社会变迁中一个很重要的里程碑。”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76300" y="355282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这句是推出来的，还是举出来的？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4429125"/>
            <a:ext cx="10972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6B6B6B"/>
                </a:solidFill>
                <a:latin typeface="宋体"/>
                <a:ea typeface="宋体"/>
              </a:rPr>
              <a:t>核对完请翻到自己的分派表，等下要改。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07/19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11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任务一：礼治 / 法治 两栏&lt;/Text&gt;&#13;&#10;    &lt;Text style={{ fontSize: 24, color: '#6B6B6B' }}&gt;读法二&lt;/Text&gt;&#13;&#10;  &lt;/Box&gt;&#13;&#10;  &lt;Box style={{ height: 472, marginTop: 20, flexDirection: 'column', position: 'relative', zIndex: 5 }}&gt;&#13;&#10;  &lt;Box style={{ height: 472, flexDirection: 'column', justifyContent: 'center' }}&gt;&#13;&#10;    &lt;Box style={{ flexDirection: 'row', height: 60, alignItems: 'center', borderBottom: '2px solid #B4552D' }}&gt;&#13;&#10;      &lt;Text style={{ width: 220, fontSize: 26, fontWeight: 'bold', color: '#1F3A34' }}&gt;比什么&lt;/Text&gt;&#13;&#10;      &lt;Text style={{ flex: 1, fontSize: 26, fontWeight: 'bold', color: '#1F3A34' }}&gt;礼治&lt;/Text&gt;&#13;&#10;      &lt;Text style={{ flex: 1, fontSize: 26, fontWeight: 'bold', color: '#1F3A34' }}&gt;法治&lt;/Text&gt;&#13;&#10;    &lt;/Box&gt;&#13;&#10;    &lt;Box style={{ flexDirection: 'row', height: 260, alignItems: 'center' }}&gt;&#13;&#10;      &lt;Text style={{ width: 220, fontSize: 24, color: '#6B6B6B' }}&gt;规矩是什么／&amp;#10;靠谁执行／&amp;#10;力量从哪来&lt;/Text&gt;&#13;&#10;      &lt;Text style={{ flex: 1 }}&gt;&lt;/Text&gt;&#13;&#10;      &lt;Text style={{ flex: 1 }}&gt;&lt;/Text&gt;&#13;&#10;    &lt;/Box&gt;&#13;&#10;    &lt;Text style={{ fontSize: 26, color: '#B4552D' }}&gt;先写“比什么”。最后一行“代价是什么”今天不填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08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4371975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任务一：礼治</a:t>
            </a:r>
            <a:r>
              <a:rPr lang="en-US" sz="3000" b="1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法治</a:t>
            </a:r>
            <a:r>
              <a:rPr lang="en-US" sz="3000" b="1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两栏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读法二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1828800"/>
            <a:ext cx="10972800" cy="571500"/>
          </a:xfrm>
          <a:custGeom>
            <a:pathLst>
              <a:path w="1152" h="60">
                <a:moveTo>
                  <a:pt x="0" y="58"/>
                </a:moveTo>
                <a:lnTo>
                  <a:pt x="1152" y="58"/>
                </a:lnTo>
                <a:lnTo>
                  <a:pt x="1152" y="60"/>
                </a:lnTo>
                <a:lnTo>
                  <a:pt x="0" y="60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2095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比什么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2705100" y="1952625"/>
            <a:ext cx="4438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礼治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143750" y="1952625"/>
            <a:ext cx="4438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法治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2095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规矩是什么／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靠谁执行／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力量从哪来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2705100" y="3638550"/>
            <a:ext cx="443865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143750" y="3638550"/>
            <a:ext cx="443865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487680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先写“比什么”。最后一行“代价是什么”今天不填。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08/19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2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四个维度提示&lt;/Text&gt;&#13;&#10;    &lt;Text style={{ fontSize: 24, color: '#6B6B6B' }}&gt;任务一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1F3A34' }}&gt;四个维度提示（想不到时用）&lt;/Text&gt;&#13;&#10;    &lt;Box style={{ marginTop: 22, flexDirection: 'column' }}&gt;&#13;&#10;      &lt;Text style={{ fontSize: 27, color: '#1F3A34', lineHeight: 2.0, background: 'rgba(31,58,52,0.06)', padding: 12 }}&gt;一、规矩是什么（礼也是一套规矩）&lt;/Text&gt;&#13;&#10;      &lt;Text style={{ fontSize: 27, color: '#1F3A34', lineHeight: 2.0, background: 'rgba(31,58,52,0.06)', padding: 12, marginTop: 10 }}&gt;二、靠谁执行——国家，还是每个人自己&lt;/Text&gt;&#13;&#10;      &lt;Text style={{ fontSize: 27, color: '#1F3A34', lineHeight: 2.0, background: 'rgba(31,58,52,0.06)', padding: 12, marginTop: 10 }}&gt;三、力量从哪来——传统与教化，还是强制&lt;/Text&gt;&#13;&#10;      &lt;Text style={{ fontSize: 27, color: '#1F3A34', lineHeight: 2.0, background: 'rgba(31,58,52,0.06)', padding: 12, marginTop: 10 }}&gt;四、代价是什么（今天不填）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09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四个维度提示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任务一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09600" y="1390650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四个维度提示（想不到时用）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1943100"/>
            <a:ext cx="10972800" cy="8477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1943100"/>
            <a:ext cx="10972800" cy="847725"/>
          </a:xfrm>
          <a:prstGeom prst="rect"/>
        </p:spPr>
        <p:txBody>
          <a:bodyPr wrap="none" lIns="85725" tIns="85725" rIns="85725" bIns="85725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一、规矩是什么（礼也是一套规矩）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09600" y="2886075"/>
            <a:ext cx="10972800" cy="8477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847725"/>
          </a:xfrm>
          <a:prstGeom prst="rect"/>
        </p:spPr>
        <p:txBody>
          <a:bodyPr wrap="none" lIns="85725" tIns="85725" rIns="85725" bIns="85725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二、靠谁执行——国家，还是每个人自己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3829050"/>
            <a:ext cx="10972800" cy="8477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3829050"/>
            <a:ext cx="10972800" cy="847725"/>
          </a:xfrm>
          <a:prstGeom prst="rect"/>
        </p:spPr>
        <p:txBody>
          <a:bodyPr wrap="none" lIns="85725" tIns="85725" rIns="85725" bIns="85725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三、力量从哪来——传统与教化，还是强制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4772025"/>
            <a:ext cx="10972800" cy="8477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4772025"/>
            <a:ext cx="10972800" cy="847725"/>
          </a:xfrm>
          <a:prstGeom prst="rect"/>
        </p:spPr>
        <p:txBody>
          <a:bodyPr wrap="none" lIns="85725" tIns="85725" rIns="85725" bIns="85725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四、代价是什么（今天不填）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09/19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关键一问&lt;/Text&gt;&#13;&#10;    &lt;Text style={{ fontSize: 24, color: '#6B6B6B' }}&gt;任务一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4, fontWeight: 'bold', color: '#1F3A34' }}&gt;关键一问&lt;/Text&gt;&#13;&#10;    &lt;Text style={{ fontSize: 44, fontWeight: 'bold', color: '#B4552D', lineHeight: 1.6, marginTop: 20 }}&gt;礼治有没有规矩？&lt;/Text&gt;&#13;&#10;    &lt;Box style={{ marginTop: 30, borderLeft: '4px solid #B4552D', paddingLeft: 24 }}&gt;&#13;&#10;      &lt;Text style={{ fontSize: 28, color: '#1F3A34', lineHeight: 2.0 }}&gt;礼就是一套规矩。那它和法差在哪一步——&lt;/Text&gt;&#13;&#10;      &lt;Text style={{ fontSize: 28, color: '#1F3A34', lineHeight: 2.0 }}&gt;是有没有规矩，还是谁执行、靠什么执行？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10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524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关键一问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任务一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关键一问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10972800" cy="809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3300" b="1">
                <a:solidFill>
                  <a:srgbClr val="B4552D"/>
                </a:solidFill>
                <a:latin typeface="宋体"/>
                <a:ea typeface="宋体"/>
              </a:rPr>
              <a:t>礼治有没有规矩？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3695700"/>
            <a:ext cx="11010900" cy="1295400"/>
          </a:xfrm>
          <a:custGeom>
            <a:pathLst>
              <a:path w="1156" h="136">
                <a:moveTo>
                  <a:pt x="0" y="0"/>
                </a:moveTo>
                <a:lnTo>
                  <a:pt x="4" y="0"/>
                </a:lnTo>
                <a:lnTo>
                  <a:pt x="4" y="136"/>
                </a:lnTo>
                <a:lnTo>
                  <a:pt x="0" y="13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76300" y="369570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礼就是一套规矩。那它和法差在哪一步——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76300" y="434340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是有没有规矩，还是谁执行、靠什么执行？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10/19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5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自治与他治&lt;/Text&gt;&#13;&#10;    &lt;Text style={{ fontSize: 24, color: '#6B6B6B' }}&gt;第 8 篇落点&lt;/Text&gt;&#13;&#10;  &lt;/Box&gt;&#13;&#10;  &lt;Box style={{ height: 472, marginTop: 20, flexDirection: 'column', position: 'relative', zIndex: 5 }}&gt;&#13;&#10;  &lt;Box style={{ height: 472, justifyContent: 'center', flexDirection: 'column' }}&gt;&#13;&#10;    &lt;Text style={{ fontSize: 48, fontWeight: 'bold', color: '#1F3A34', lineHeight: 1.9 }}&gt;依礼而“自”治&lt;/Text&gt;&#13;&#10;    &lt;Text style={{ fontSize: 48, fontWeight: 'bold', color: '#B4552D', lineHeight: 1.9, marginTop: 14 }}&gt;依法而“他”治&lt;/Text&gt;&#13;&#10;    &lt;Text style={{ fontSize: 26, color: '#6B6B6B', marginTop: 30 }}&gt;第 8 篇。差别落在两个引号字上：一个自己管自己，一个别人来管你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11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905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自治与他治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0391775" y="790575"/>
            <a:ext cx="1190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8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篇落点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2095500"/>
            <a:ext cx="109728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3600" b="1">
                <a:solidFill>
                  <a:srgbClr val="1F3A34"/>
                </a:solidFill>
                <a:latin typeface="宋体"/>
                <a:ea typeface="宋体"/>
              </a:rPr>
              <a:t>依礼而“自”治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3276600"/>
            <a:ext cx="109728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3600" b="1">
                <a:solidFill>
                  <a:srgbClr val="B4552D"/>
                </a:solidFill>
                <a:latin typeface="宋体"/>
                <a:ea typeface="宋体"/>
              </a:rPr>
              <a:t>依法而“他”治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461010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950">
                <a:solidFill>
                  <a:srgbClr val="6B6B6B"/>
                </a:solidFill>
                <a:latin typeface="宋体"/>
                <a:ea typeface="宋体"/>
              </a:rPr>
              <a:t xml:space="preserve"> 8 </a:t>
            </a: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篇。差别落在两个引号字上：一个自己管自己，一个别人来管你。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11/19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5" name="" descr="&lt;Slide style={{ background: '#F5F1E6', padding: '40px 64px', fontFamily: '宋体' }}&gt;&#13;&#10;  &lt;Image src=&quot;../课件/assets/bg_village.jpg&quot; style={{ position: 'absolute', top: 0, left: 0, width: 1280, height: 720, objectFit: 'cover' }} /&gt;&#13;&#10;  &lt;Box style={{ height: 640, flexDirection: 'column', justifyContent: 'center', alignItems: 'flex-end', position: 'relative', zIndex: 5 }}&gt;&#13;&#10;    &lt;Box style={{ flexDirection: 'column', alignItems: 'flex-end', background: 'rgba(245,241,230,0.84)', padding: '32px 28px' }}&gt;&#13;&#10;      &lt;Text style={{ fontSize: 26, color: '#B4552D', letterSpacing: 4 }}&gt;任 务 二&lt;/Text&gt;&#13;&#10;      &lt;Text style={{ fontSize: 60, fontWeight: 'bold', color: '#1F3A34', marginTop: 12 }}&gt;一个不打官司的例子&lt;/Text&gt;&#13;&#10;      &lt;Text style={{ fontSize: 30, color: '#1F3A34', marginTop: 20 }}&gt;六尺巷——“无讼”长什么样&lt;/Text&gt;&#13;&#10;    &lt;/Box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37" name=""/>
          <p:cNvPicPr>
            <a:picLocks noChangeAspect="1"/>
          </p:cNvPicPr>
          <p:nvPr/>
        </p:nvPicPr>
        <p:blipFill>
          <a:blip r:embed="rId1"/>
          <a:srcRect l="0" t="5808" r="0" b="580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8" name=""/>
          <p:cNvSpPr/>
          <p:nvPr/>
        </p:nvSpPr>
        <p:spPr>
          <a:xfrm rot="0" flipH="0" flipV="0">
            <a:off x="5905500" y="2305050"/>
            <a:ext cx="5676900" cy="2247900"/>
          </a:xfrm>
          <a:prstGeom prst="rect">
            <a:avLst/>
          </a:prstGeom>
          <a:solidFill>
            <a:srgbClr val="F5F1E6">
              <a:alpha val="84000"/>
            </a:srgbClr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220325" y="2609850"/>
            <a:ext cx="1095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任</a:t>
            </a:r>
            <a:r>
              <a:rPr lang="en-US" sz="1950" spc="3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务</a:t>
            </a:r>
            <a:r>
              <a:rPr lang="en-US" sz="1950" spc="3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二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172200" y="3028950"/>
            <a:ext cx="51435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1F3A34"/>
                </a:solidFill>
                <a:latin typeface="宋体"/>
                <a:ea typeface="宋体"/>
              </a:rPr>
              <a:t>一个不打官司的例子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991475" y="3905250"/>
            <a:ext cx="33242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六尺巷——“无讼”长什么样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42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六尺巷&lt;/Text&gt;&#13;&#10;    &lt;Text style={{ fontSize: 24, color: '#6B6B6B' }}&gt;原文页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28, color: '#1F3A34', lineHeight: 2.1 }}&gt;张家盖房，占了吴家三尺地。两家争执不下，&lt;/Text&gt;&#13;&#10;    &lt;Text style={{ fontSize: 28, color: '#1F3A34', lineHeight: 2.1 }}&gt;张家写信到京城求助。回信只有四句：&lt;/Text&gt;&#13;&#10;    &lt;Text style={{ fontSize: 30, color: '#B4552D', lineHeight: 2.1, marginTop: 16 }}&gt;&quot;千里修书只为墙，让他三尺又何妨。&lt;/Text&gt;&#13;&#10;    &lt;Text style={{ fontSize: 30, color: '#B4552D', lineHeight: 2.1 }}&gt;万里长城今犹在，不见当年秦始皇。&quot;&lt;/Text&gt;&#13;&#10;    &lt;Text style={{ fontSize: 28, color: '#1F3A34', lineHeight: 2.1, marginTop: 16 }}&gt;张家让三尺，吴家也让三尺——成了六尺巷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13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143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六尺巷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原文页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09600" y="1619250"/>
            <a:ext cx="10972800" cy="67627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张家盖房，占了吴家三尺地。两家争执不下，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10972800" cy="67627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张家写信到京城求助。回信只有四句：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10972800" cy="723900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en-US" sz="2250">
                <a:solidFill>
                  <a:srgbClr val="B4552D"/>
                </a:solidFill>
                <a:latin typeface="宋体"/>
                <a:ea typeface="宋体"/>
              </a:rPr>
              <a:t>"</a:t>
            </a:r>
            <a:r>
              <a:rPr lang="zh-CN" sz="2250">
                <a:solidFill>
                  <a:srgbClr val="B4552D"/>
                </a:solidFill>
                <a:latin typeface="宋体"/>
                <a:ea typeface="宋体"/>
              </a:rPr>
              <a:t>千里修书只为墙，让他三尺又何妨。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3848100"/>
            <a:ext cx="10972800" cy="723900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250">
                <a:solidFill>
                  <a:srgbClr val="B4552D"/>
                </a:solidFill>
                <a:latin typeface="宋体"/>
                <a:ea typeface="宋体"/>
              </a:rPr>
              <a:t>万里长城今犹在，不见当年秦始皇。</a:t>
            </a:r>
            <a:r>
              <a:rPr lang="en-US" sz="2250">
                <a:solidFill>
                  <a:srgbClr val="B4552D"/>
                </a:solidFill>
                <a:latin typeface="宋体"/>
                <a:ea typeface="宋体"/>
              </a:rPr>
              <a:t>"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4724400"/>
            <a:ext cx="10972800" cy="67627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张家让三尺，吴家也让三尺——成了六尺巷。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13/19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54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如果张家不让呢&lt;/Text&gt;&#13;&#10;    &lt;Text style={{ fontSize: 24, color: '#6B6B6B' }}&gt;追问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2, fontWeight: 'bold', color: '#1F3A34' }}&gt;如果张家不让呢？&lt;/Text&gt;&#13;&#10;    &lt;Box style={{ marginTop: 26, flexDirection: 'column' }}&gt;&#13;&#10;      &lt;Text style={{ fontSize: 28, color: '#1F3A34', lineHeight: 2.2 }}&gt;一问：谁会来管？&lt;/Text&gt;&#13;&#10;      &lt;Text style={{ fontSize: 28, color: '#1F3A34', lineHeight: 2.2 }}&gt;二问：按什么管？&lt;/Text&gt;&#13;&#10;      &lt;Text style={{ fontSize: 28, color: '#1F3A34', lineHeight: 2.2 }}&gt;三问：管的人靠什么让人服？&lt;/Text&gt;&#13;&#10;    &lt;/Box&gt;&#13;&#10;    &lt;Text style={{ fontSize: 27, color: '#B4552D', marginTop: 24 }}&gt;三问答完，这个故事就从“美德”变成了“结构”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14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667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如果张家不让呢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追问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如果张家不让呢？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" y="2486025"/>
            <a:ext cx="10972800" cy="704850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一问：谁会来管？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3190875"/>
            <a:ext cx="10972800" cy="704850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二问：按什么管？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3895725"/>
            <a:ext cx="10972800" cy="704850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三问：管的人靠什么让人服？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09600" y="482917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>
                <a:solidFill>
                  <a:srgbClr val="B4552D"/>
                </a:solidFill>
                <a:latin typeface="宋体"/>
                <a:ea typeface="宋体"/>
              </a:rPr>
              <a:t>三问答完，这个故事就从“美德”变成了“结构”。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14/19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6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判据：找例&lt;/Text&gt;&#13;&#10;    &lt;Text style={{ fontSize: 24, color: '#6B6B6B' }}&gt;读法四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2, fontWeight: 'bold', color: '#1F3A34' }}&gt;找例的判据&lt;/Text&gt;&#13;&#10;    &lt;Box style={{ marginTop: 26, borderLeft: '4px solid #B4552D', paddingLeft: 24 }}&gt;&#13;&#10;      &lt;Text style={{ fontSize: 28, color: '#1F3A34', lineHeight: 2.0 }}&gt;例子能指回书里一句定义，&lt;/Text&gt;&#13;&#10;      &lt;Text style={{ fontSize: 28, color: '#1F3A34', lineHeight: 2.0 }}&gt;说得出“第几篇说的”。&lt;/Text&gt;&#13;&#10;    &lt;/Box&gt;&#13;&#10;    &lt;Box style={{ marginTop: 26, flexDirection: 'column' }}&gt;&#13;&#10;      &lt;Text style={{ fontSize: 27, color: '#1F3A34', lineHeight: 2.1 }}&gt;六尺巷印证了：无讼不是没有纠纷，是有纠纷不找官。&lt;/Text&gt;&#13;&#10;      &lt;Text style={{ fontSize: 27, color: '#B4552D', lineHeight: 2.1, marginTop: 8 }}&gt;它哪里不典型：两家的“让”是家教与声望在起作用——说说清这一层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15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905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判据：找例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读法四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找例的判据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2352675"/>
            <a:ext cx="11010900" cy="1295400"/>
          </a:xfrm>
          <a:custGeom>
            <a:pathLst>
              <a:path w="1156" h="136">
                <a:moveTo>
                  <a:pt x="0" y="0"/>
                </a:moveTo>
                <a:lnTo>
                  <a:pt x="4" y="0"/>
                </a:lnTo>
                <a:lnTo>
                  <a:pt x="4" y="136"/>
                </a:lnTo>
                <a:lnTo>
                  <a:pt x="0" y="13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76300" y="23526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例子能指回书里一句定义，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76300" y="30003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说得出“第几篇说的”。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3895725"/>
            <a:ext cx="10972800" cy="657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六尺巷印证了：无讼不是没有纠纷，是有纠纷不找官。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9600" y="4629150"/>
            <a:ext cx="10972800" cy="657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025">
                <a:solidFill>
                  <a:srgbClr val="B4552D"/>
                </a:solidFill>
                <a:latin typeface="宋体"/>
                <a:ea typeface="宋体"/>
              </a:rPr>
              <a:t>它哪里不典型：两家的“让”是家教与声望在起作用——说说清这一层。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15/19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79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任务三：三张卡接成链&lt;/Text&gt;&#13;&#10;    &lt;Text style={{ fontSize: 24, color: '#6B6B6B' }}&gt;读法一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1F3A34' }}&gt;三张卡接成链（10 无为政治 ＋ 11 长老统治）&lt;/Text&gt;&#13;&#10;    &lt;Box style={{ marginTop: 26, marginLeft: 24, flexDirection: 'column' }}&gt;&#13;&#10;      &lt;Text style={{ fontSize: 30, color: '#1F3A34', lineHeight: 1.7 }}&gt;农业剩余有限&lt;/Text&gt;&#13;&#10;      &lt;Text style={{ fontSize: 24, color: '#B4552D', marginLeft: 14 }}&gt;↓ 所以&lt;/Text&gt;&#13;&#10;      &lt;Text style={{ fontSize: 30, color: '#1F3A34', lineHeight: 1.7 }}&gt;皇权不下县&lt;/Text&gt;&#13;&#10;      &lt;Text style={{ fontSize: 24, color: '#B4552D', marginLeft: 14 }}&gt;↓ 于是&lt;/Text&gt;&#13;&#10;      &lt;Text style={{ fontSize: 30, color: '#1F3A34', lineHeight: 1.7 }}&gt;无为而治&lt;/Text&gt;&#13;&#10;    &lt;/Box&gt;&#13;&#10;    &lt;Text style={{ fontSize: 26, color: '#6B6B6B', marginTop: 22 }}&gt;这两篇是同一种论证形态：从条件推出结果。所以用同一种读法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16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810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任务三：三张卡接成链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读法一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1790700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三张卡接成链（</a:t>
            </a:r>
            <a:r>
              <a:rPr lang="en-US" sz="2250" b="1">
                <a:solidFill>
                  <a:srgbClr val="1F3A34"/>
                </a:solidFill>
                <a:latin typeface="宋体"/>
                <a:ea typeface="宋体"/>
              </a:rPr>
              <a:t xml:space="preserve">10 </a:t>
            </a: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无为政治</a:t>
            </a:r>
            <a:r>
              <a:rPr lang="en-US" sz="2250" b="1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＋</a:t>
            </a:r>
            <a:r>
              <a:rPr lang="en-US" sz="2250" b="1">
                <a:solidFill>
                  <a:srgbClr val="1F3A34"/>
                </a:solidFill>
                <a:latin typeface="宋体"/>
                <a:ea typeface="宋体"/>
              </a:rPr>
              <a:t xml:space="preserve"> 11 </a:t>
            </a: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长老统治）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38200" y="2381250"/>
            <a:ext cx="107442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农业剩余有限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71550" y="2971800"/>
            <a:ext cx="10610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↓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所以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38200" y="3248025"/>
            <a:ext cx="107442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皇权不下县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71550" y="3838575"/>
            <a:ext cx="10610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 xml:space="preserve">↓ </a:t>
            </a: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于是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38200" y="4114800"/>
            <a:ext cx="107442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无为而治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491490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这两篇是同一种论证形态：从条件推出结果。所以用同一种读法。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16/19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93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追问：钱从哪来&lt;/Text&gt;&#13;&#10;    &lt;Text style={{ fontSize: 24, color: '#6B6B6B' }}&gt;往前推一步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2, fontWeight: 'bold', color: '#1F3A34' }}&gt;追问：为什么管不了？&lt;/Text&gt;&#13;&#10;    &lt;Text style={{ fontSize: 30, color: '#B4552D', lineHeight: 1.9, marginTop: 20 }}&gt;往前推一步——养官要钱，钱从哪来？&lt;/Text&gt;&#13;&#10;    &lt;Box style={{ marginTop: 28, borderLeft: '4px solid #B4552D', paddingLeft: 24 }}&gt;&#13;&#10;      &lt;Text style={{ fontSize: 27, color: '#1F3A34', lineHeight: 2.0 }}&gt;农业社会的剩余有限，养不起一套下到县以下的官僚。&lt;/Text&gt;&#13;&#10;      &lt;Text style={{ fontSize: 27, color: '#1F3A34', lineHeight: 2.0 }}&gt;所以“无为”不是皇帝懒，是**管不起**。&lt;/Text&gt;&#13;&#10;      &lt;Text style={{ fontSize: 27, color: '#B4552D', lineHeight: 2.0, marginTop: 8 }}&gt;把结论变成推理，链才算接通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17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667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追问：钱从哪来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往前推一步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18002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追问：为什么管不了？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09600" y="2362200"/>
            <a:ext cx="10972800" cy="6572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250">
                <a:solidFill>
                  <a:srgbClr val="B4552D"/>
                </a:solidFill>
                <a:latin typeface="宋体"/>
                <a:ea typeface="宋体"/>
              </a:rPr>
              <a:t>往前推一步——养官要钱，钱从哪来？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9600" y="3286125"/>
            <a:ext cx="11010900" cy="1933575"/>
          </a:xfrm>
          <a:custGeom>
            <a:pathLst>
              <a:path w="1156" h="203">
                <a:moveTo>
                  <a:pt x="0" y="0"/>
                </a:moveTo>
                <a:lnTo>
                  <a:pt x="4" y="0"/>
                </a:lnTo>
                <a:lnTo>
                  <a:pt x="4" y="203"/>
                </a:lnTo>
                <a:lnTo>
                  <a:pt x="0" y="203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76300" y="3286125"/>
            <a:ext cx="107061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农业社会的剩余有限，养不起一套下到县以下的官僚。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76300" y="3905250"/>
            <a:ext cx="107061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所以“无为”不是皇帝懒，是</a:t>
            </a:r>
            <a:r>
              <a:rPr lang="en-US" sz="2025">
                <a:solidFill>
                  <a:srgbClr val="1F3A34"/>
                </a:solidFill>
                <a:latin typeface="宋体"/>
                <a:ea typeface="宋体"/>
              </a:rPr>
              <a:t>**</a:t>
            </a: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管不起</a:t>
            </a:r>
            <a:r>
              <a:rPr lang="en-US" sz="2025">
                <a:solidFill>
                  <a:srgbClr val="1F3A34"/>
                </a:solidFill>
                <a:latin typeface="宋体"/>
                <a:ea typeface="宋体"/>
              </a:rPr>
              <a:t>**</a:t>
            </a: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。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76300" y="4600575"/>
            <a:ext cx="107061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B4552D"/>
                </a:solidFill>
                <a:latin typeface="宋体"/>
                <a:ea typeface="宋体"/>
              </a:rPr>
              <a:t>把结论变成推理，链才算接通。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17/19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0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小结&lt;/Text&gt;&#13;&#10;    &lt;Text style={{ fontSize: 24, color: '#6B6B6B' }}&gt;回扣主问题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4, fontWeight: 'bold', color: '#1F3A34', lineHeight: 1.8 }}&gt;礼治与法治差的是——&lt;/Text&gt;&#13;&#10;    &lt;Text style={{ fontSize: 34, fontWeight: 'bold', color: '#B4552D', lineHeight: 1.8 }}&gt;谁执行、靠什么执行。&lt;/Text&gt;&#13;&#10;    &lt;Box style={{ marginTop: 30, borderLeft: '4px solid #B4552D', paddingLeft: 24 }}&gt;&#13;&#10;      &lt;Text style={{ fontSize: 28, color: '#1F3A34', lineHeight: 1.9 }}&gt;黑板上“代价”两格没填，留给读书报告。&lt;/Text&gt;&#13;&#10;      &lt;Text style={{ fontSize: 28, color: '#1F3A34', lineHeight: 1.9, marginTop: 6 }}&gt;还有一格更空的：这本书哪里说不通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18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76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小结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回扣主问题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10972800" cy="7048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礼治与法治差的是——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2724150"/>
            <a:ext cx="10972800" cy="7048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2550" b="1">
                <a:solidFill>
                  <a:srgbClr val="B4552D"/>
                </a:solidFill>
                <a:latin typeface="宋体"/>
                <a:ea typeface="宋体"/>
              </a:rPr>
              <a:t>谁执行、靠什么执行。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3714750"/>
            <a:ext cx="11010900" cy="1276350"/>
          </a:xfrm>
          <a:custGeom>
            <a:pathLst>
              <a:path w="1156" h="134">
                <a:moveTo>
                  <a:pt x="0" y="0"/>
                </a:moveTo>
                <a:lnTo>
                  <a:pt x="4" y="0"/>
                </a:lnTo>
                <a:lnTo>
                  <a:pt x="4" y="134"/>
                </a:lnTo>
                <a:lnTo>
                  <a:pt x="0" y="13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76300" y="3714750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黑板上“代价”两格没填，留给读书报告。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76300" y="4381500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还有一格更空的：这本书哪里说不通。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18/19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18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作业&lt;/Text&gt;&#13;&#10;    &lt;Text style={{ fontSize: 24, color: '#6B6B6B' }}&gt;三层&lt;/Text&gt;&#13;&#10;  &lt;/Box&gt;&#13;&#10;  &lt;Box style={{ height: 472, marginTop: 20, flexDirection: 'column', position: 'relative', zIndex: 5 }}&gt;&#13;&#10;  &lt;Box style={{ height: 472, flexDirection: 'column', justifyContent: 'center' }}&gt;&#13;&#10;    &lt;Box style={{ padding: 15, background: 'rgba(31,58,52,0.06)', marginBottom: 10 }}&gt;&#13;&#10;      &lt;Text style={{ fontSize: 26, color: '#B4552D' }}&gt;基础 · 全员&lt;/Text&gt;&#13;&#10;      &lt;Text style={{ fontSize: 26, color: '#1F3A34', lineHeight: 1.8, marginTop: 6 }}&gt;交分派表修订稿（14 篇填完，含你改的一处与理由）&lt;/Text&gt;&#13;&#10;    &lt;/Box&gt;&#13;&#10;    &lt;Box style={{ padding: 15, background: 'rgba(31,58,52,0.06)', marginBottom: 10 }}&gt;&#13;&#10;      &lt;Text style={{ fontSize: 26, color: '#B4552D' }}&gt;提高 · 自选&lt;/Text&gt;&#13;&#10;      &lt;Text style={{ fontSize: 26, color: '#1F3A34', lineHeight: 1.8, marginTop: 6 }}&gt;给“礼治的代价”与“法治的代价”各写一句，说清你愿意担哪个&lt;/Text&gt;&#13;&#10;    &lt;/Box&gt;&#13;&#10;    &lt;Box style={{ padding: 15, background: 'rgba(31,58,52,0.06)' }}&gt;&#13;&#10;      &lt;Text style={{ fontSize: 26, color: '#B4552D' }}&gt;拓展 · 自选&lt;/Text&gt;&#13;&#10;      &lt;Text style={{ fontSize: 26, color: '#1F3A34', lineHeight: 1.8, marginTop: 6 }}&gt;找一件今天仍用“礼”解决的事，写出它已经变了的地方&lt;/Text&gt;&#13;&#10;    &lt;/Box&gt;&#13;&#10;    &lt;Text style={{ fontSize: 26, color: '#6B6B6B', marginTop: 20 }}&gt;下节交流课：读书报告互评。带着你那处“说不通”来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4 课时&lt;/Text&gt;&#13;&#10;    &lt;Text style={{ fontSize: 24, color: '#B4552D' }}&gt;19/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76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作业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三层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1381125"/>
            <a:ext cx="10972800" cy="11906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52475" y="1524000"/>
            <a:ext cx="1068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基础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全员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52475" y="1885950"/>
            <a:ext cx="106870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交分派表修订稿（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14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篇填完，含你改的一处与理由）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09600" y="2667000"/>
            <a:ext cx="10972800" cy="11906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52475" y="2809875"/>
            <a:ext cx="1068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提高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自选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52475" y="3171825"/>
            <a:ext cx="106870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给“礼治的代价”与“法治的代价”各写一句，说清你愿意担哪个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3952875"/>
            <a:ext cx="10972800" cy="11906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52475" y="4095750"/>
            <a:ext cx="1068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拓展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自选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52475" y="4457700"/>
            <a:ext cx="106870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找一件今天仍用“礼”解决的事，写出它已经变了的地方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533400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下节交流课：读书报告互评。带着你那处“说不通”来。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19/19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2026-10-26T21:11:05Z</dcterms:created>
  <dcterms:modified xsi:type="dcterms:W3CDTF">2026-10-26T21:11:05Z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{"AIGC":{"Label":"1","ContentProducer":"00119111010856365494821B355","ProduceID":"01a17819c8fa781eb2a174b2c3a85ac7","ReservedCode1":"","ContentPropagator":"00119111010856365494821B355","PropagateID":"01a17819c8fa781eb2a174b2c3a85ac7","ReservedCode2":""}}</vt:lpwstr>
  </property>
</Properties>
</file>