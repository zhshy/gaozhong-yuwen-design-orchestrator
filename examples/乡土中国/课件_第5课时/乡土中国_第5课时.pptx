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background: '#F5F1E6', padding: '40px 64px', fontFamily: '宋体' }}&gt;&#13;&#10;  &lt;Image src=&quot;../课件/assets/bg_pages.jpg&quot; style={{ position: 'absolute', top: 0, left: 0, width: 1280, height: 720, objectFit: 'cover' }} /&gt;&#13;&#10;  &lt;Box style={{ height: 560, flexDirection: 'row', alignItems: 'center', position: 'relative', zIndex: 5 }}&gt;&#13;&#10;    &lt;Box style={{ width: 700, background: 'rgba(245,241,230,0.9)', padding: '44px 36px 44px 32px', flexDirection: 'column', borderLeft: '6px solid #B4552D' }}&gt;&#13;&#10;      &lt;Text style={{ fontSize: 56, fontWeight: 'bold', color: '#1F3A34', lineHeight: 1.3 }}&gt;《乡土中国》&lt;/Text&gt;&#13;&#10;      &lt;Text style={{ fontSize: 34, color: '#1F3A34', marginTop: 14 }}&gt;第 5 课时 · 交流课&lt;/Text&gt;&#13;&#10;      &lt;Text style={{ fontSize: 30, color: '#B4552D', marginTop: 26 }}&gt;读书报告：互评与定稿&lt;/Text&gt;&#13;&#10;    &lt;/Box&gt;&#13;&#10;  &lt;/Box&gt;&#13;&#10;  &lt;Box style={{ height: 46, borderTop: '1px solid rgba(31,58,52,0.2)', flexDirection: 'row', justifyContent: 'space-between', alignItems: 'center', paddingTop: 8, position: 'relative', zIndex: 5, background: 'rgba(245,241,230,0.92)', paddingLeft: 12, paddingRight: 12 }}&gt;&#13;&#10;    &lt;Text style={{ fontSize: 24, color: '#6B6B6B' }}&gt;统编版必修上 · 第五单元&lt;/Text&gt;&#13;&#10;    &lt;Text style={{ fontSize: 24, color: '#B4552D' }}&gt;01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66750" y="1657350"/>
            <a:ext cx="6610350" cy="2790825"/>
          </a:xfrm>
          <a:prstGeom prst="rect">
            <a:avLst/>
          </a:prstGeom>
          <a:solidFill>
            <a:srgbClr val="F5F1E6">
              <a:alpha val="9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657350"/>
            <a:ext cx="6667500" cy="2790825"/>
          </a:xfrm>
          <a:custGeom>
            <a:pathLst>
              <a:path w="700" h="293">
                <a:moveTo>
                  <a:pt x="0" y="0"/>
                </a:moveTo>
                <a:lnTo>
                  <a:pt x="6" y="0"/>
                </a:lnTo>
                <a:lnTo>
                  <a:pt x="6" y="293"/>
                </a:lnTo>
                <a:lnTo>
                  <a:pt x="0" y="293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71550" y="2076450"/>
            <a:ext cx="5962650" cy="8382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4200" b="1">
                <a:solidFill>
                  <a:srgbClr val="1F3A34"/>
                </a:solidFill>
                <a:latin typeface="宋体"/>
                <a:ea typeface="宋体"/>
              </a:rPr>
              <a:t>《乡土中国》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71550" y="3048000"/>
            <a:ext cx="5962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第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5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课时</a:t>
            </a:r>
            <a:r>
              <a:rPr lang="en-US" sz="2550">
                <a:solidFill>
                  <a:srgbClr val="1F3A34"/>
                </a:solidFill>
                <a:latin typeface="宋体"/>
                <a:ea typeface="宋体"/>
              </a:rPr>
              <a:t xml:space="preserve"> · </a:t>
            </a:r>
            <a:r>
              <a:rPr lang="zh-CN" sz="2550">
                <a:solidFill>
                  <a:srgbClr val="1F3A34"/>
                </a:solidFill>
                <a:latin typeface="宋体"/>
                <a:ea typeface="宋体"/>
              </a:rPr>
              <a:t>交流课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71550" y="3686175"/>
            <a:ext cx="5962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B4552D"/>
                </a:solidFill>
                <a:latin typeface="宋体"/>
                <a:ea typeface="宋体"/>
              </a:rPr>
              <a:t>读书报告：互评与定稿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5724525"/>
            <a:ext cx="10972800" cy="428625"/>
          </a:xfrm>
          <a:prstGeom prst="rect">
            <a:avLst/>
          </a:prstGeom>
          <a:solidFill>
            <a:srgbClr val="F5F1E6">
              <a:alpha val="92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609600" y="5715000"/>
            <a:ext cx="10972800" cy="438150"/>
          </a:xfrm>
          <a:custGeom>
            <a:pathLst>
              <a:path w="1152" h="4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3900" y="583882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统编版必修上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·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第五单元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877550" y="5838825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01/16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两个问题要分开&lt;/Text&gt;&#13;&#10;    &lt;Text style={{ fontSize: 24, color: '#6B6B6B' }}&gt;导入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8, background: 'rgba(31,58,52,0.06)', height: 320, flexDirection: 'column' }}&gt;&#13;&#10;      &lt;Text style={{ fontSize: 32, fontWeight: 'bold', color: '#1F3A34' }}&gt;“这里我不懂”&lt;/Text&gt;&#13;&#10;      &lt;Text style={{ fontSize: 27, color: '#1F3A34', lineHeight: 2.0, marginTop: 16 }}&gt;这是我的事。&lt;/Text&gt;&#13;&#10;      &lt;Text style={{ fontSize: 27, color: '#1F3A34', lineHeight: 2.0, marginTop: 8 }}&gt;再读一遍，或问同学。&lt;/Text&gt;&#13;&#10;    &lt;/Box&gt;&#13;&#10;    &lt;Box style={{ flex: 1, padding: 28, background: 'rgba(180,85,45,0.08)', height: 320, flexDirection: 'column' }}&gt;&#13;&#10;      &lt;Text style={{ fontSize: 32, fontWeight: 'bold', color: '#B4552D' }}&gt;“这里他不对”&lt;/Text&gt;&#13;&#10;      &lt;Text style={{ fontSize: 27, color: '#1F3A34', lineHeight: 2.0, marginTop: 16 }}&gt;这是作者的事。&lt;/Text&gt;&#13;&#10;      &lt;Text style={{ fontSize: 27, color: '#B4552D', lineHeight: 2.0, marginTop: 8 }}&gt;引出原话，说清为什么不成立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2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两个问题要分开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导入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1981200"/>
            <a:ext cx="5400675" cy="30480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76300" y="2247900"/>
            <a:ext cx="48672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“这里我不懂”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76300" y="2771775"/>
            <a:ext cx="4867275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这是我的事。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76300" y="3467100"/>
            <a:ext cx="4867275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再读一遍，或问同学。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181725" y="1981200"/>
            <a:ext cx="5400675" cy="3048000"/>
          </a:xfrm>
          <a:prstGeom prst="rect">
            <a:avLst/>
          </a:prstGeom>
          <a:solidFill>
            <a:srgbClr val="B4552D">
              <a:alpha val="8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48425" y="2247900"/>
            <a:ext cx="48672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B4552D"/>
                </a:solidFill>
                <a:latin typeface="宋体"/>
                <a:ea typeface="宋体"/>
              </a:rPr>
              <a:t>“这里他不对”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48425" y="2771775"/>
            <a:ext cx="4867275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这是作者的事。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448425" y="3467100"/>
            <a:ext cx="4867275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B4552D"/>
                </a:solidFill>
                <a:latin typeface="宋体"/>
                <a:ea typeface="宋体"/>
              </a:rPr>
              <a:t>引出原话，说清为什么不成立。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02/16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主问题&lt;/Text&gt;&#13;&#10;    &lt;Text style={{ fontSize: 24, color: '#6B6B6B' }}&gt;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56, fontWeight: 'bold', color: '#1F3A34', lineHeight: 1.55 }}&gt;这本书哪一处说不通？&lt;/Text&gt;&#13;&#10;    &lt;Box style={{ marginTop: 36, borderLeft: '4px solid #B4552D', paddingLeft: 24 }}&gt;&#13;&#10;      &lt;Text style={{ fontSize: 28, color: '#1F3A34', lineHeight: 1.9 }}&gt;五周里你们问的问题，一半是“我不懂”，一半是“他不对”。&lt;/Text&gt;&#13;&#10;      &lt;Text style={{ fontSize: 28, color: '#B4552D', lineHeight: 1.9, marginTop: 6 }}&gt;今天只处理后一半。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3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主问题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582400" y="1066800"/>
            <a:ext cx="0" cy="0"/>
          </a:xfrm>
          <a:prstGeom prst="rect"/>
        </p:spPr>
        <p:txBody>
          <a:bodyPr wrap="none" lIns="0" tIns="0" rIns="0" bIns="0"/>
          <a:p>
            <a:pPr/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1000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4200" b="1">
                <a:solidFill>
                  <a:srgbClr val="1F3A34"/>
                </a:solidFill>
                <a:latin typeface="宋体"/>
                <a:ea typeface="宋体"/>
              </a:rPr>
              <a:t>这本书哪一处说不通？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3543300"/>
            <a:ext cx="11010900" cy="1276350"/>
          </a:xfrm>
          <a:custGeom>
            <a:pathLst>
              <a:path w="1156" h="134">
                <a:moveTo>
                  <a:pt x="0" y="0"/>
                </a:moveTo>
                <a:lnTo>
                  <a:pt x="4" y="0"/>
                </a:lnTo>
                <a:lnTo>
                  <a:pt x="4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354330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五周里你们问的问题，一半是“我不懂”，一半是“他不对”。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4210050"/>
            <a:ext cx="10706100" cy="6096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今天只处理后一半。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03/16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今天三件事&lt;/Text&gt;&#13;&#10;    &lt;Text style={{ fontSize: 24, color: '#6B6B6B' }}&gt;任务总览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8, padding: 26, background: 'rgba(31,58,52,0.06)', height: 310, flexDirection: 'column' }}&gt;&#13;&#10;      &lt;Text style={{ fontSize: 25, color: '#B4552D' }}&gt;互评 · 18 分钟&lt;/Text&gt;&#13;&#10;      &lt;Text style={{ fontSize: 32, fontWeight: 'bold', color: '#1F3A34', marginTop: 14 }}&gt;按量规打分&lt;/Text&gt;&#13;&#10;      &lt;Text style={{ fontSize: 25, color: '#1F3A34', lineHeight: 1.8, marginTop: 14 }}&gt;三份匿名报告，四栏三档，每格引原文&lt;/Text&gt;&#13;&#10;    &lt;/Box&gt;&#13;&#10;    &lt;Box style={{ flex: 1, marginRight: 18, padding: 26, background: 'rgba(31,58,52,0.06)', height: 310, flexDirection: 'column' }}&gt;&#13;&#10;      &lt;Text style={{ fontSize: 25, color: '#B4552D' }}&gt;攻坚 · 14 分钟&lt;/Text&gt;&#13;&#10;      &lt;Text style={{ fontSize: 32, fontWeight: 'bold', color: '#1F3A34', marginTop: 14 }}&gt;三处“说不通”&lt;/Text&gt;&#13;&#10;      &lt;Text style={{ fontSize: 25, color: '#1F3A34', lineHeight: 1.8, marginTop: 14 }}&gt;真说不通 / 误读 / 时代变化&lt;/Text&gt;&#13;&#10;    &lt;/Box&gt;&#13;&#10;    &lt;Box style={{ flex: 1, padding: 26, background: 'rgba(31,58,52,0.06)', height: 310, flexDirection: 'column' }}&gt;&#13;&#10;      &lt;Text style={{ fontSize: 25, color: '#B4552D' }}&gt;定稿 · 5 分钟&lt;/Text&gt;&#13;&#10;      &lt;Text style={{ fontSize: 32, fontWeight: 'bold', color: '#1F3A34', marginTop: 14 }}&gt;只改一处&lt;/Text&gt;&#13;&#10;      &lt;Text style={{ fontSize: 25, color: '#1F3A34', lineHeight: 1.8, marginTop: 14 }}&gt;最弱的那一句，改掉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4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今天三件事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任务总览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096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互评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18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5725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按量规打分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57250" y="3200400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三份匿名报告，四栏三档，每格引原文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32435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7200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攻坚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14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57200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三处“说不通”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72000" y="3200400"/>
            <a:ext cx="30480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真说不通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误读</a:t>
            </a:r>
            <a:r>
              <a:rPr lang="en-US" sz="1875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时代变化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039100" y="2028825"/>
            <a:ext cx="3543300" cy="29527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286750" y="2276475"/>
            <a:ext cx="3048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定稿</a:t>
            </a:r>
            <a:r>
              <a:rPr lang="en-US" sz="1875">
                <a:solidFill>
                  <a:srgbClr val="B4552D"/>
                </a:solidFill>
                <a:latin typeface="宋体"/>
                <a:ea typeface="宋体"/>
              </a:rPr>
              <a:t xml:space="preserve"> · 5 </a:t>
            </a: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分钟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286750" y="26955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只改一处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286750" y="3200400"/>
            <a:ext cx="30480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最弱的那一句，改掉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04/16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互评量规：四栏三档&lt;/Text&gt;&#13;&#10;    &lt;Text style={{ fontSize: 24, color: '#6B6B6B' }}&gt;原文页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28, fontWeight: 'bold', color: '#1F3A34' }}&gt;量规：四栏三档（详见学案）&lt;/Text&gt;&#13;&#10;    &lt;Box style={{ marginTop: 18, flexDirection: 'column' }}&gt;&#13;&#10;      &lt;Text style={{ fontSize: 26, color: '#1F3A34', lineHeight: 1.9, background: 'rgba(31,58,52,0.06)', padding: 12 }}&gt;概念运用：三个概念，用自己的话解释&lt;/Text&gt;&#13;&#10;      &lt;Text style={{ fontSize: 26, color: '#1F3A34', lineHeight: 1.9, background: 'rgba(31,58,52,0.06)', padding: 12, marginTop: 8 }}&gt;现象解释：说清“哪里像”，也说清“哪里不像”&lt;/Text&gt;&#13;&#10;      &lt;Text style={{ fontSize: 26, color: '#1F3A34', lineHeight: 1.9, background: 'rgba(31,58,52,0.06)', padding: 12, marginTop: 8 }}&gt;说不通：引出原话，说清为什么不成立&lt;/Text&gt;&#13;&#10;      &lt;Text style={{ fontSize: 26, color: '#1F3A34', lineHeight: 1.9, background: 'rgba(31,58,52,0.06)', padding: 12, marginTop: 8 }}&gt;语言：学术语体，有判断句&lt;/Text&gt;&#13;&#10;    &lt;/Box&gt;&#13;&#10;    &lt;Text style={{ fontSize: 25, color: '#B4552D', marginTop: 16 }}&gt;三栏达标才算及格；“说不通”空着，整份降一档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5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429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互评量规：四栏三档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原文页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3A34"/>
                </a:solidFill>
                <a:latin typeface="宋体"/>
                <a:ea typeface="宋体"/>
              </a:rPr>
              <a:t>量规：四栏三档（详见学案）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1819275"/>
            <a:ext cx="10972800" cy="8001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800100"/>
          </a:xfrm>
          <a:prstGeom prst="rect"/>
        </p:spPr>
        <p:txBody>
          <a:bodyPr wrap="none" lIns="85725" tIns="85725" rIns="85725" bIns="85725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概念运用：三个概念，用自己的话解释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2695575"/>
            <a:ext cx="10972800" cy="8001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10972800" cy="800100"/>
          </a:xfrm>
          <a:prstGeom prst="rect"/>
        </p:spPr>
        <p:txBody>
          <a:bodyPr wrap="none" lIns="85725" tIns="85725" rIns="85725" bIns="85725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现象解释：说清“哪里像”，也说清“哪里不像”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3571875"/>
            <a:ext cx="10972800" cy="8001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3571875"/>
            <a:ext cx="10972800" cy="800100"/>
          </a:xfrm>
          <a:prstGeom prst="rect"/>
        </p:spPr>
        <p:txBody>
          <a:bodyPr wrap="none" lIns="85725" tIns="85725" rIns="85725" bIns="85725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说不通：引出原话，说清为什么不成立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4448175"/>
            <a:ext cx="10972800" cy="8001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4448175"/>
            <a:ext cx="10972800" cy="800100"/>
          </a:xfrm>
          <a:prstGeom prst="rect"/>
        </p:spPr>
        <p:txBody>
          <a:bodyPr wrap="none" lIns="85725" tIns="85725" rIns="85725" bIns="85725"/>
          <a:p>
            <a:pPr>
              <a:lnSpc>
                <a:spcPct val="19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语言：学术语体，有判断句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5400675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B4552D"/>
                </a:solidFill>
                <a:latin typeface="宋体"/>
                <a:ea typeface="宋体"/>
              </a:rPr>
              <a:t>三栏达标才算及格；“说不通”空着，整份降一档。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05/16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67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互评的规矩&lt;/Text&gt;&#13;&#10;    &lt;Text style={{ fontSize: 24, color: '#6B6B6B' }}&gt;引原文一句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2, fontWeight: 'bold', color: '#1F3A34' }}&gt;互评的规矩：每格引原文一句&lt;/Text&gt;&#13;&#10;    &lt;Box style={{ marginTop: 26, borderLeft: '4px solid #B4552D', paddingLeft: 24 }}&gt;&#13;&#10;      &lt;Text style={{ fontSize: 28, color: '#1F3A34', lineHeight: 2.0 }}&gt;报分不说“我觉得挺好”，&lt;/Text&gt;&#13;&#10;      &lt;Text style={{ fontSize: 28, color: '#1F3A34', lineHeight: 2.0 }}&gt;说“第几段那句，因为它……”。&lt;/Text&gt;&#13;&#10;    &lt;/Box&gt;&#13;&#10;    &lt;Text style={{ fontSize: 26, color: '#6B6B6B', marginTop: 26 }}&gt;引不出原文的那一格，不算打分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6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905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互评的规矩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引原文一句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22764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互评的规矩：每格引原文一句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2895600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76300" y="289560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报分不说“我觉得挺好”，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76300" y="3543300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说“第几段那句，因为它……”。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443865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引不出原文的那一格，不算打分。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06/16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9" name="" descr="&lt;Slide style={{ background: '#F5F1E6', padding: '40px 64px', fontFamily: '宋体' }}&gt;&#13;&#10;  &lt;Image src=&quot;../课件/assets/bg_soil.jpg&quot; style={{ position: 'absolute', top: 0, left: 0, width: 1280, height: 720, objectFit: 'cover' }} /&gt;&#13;&#10;  &lt;Box style={{ height: 640, flexDirection: 'column', justifyContent: 'center', alignItems: 'flex-end', position: 'relative', zIndex: 5 }}&gt;&#13;&#10;    &lt;Box style={{ flexDirection: 'column', alignItems: 'flex-end', background: 'rgba(245,241,230,0.84)', padding: '32px 28px' }}&gt;&#13;&#10;      &lt;Text style={{ fontSize: 26, color: '#B4552D', letterSpacing: 4 }}&gt;攻 坚&lt;/Text&gt;&#13;&#10;      &lt;Text style={{ fontSize: 60, fontWeight: 'bold', color: '#1F3A34', marginTop: 12 }}&gt;三处“说不通”&lt;/Text&gt;&#13;&#10;      &lt;Text style={{ fontSize: 30, color: '#1F3A34', marginTop: 20 }}&gt;真说不通 / 误读 / 时代变化&lt;/Text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pic>
        <p:nvPicPr>
          <p:cNvPr id="181" name=""/>
          <p:cNvPicPr>
            <a:picLocks noChangeAspect="1"/>
          </p:cNvPicPr>
          <p:nvPr/>
        </p:nvPicPr>
        <p:blipFill>
          <a:blip r:embed="rId1"/>
          <a:srcRect l="0" t="5808" r="0" b="580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82" name=""/>
          <p:cNvSpPr/>
          <p:nvPr/>
        </p:nvSpPr>
        <p:spPr>
          <a:xfrm rot="0" flipH="0" flipV="0">
            <a:off x="7610475" y="2305050"/>
            <a:ext cx="3971925" cy="2247900"/>
          </a:xfrm>
          <a:prstGeom prst="rect">
            <a:avLst/>
          </a:prstGeom>
          <a:solidFill>
            <a:srgbClr val="F5F1E6">
              <a:alpha val="84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620375" y="2609850"/>
            <a:ext cx="695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攻</a:t>
            </a:r>
            <a:r>
              <a:rPr lang="en-US" sz="1950" spc="300">
                <a:solidFill>
                  <a:srgbClr val="B4552D"/>
                </a:solidFill>
                <a:latin typeface="宋体"/>
                <a:ea typeface="宋体"/>
              </a:rPr>
              <a:t xml:space="preserve"> </a:t>
            </a:r>
            <a:r>
              <a:rPr lang="zh-CN" sz="1950" spc="300">
                <a:solidFill>
                  <a:srgbClr val="B4552D"/>
                </a:solidFill>
                <a:latin typeface="宋体"/>
                <a:ea typeface="宋体"/>
              </a:rPr>
              <a:t>坚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896225" y="3028950"/>
            <a:ext cx="3419475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1F3A34"/>
                </a:solidFill>
                <a:latin typeface="宋体"/>
                <a:ea typeface="宋体"/>
              </a:rPr>
              <a:t>三处“说不通”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877175" y="3905250"/>
            <a:ext cx="3438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真说不通</a:t>
            </a: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误读</a:t>
            </a:r>
            <a:r>
              <a:rPr lang="en-US" sz="2250">
                <a:solidFill>
                  <a:srgbClr val="1F3A34"/>
                </a:solidFill>
                <a:latin typeface="宋体"/>
                <a:ea typeface="宋体"/>
              </a:rPr>
              <a:t xml:space="preserve"> / </a:t>
            </a:r>
            <a:r>
              <a:rPr lang="zh-CN" sz="2250">
                <a:solidFill>
                  <a:srgbClr val="1F3A34"/>
                </a:solidFill>
                <a:latin typeface="宋体"/>
                <a:ea typeface="宋体"/>
              </a:rPr>
              <a:t>时代变化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8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第一处：真说不通&lt;/Text&gt;&#13;&#10;    &lt;Text style={{ fontSize: 24, color: '#6B6B6B' }}&gt;可以写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B4552D' }}&gt;第一处：真说不通&lt;/Text&gt;&#13;&#10;    &lt;Box style={{ marginTop: 22, borderLeft: '4px solid #B4552D', paddingLeft: 24 }}&gt;&#13;&#10;      &lt;Text style={{ fontSize: 28, color: '#1F3A34', lineHeight: 2.0 }}&gt;先查：原话抄对了吗？&lt;/Text&gt;&#13;&#10;      &lt;Text style={{ fontSize: 28, color: '#1F3A34', lineHeight: 2.0 }}&gt;抄对了还说不通——问题出在哪一步？&lt;/Text&gt;&#13;&#10;      &lt;Text style={{ fontSize: 28, color: '#1F3A34', lineHeight: 2.0 }}&gt;是前提站不住，还是推不出结论？&lt;/Text&gt;&#13;&#10;    &lt;/Box&gt;&#13;&#10;    &lt;Text style={{ fontSize: 26, color: '#6B6B6B', marginTop: 24 }}&gt;这一处可以写进报告，写清是哪一步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8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第一处：真说不通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可以写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4552D"/>
                </a:solidFill>
                <a:latin typeface="宋体"/>
                <a:ea typeface="宋体"/>
              </a:rPr>
              <a:t>第一处：真说不通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2543175"/>
            <a:ext cx="11010900" cy="1943100"/>
          </a:xfrm>
          <a:custGeom>
            <a:pathLst>
              <a:path w="1156" h="204">
                <a:moveTo>
                  <a:pt x="0" y="0"/>
                </a:moveTo>
                <a:lnTo>
                  <a:pt x="4" y="0"/>
                </a:lnTo>
                <a:lnTo>
                  <a:pt x="4" y="204"/>
                </a:lnTo>
                <a:lnTo>
                  <a:pt x="0" y="204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76300" y="25431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先查：原话抄对了吗？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76300" y="31908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抄对了还说不通——问题出在哪一步？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76300" y="38385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是前提站不住，还是推不出结论？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47148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这一处可以写进报告，写清是哪一步。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08/16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第二处：误读&lt;/Text&gt;&#13;&#10;    &lt;Text style={{ fontSize: 24, color: '#6B6B6B' }}&gt;要改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B4552D' }}&gt;第二处：误读&lt;/Text&gt;&#13;&#10;    &lt;Box style={{ marginTop: 22, borderLeft: '4px solid #B4552D', paddingLeft: 24 }}&gt;&#13;&#10;      &lt;Text style={{ fontSize: 28, color: '#1F3A34', lineHeight: 2.0 }}&gt;这段话在书里第几篇？&lt;/Text&gt;&#13;&#10;      &lt;Text style={{ fontSize: 28, color: '#1F3A34', lineHeight: 2.0 }}&gt;往前读三段，往后读三段。&lt;/Text&gt;&#13;&#10;      &lt;Text style={{ fontSize: 28, color: '#B4552D', lineHeight: 2.0, marginTop: 8 }}&gt;多数“说不通”，作者自己在下一段答了。&lt;/Text&gt;&#13;&#10;    &lt;/Box&gt;&#13;&#10;    &lt;Text style={{ fontSize: 26, color: '#6B6B6B', marginTop: 24 }}&gt;当场翻书。翻到了，就把报告里那句改掉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09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第二处：误读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要改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4552D"/>
                </a:solidFill>
                <a:latin typeface="宋体"/>
                <a:ea typeface="宋体"/>
              </a:rPr>
              <a:t>第二处：误读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2505075"/>
            <a:ext cx="11010900" cy="2019300"/>
          </a:xfrm>
          <a:custGeom>
            <a:pathLst>
              <a:path w="1156" h="212">
                <a:moveTo>
                  <a:pt x="0" y="0"/>
                </a:moveTo>
                <a:lnTo>
                  <a:pt x="4" y="0"/>
                </a:lnTo>
                <a:lnTo>
                  <a:pt x="4" y="212"/>
                </a:lnTo>
                <a:lnTo>
                  <a:pt x="0" y="212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76300" y="25050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这段话在书里第几篇？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76300" y="31527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往前读三段，往后读三段。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多数“说不通”，作者自己在下一段答了。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当场翻书。翻到了，就把报告里那句改掉。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09/16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第三处：时代变化&lt;/Text&gt;&#13;&#10;    &lt;Text style={{ fontSize: 24, color: '#6B6B6B' }}&gt;要举证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B4552D' }}&gt;第三处：时代变化&lt;/Text&gt;&#13;&#10;    &lt;Box style={{ marginTop: 22, borderLeft: '4px solid #B4552D', paddingLeft: 24 }}&gt;&#13;&#10;      &lt;Text style={{ fontSize: 28, color: '#1F3A34', lineHeight: 2.0 }}&gt;“时代变了”不是论证，是结论。&lt;/Text&gt;&#13;&#10;      &lt;Text style={{ fontSize: 28, color: '#1F3A34', lineHeight: 2.0 }}&gt;哪一句变了？&lt;/Text&gt;&#13;&#10;      &lt;Text style={{ fontSize: 28, color: '#B4552D', lineHeight: 2.0, marginTop: 8 }}&gt;举一个今天的具体现象，说清它怎么不符合那个判断。&lt;/Text&gt;&#13;&#10;    &lt;/Box&gt;&#13;&#10;    &lt;Text style={{ fontSize: 26, color: '#6B6B6B', marginTop: 24 }}&gt;举不出现象，就是没举证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0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第三处：时代变化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896600" y="7905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要举证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B4552D"/>
                </a:solidFill>
                <a:latin typeface="宋体"/>
                <a:ea typeface="宋体"/>
              </a:rPr>
              <a:t>第三处：时代变化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2505075"/>
            <a:ext cx="11010900" cy="2019300"/>
          </a:xfrm>
          <a:custGeom>
            <a:pathLst>
              <a:path w="1156" h="212">
                <a:moveTo>
                  <a:pt x="0" y="0"/>
                </a:moveTo>
                <a:lnTo>
                  <a:pt x="4" y="0"/>
                </a:lnTo>
                <a:lnTo>
                  <a:pt x="4" y="212"/>
                </a:lnTo>
                <a:lnTo>
                  <a:pt x="0" y="212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76300" y="25050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“时代变了”不是论证，是结论。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76300" y="31527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哪一句变了？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76300" y="38766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B4552D"/>
                </a:solidFill>
                <a:latin typeface="宋体"/>
                <a:ea typeface="宋体"/>
              </a:rPr>
              <a:t>举一个今天的具体现象，说清它怎么不符合那个判断。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举不出现象，就是没举证。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10/16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6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三类分开对待&lt;/Text&gt;&#13;&#10;    &lt;Text style={{ fontSize: 24, color: '#6B6B6B' }}&gt;对照&lt;/Text&gt;&#13;&#10;  &lt;/Box&gt;&#13;&#10;  &lt;Box style={{ height: 472, marginTop: 20, flexDirection: 'column', position: 'relative', zIndex: 5 }}&gt;&#13;&#10;  &lt;Box style={{ flexDirection: 'row', height: 472, alignItems: 'center' }}&gt;&#13;&#10;    &lt;Box style={{ flex: 1, marginRight: 16, padding: 24, background: 'rgba(31,58,52,0.06)', height: 300, flexDirection: 'column' }}&gt;&#13;&#10;      &lt;Text style={{ fontSize: 27, fontWeight: 'bold', color: '#1F3A34' }}&gt;真说不通&lt;/Text&gt;&#13;&#10;      &lt;Text style={{ fontSize: 26, color: '#B4552D', marginTop: 12 }}&gt;可以写&lt;/Text&gt;&#13;&#10;      &lt;Text style={{ fontSize: 25, color: '#1F3A34', lineHeight: 1.9, marginTop: 12 }}&gt;写清是哪一步不成立&lt;/Text&gt;&#13;&#10;    &lt;/Box&gt;&#13;&#10;    &lt;Box style={{ flex: 1, marginRight: 16, padding: 24, background: 'rgba(31,58,52,0.06)', height: 300, flexDirection: 'column' }}&gt;&#13;&#10;      &lt;Text style={{ fontSize: 27, fontWeight: 'bold', color: '#1F3A34' }}&gt;误读&lt;/Text&gt;&#13;&#10;      &lt;Text style={{ fontSize: 26, color: '#B4552D', marginTop: 12 }}&gt;要改&lt;/Text&gt;&#13;&#10;      &lt;Text style={{ fontSize: 25, color: '#1F3A34', lineHeight: 1.9, marginTop: 12 }}&gt;改掉，别舍不得&lt;/Text&gt;&#13;&#10;    &lt;/Box&gt;&#13;&#10;    &lt;Box style={{ flex: 1, padding: 24, background: 'rgba(31,58,52,0.06)', height: 300, flexDirection: 'column' }}&gt;&#13;&#10;      &lt;Text style={{ fontSize: 27, fontWeight: 'bold', color: '#1F3A34' }}&gt;时代变化&lt;/Text&gt;&#13;&#10;      &lt;Text style={{ fontSize: 26, color: '#B4552D', marginTop: 12 }}&gt;要举证&lt;/Text&gt;&#13;&#10;      &lt;Text style={{ fontSize: 25, color: '#1F3A34', lineHeight: 1.9, marginTop: 12 }}&gt;一个现象，说清不符在哪&lt;/Text&gt;&#13;&#10;    &lt;/Box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1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三类分开对待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对照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2076450"/>
            <a:ext cx="3552825" cy="28575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2305050"/>
            <a:ext cx="3095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真说不通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2733675"/>
            <a:ext cx="30956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可以写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3152775"/>
            <a:ext cx="3095625" cy="542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写清是哪一步不成立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314825" y="2076450"/>
            <a:ext cx="3562350" cy="28575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543425" y="2305050"/>
            <a:ext cx="31051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误读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543425" y="2733675"/>
            <a:ext cx="3105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要改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43425" y="3152775"/>
            <a:ext cx="3105150" cy="542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改掉，别舍不得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029575" y="2076450"/>
            <a:ext cx="3552825" cy="285750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258175" y="2305050"/>
            <a:ext cx="30956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3A34"/>
                </a:solidFill>
                <a:latin typeface="宋体"/>
                <a:ea typeface="宋体"/>
              </a:rPr>
              <a:t>时代变化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258175" y="2733675"/>
            <a:ext cx="30956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要举证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258175" y="3152775"/>
            <a:ext cx="3095625" cy="542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875">
                <a:solidFill>
                  <a:srgbClr val="1F3A34"/>
                </a:solidFill>
                <a:latin typeface="宋体"/>
                <a:ea typeface="宋体"/>
              </a:rPr>
              <a:t>一个现象，说清不符在哪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11/16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定稿：只改一处&lt;/Text&gt;&#13;&#10;    &lt;Text style={{ fontSize: 24, color: '#6B6B6B' }}&gt;修订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2, fontWeight: 'bold', color: '#1F3A34' }}&gt;定稿：只改一处&lt;/Text&gt;&#13;&#10;    &lt;Box style={{ marginTop: 26, borderLeft: '4px solid #B4552D', paddingLeft: 24 }}&gt;&#13;&#10;      &lt;Text style={{ fontSize: 28, color: '#1F3A34', lineHeight: 2.0 }}&gt;挑报告里最弱的那一句，改掉。&lt;/Text&gt;&#13;&#10;      &lt;Text style={{ fontSize: 28, color: '#1F3A34', lineHeight: 2.0 }}&gt;不重写全篇。&lt;/Text&gt;&#13;&#10;    &lt;/Box&gt;&#13;&#10;    &lt;Text style={{ fontSize: 27, color: '#B4552D', marginTop: 26 }}&gt;改完在旁边写一行：原来那句为什么弱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2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667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定稿：只改一处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修订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22669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F3A34"/>
                </a:solidFill>
                <a:latin typeface="宋体"/>
                <a:ea typeface="宋体"/>
              </a:rPr>
              <a:t>定稿：只改一处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2886075"/>
            <a:ext cx="11010900" cy="1295400"/>
          </a:xfrm>
          <a:custGeom>
            <a:pathLst>
              <a:path w="1156" h="136">
                <a:moveTo>
                  <a:pt x="0" y="0"/>
                </a:moveTo>
                <a:lnTo>
                  <a:pt x="4" y="0"/>
                </a:lnTo>
                <a:lnTo>
                  <a:pt x="4" y="136"/>
                </a:lnTo>
                <a:lnTo>
                  <a:pt x="0" y="136"/>
                </a:lnTo>
                <a:close/>
              </a:path>
            </a:pathLst>
          </a:custGeom>
          <a:solidFill>
            <a:srgbClr val="B4552D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76300" y="28860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挑报告里最弱的那一句，改掉。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76300" y="3533775"/>
            <a:ext cx="1070610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100">
                <a:solidFill>
                  <a:srgbClr val="1F3A34"/>
                </a:solidFill>
                <a:latin typeface="宋体"/>
                <a:ea typeface="宋体"/>
              </a:rPr>
              <a:t>不重写全篇。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>
                <a:solidFill>
                  <a:srgbClr val="B4552D"/>
                </a:solidFill>
                <a:latin typeface="宋体"/>
                <a:ea typeface="宋体"/>
              </a:rPr>
              <a:t>改完在旁边写一行：原来那句为什么弱。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12/16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“为什么弱”的写法&lt;/Text&gt;&#13;&#10;    &lt;Text style={{ fontSize: 24, color: '#6B6B6B' }}&gt;示例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写“为什么弱”的三种写法&lt;/Text&gt;&#13;&#10;    &lt;Box style={{ marginTop: 22, flexDirection: 'column' }}&gt;&#13;&#10;      &lt;Text style={{ fontSize: 26, color: '#1F3A34', lineHeight: 2.1, background: 'rgba(31,58,52,0.06)', padding: 12 }}&gt;一、“这句话只是结论，没给依据。”&lt;/Text&gt;&#13;&#10;      &lt;Text style={{ fontSize: 26, color: '#1F3A34', lineHeight: 2.1, background: 'rgba(31,58,52,0.06)', padding: 12, marginTop: 10 }}&gt;二、“这里的例子和概念对不上，差在……”&lt;/Text&gt;&#13;&#10;      &lt;Text style={{ fontSize: 26, color: '#1F3A34', lineHeight: 2.1, background: 'rgba(31,58,52,0.06)', padding: 12, marginTop: 10 }}&gt;三、“这句话前后两半说的是两件事。”&lt;/Text&gt;&#13;&#10;    &lt;/Box&gt;&#13;&#10;    &lt;Text style={{ fontSize: 25, color: '#6B6B6B', marginTop: 18 }}&gt;写出哪一种都行，就是要具体到句子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3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“为什么弱”的写法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示例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写“为什么弱”的三种写法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2171700"/>
            <a:ext cx="10972800" cy="8572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2171700"/>
            <a:ext cx="10972800" cy="857250"/>
          </a:xfrm>
          <a:prstGeom prst="rect"/>
        </p:spPr>
        <p:txBody>
          <a:bodyPr wrap="none" lIns="85725" tIns="85725" rIns="85725" bIns="85725"/>
          <a:p>
            <a:pPr>
              <a:lnSpc>
                <a:spcPct val="21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一、“这句话只是结论，没给依据。”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3124200"/>
            <a:ext cx="10972800" cy="8572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10972800" cy="857250"/>
          </a:xfrm>
          <a:prstGeom prst="rect"/>
        </p:spPr>
        <p:txBody>
          <a:bodyPr wrap="none" lIns="85725" tIns="85725" rIns="85725" bIns="85725"/>
          <a:p>
            <a:pPr>
              <a:lnSpc>
                <a:spcPct val="21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二、“这里的例子和概念对不上，差在……”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4076700"/>
            <a:ext cx="10972800" cy="857250"/>
          </a:xfrm>
          <a:prstGeom prst="rect">
            <a:avLst/>
          </a:prstGeom>
          <a:solidFill>
            <a:srgbClr val="1F3A34">
              <a:alpha val="6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10972800" cy="857250"/>
          </a:xfrm>
          <a:prstGeom prst="rect"/>
        </p:spPr>
        <p:txBody>
          <a:bodyPr wrap="none" lIns="85725" tIns="85725" rIns="85725" bIns="85725"/>
          <a:p>
            <a:pPr>
              <a:lnSpc>
                <a:spcPct val="210000"/>
              </a:lnSpc>
            </a:pPr>
            <a:r>
              <a:rPr lang="zh-CN" sz="1950">
                <a:solidFill>
                  <a:srgbClr val="1F3A34"/>
                </a:solidFill>
                <a:highlight>
                  <a:srgbClr val="1F3A34">
                    <a:alpha val="6000"/>
                  </a:srgbClr>
                </a:highlight>
                <a:latin typeface="宋体"/>
                <a:ea typeface="宋体"/>
              </a:rPr>
              <a:t>三、“这句话前后两半说的是两件事。”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0972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6B6B6B"/>
                </a:solidFill>
                <a:latin typeface="宋体"/>
                <a:ea typeface="宋体"/>
              </a:rPr>
              <a:t>写出哪一种都行，就是要具体到句子。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13/16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小结&lt;/Text&gt;&#13;&#10;    &lt;Text style={{ fontSize: 24, color: '#6B6B6B' }}&gt;回扣主问题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38, fontWeight: 'bold', color: '#1F3A34', lineHeight: 1.8 }}&gt;能说出这本书哪里说不通，&lt;/Text&gt;&#13;&#10;    &lt;Text style={{ fontSize: 38, fontWeight: 'bold', color: '#B4552D', lineHeight: 1.8, marginTop: 8 }}&gt;才算读完了它。&lt;/Text&gt;&#13;&#10;    &lt;Text style={{ fontSize: 26, color: '#6B6B6B', marginTop: 30 }}&gt;读法从“接受”变成“审查”，这一步才算走完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4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762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小结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439400" y="7905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回扣主问题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10972800" cy="790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850" b="1">
                <a:solidFill>
                  <a:srgbClr val="1F3A34"/>
                </a:solidFill>
                <a:latin typeface="宋体"/>
                <a:ea typeface="宋体"/>
              </a:rPr>
              <a:t>能说出这本书哪里说不通，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0972800" cy="790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2850" b="1">
                <a:solidFill>
                  <a:srgbClr val="B4552D"/>
                </a:solidFill>
                <a:latin typeface="宋体"/>
                <a:ea typeface="宋体"/>
              </a:rPr>
              <a:t>才算读完了它。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09600" y="432435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读法从“接受”变成“审查”，这一步才算走完。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14/16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82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单元四件产出&lt;/Text&gt;&#13;&#10;    &lt;Text style={{ fontSize: 24, color: '#6B6B6B' }}&gt;自查&lt;/Text&gt;&#13;&#10;  &lt;/Box&gt;&#13;&#10;  &lt;Box style={{ height: 472, marginTop: 20, flexDirection: 'column', position: 'relative', zIndex: 5 }}&gt;&#13;&#10;  &lt;Box style={{ height: 472, flexDirection: 'column', justifyContent: 'center' }}&gt;&#13;&#10;    &lt;Text style={{ fontSize: 30, fontWeight: 'bold', color: '#1F3A34' }}&gt;单元四件产出（今天交齐）&lt;/Text&gt;&#13;&#10;    &lt;Box style={{ marginTop: 20, flexDirection: 'column' }}&gt;&#13;&#10;      &lt;Text style={{ fontSize: 27, color: '#1F3A34', lineHeight: 2.0 }}&gt;一、分派表（14 篇 × 读法，含改过的一处）&lt;/Text&gt;&#13;&#10;      &lt;Text style={{ fontSize: 27, color: '#1F3A34', lineHeight: 2.0 }}&gt;二、概念卡 16 张（每张“一个反例”都不空）&lt;/Text&gt;&#13;&#10;      &lt;Text style={{ fontSize: 27, color: '#1F3A34', lineHeight: 2.0 }}&gt;三、结构图（箭头都有字）&lt;/Text&gt;&#13;&#10;      &lt;Text style={{ fontSize: 27, color: '#1F3A34', lineHeight: 2.0 }}&gt;四、读书报告（有一处“这里说不通”）&lt;/Text&gt;&#13;&#10;    &lt;/Box&gt;&#13;&#10;    &lt;Text style={{ fontSize: 26, color: '#B4552D', marginTop: 20 }}&gt;缺一件，本周内补齐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5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2286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单元四件产出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25200" y="7905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自查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3A34"/>
                </a:solidFill>
                <a:latin typeface="宋体"/>
                <a:ea typeface="宋体"/>
              </a:rPr>
              <a:t>单元四件产出（今天交齐）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2286000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一、分派表（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 xml:space="preserve">14 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篇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 xml:space="preserve"> × 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读法，含改过的一处）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2905125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二、概念卡</a:t>
            </a:r>
            <a:r>
              <a:rPr lang="en-US" sz="2025">
                <a:solidFill>
                  <a:srgbClr val="1F3A34"/>
                </a:solidFill>
                <a:latin typeface="宋体"/>
                <a:ea typeface="宋体"/>
              </a:rPr>
              <a:t xml:space="preserve"> 16 </a:t>
            </a: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张（每张“一个反例”都不空）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三、结构图（箭头都有字）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4143375"/>
            <a:ext cx="10972800" cy="6191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2025">
                <a:solidFill>
                  <a:srgbClr val="1F3A34"/>
                </a:solidFill>
                <a:latin typeface="宋体"/>
                <a:ea typeface="宋体"/>
              </a:rPr>
              <a:t>四、读书报告（有一处“这里说不通”）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4953000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B4552D"/>
                </a:solidFill>
                <a:latin typeface="宋体"/>
                <a:ea typeface="宋体"/>
              </a:rPr>
              <a:t>缺一件，本周内补齐。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15/16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background: '#F5F1E6', padding: '40px 64px', fontFamily: '宋体' }}&gt;&#13;&#10;  &lt;Box style={{ flexDirection: 'row', justifyContent: 'space-between', alignItems: 'flex-end', height: 72, position: 'relative', zIndex: 5 }}&gt;&#13;&#10;    &lt;Text style={{ fontSize: 40, fontWeight: 'bold', color: '#1F3A34', lineHeight: 1.15 }}&gt;结束语&lt;/Text&gt;&#13;&#10;    &lt;Text style={{ fontSize: 24, color: '#6B6B6B' }}&gt;单元收束&lt;/Text&gt;&#13;&#10;  &lt;/Box&gt;&#13;&#10;  &lt;Box style={{ height: 472, marginTop: 20, flexDirection: 'column', position: 'relative', zIndex: 5 }}&gt;&#13;&#10;  &lt;Box style={{ height: 472, justifyContent: 'center', flexDirection: 'column' }}&gt;&#13;&#10;    &lt;Text style={{ fontSize: 34, fontWeight: 'bold', color: '#1F3A34', lineHeight: 1.9 }}&gt;十四篇不必用一种读法读；&lt;/Text&gt;&#13;&#10;    &lt;Text style={{ fontSize: 34, fontWeight: 'bold', color: '#B4552D', lineHeight: 1.9, marginTop: 8 }}&gt;但每一篇，都要有一种读法读得动它。&lt;/Text&gt;&#13;&#10;    &lt;Text style={{ fontSize: 26, color: '#6B6B6B', marginTop: 34 }}&gt;下一本学术书，先问一句：它哪里说不通。&lt;/Text&gt;&#13;&#10;  &lt;/Box&gt;&#13;&#10;  &lt;/Box&gt;&#13;&#10;  &lt;Box style={{ height: 40, marginTop: 12, borderTop: '1px solid rgba(31,58,52,0.2)', flexDirection: 'row', justifyContent: 'space-between', alignItems: 'center', paddingTop: 8, position: 'relative', zIndex: 5 }}&gt;&#13;&#10;    &lt;Text style={{ fontSize: 24, color: '#6B6B6B' }}&gt;《乡土中国》· 第 5 课时&lt;/Text&gt;&#13;&#10;    &lt;Text style={{ fontSize: 24, color: '#B4552D' }}&gt;16/16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1E6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143000" cy="5334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000" b="1">
                <a:solidFill>
                  <a:srgbClr val="1F3A34"/>
                </a:solidFill>
                <a:latin typeface="宋体"/>
                <a:ea typeface="宋体"/>
              </a:rPr>
              <a:t>结束语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668000" y="7905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单元收束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550" b="1">
                <a:solidFill>
                  <a:srgbClr val="1F3A34"/>
                </a:solidFill>
                <a:latin typeface="宋体"/>
                <a:ea typeface="宋体"/>
              </a:rPr>
              <a:t>十四篇不必用一种读法读；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2550" b="1">
                <a:solidFill>
                  <a:srgbClr val="B4552D"/>
                </a:solidFill>
                <a:latin typeface="宋体"/>
                <a:ea typeface="宋体"/>
              </a:rPr>
              <a:t>但每一篇，都要有一种读法读得动它。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4295775"/>
            <a:ext cx="10972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6B6B6B"/>
                </a:solidFill>
                <a:latin typeface="宋体"/>
                <a:ea typeface="宋体"/>
              </a:rPr>
              <a:t>下一本学术书，先问一句：它哪里说不通。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5867400"/>
            <a:ext cx="10972800" cy="381000"/>
          </a:xfrm>
          <a:custGeom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F3A34">
              <a:alpha val="20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2486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《乡土中国》·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第</a:t>
            </a:r>
            <a:r>
              <a:rPr lang="en-US" sz="1800">
                <a:solidFill>
                  <a:srgbClr val="6B6B6B"/>
                </a:solidFill>
                <a:latin typeface="宋体"/>
                <a:ea typeface="宋体"/>
              </a:rPr>
              <a:t xml:space="preserve"> 5 </a:t>
            </a:r>
            <a:r>
              <a:rPr lang="zh-CN" sz="1800">
                <a:solidFill>
                  <a:srgbClr val="6B6B6B"/>
                </a:solidFill>
                <a:latin typeface="宋体"/>
                <a:ea typeface="宋体"/>
              </a:rPr>
              <a:t>课时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991850" y="5962650"/>
            <a:ext cx="59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B4552D"/>
                </a:solidFill>
                <a:latin typeface="宋体"/>
                <a:ea typeface="宋体"/>
              </a:rPr>
              <a:t>16/16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2026-10-26T21:14:02Z</dcterms:created>
  <dcterms:modified xsi:type="dcterms:W3CDTF">2026-10-26T21:14:02Z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{"AIGC":{"Label":"1","ContentProducer":"00119111010856365494821B355","ProduceID":"01a17819c8fa781eb2a174b2c3a85ac7","ReservedCode1":"","ContentPropagator":"00119111010856365494821B355","PropagateID":"01a17819c8fa781eb2a174b2c3a85ac7","ReservedCode2":""}}</vt:lpwstr>
  </property>
</Properties>
</file>