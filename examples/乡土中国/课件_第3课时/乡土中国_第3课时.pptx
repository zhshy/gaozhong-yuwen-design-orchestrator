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jp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jp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background: '#F5F1E6', padding: '40px 64px', fontFamily: '宋体' }}&gt;&#13;&#10;  &lt;Image src=&quot;../课件/assets/bg_village.jpg&quot; style={{ position: 'absolute', top: 0, left: 0, width: 1280, height: 720, objectFit: 'cover' }} /&gt;&#13;&#10;  &lt;Box style={{ height: 560, flexDirection: 'row', alignItems: 'center', position: 'relative', zIndex: 5 }}&gt;&#13;&#10;    &lt;Box style={{ width: 700, background: 'rgba(245,241,230,0.9)', padding: '44px 36px 44px 32px', flexDirection: 'column', borderLeft: '6px solid #B4552D' }}&gt;&#13;&#10;      &lt;Text style={{ fontSize: 56, fontWeight: 'bold', color: '#1F3A34', lineHeight: 1.3 }}&gt;《乡土中国》&lt;/Text&gt;&#13;&#10;      &lt;Text style={{ fontSize: 34, color: '#1F3A34', marginTop: 14 }}&gt;第 3 课时 · 推进课&lt;/Text&gt;&#13;&#10;      &lt;Text style={{ fontSize: 30, color: '#B4552D', marginTop: 26 }}&gt;画圈与分维：读中间四篇&lt;/Text&gt;&#13;&#10;    &lt;/Box&gt;&#13;&#10;  &lt;/Box&gt;&#13;&#10;  &lt;Box style={{ height: 46, borderTop: '1px solid rgba(31,58,52,0.2)', flexDirection: 'row', justifyContent: 'space-between', alignItems: 'center', paddingTop: 8, position: 'relative', zIndex: 5, background: 'rgba(245,241,230,0.92)', paddingLeft: 12, paddingRight: 12 }}&gt;&#13;&#10;    &lt;Text style={{ fontSize: 24, color: '#6B6B6B' }}&gt;统编版必修上 · 第五单元&lt;/Text&gt;&#13;&#10;    &lt;Text style={{ fontSize: 24, color: '#B4552D' }}&gt;01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5808" r="0" b="580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66750" y="1657350"/>
            <a:ext cx="6610350" cy="2790825"/>
          </a:xfrm>
          <a:prstGeom prst="rect">
            <a:avLst/>
          </a:prstGeom>
          <a:solidFill>
            <a:srgbClr val="F5F1E6">
              <a:alpha val="9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1657350"/>
            <a:ext cx="6667500" cy="2790825"/>
          </a:xfrm>
          <a:custGeom>
            <a:pathLst>
              <a:path w="700" h="293">
                <a:moveTo>
                  <a:pt x="0" y="0"/>
                </a:moveTo>
                <a:lnTo>
                  <a:pt x="6" y="0"/>
                </a:lnTo>
                <a:lnTo>
                  <a:pt x="6" y="293"/>
                </a:lnTo>
                <a:lnTo>
                  <a:pt x="0" y="293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71550" y="2076450"/>
            <a:ext cx="5962650" cy="8382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4200" b="1">
                <a:solidFill>
                  <a:srgbClr val="1F3A34"/>
                </a:solidFill>
                <a:latin typeface="宋体"/>
                <a:ea typeface="宋体"/>
              </a:rPr>
              <a:t>《乡土中国》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71550" y="3048000"/>
            <a:ext cx="5962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第</a:t>
            </a:r>
            <a:r>
              <a:rPr lang="en-US" sz="2550">
                <a:solidFill>
                  <a:srgbClr val="1F3A34"/>
                </a:solidFill>
                <a:latin typeface="宋体"/>
                <a:ea typeface="宋体"/>
              </a:rPr>
              <a:t xml:space="preserve"> 3 </a:t>
            </a: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课时</a:t>
            </a:r>
            <a:r>
              <a:rPr lang="en-US" sz="2550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推进课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71550" y="3686175"/>
            <a:ext cx="5962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B4552D"/>
                </a:solidFill>
                <a:latin typeface="宋体"/>
                <a:ea typeface="宋体"/>
              </a:rPr>
              <a:t>画圈与分维：读中间四篇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5724525"/>
            <a:ext cx="10972800" cy="428625"/>
          </a:xfrm>
          <a:prstGeom prst="rect">
            <a:avLst/>
          </a:prstGeom>
          <a:solidFill>
            <a:srgbClr val="F5F1E6">
              <a:alpha val="92000"/>
            </a:srgbClr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609600" y="5715000"/>
            <a:ext cx="10972800" cy="438150"/>
          </a:xfrm>
          <a:custGeom>
            <a:pathLst>
              <a:path w="1152" h="4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2514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统编版必修上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第五单元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0877550" y="5838825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01/18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4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上周的账：第 4 篇接不起来&lt;/Text&gt;&#13;&#10;    &lt;Text style={{ fontSize: 24, color: '#6B6B6B' }}&gt;导入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28, color: '#1F3A34', lineHeight: 2.0 }}&gt;上节课我们把第 1 篇接成了一条链。&lt;/Text&gt;&#13;&#10;    &lt;Text style={{ fontSize: 28, color: '#1F3A34', lineHeight: 2.0 }}&gt;有人试过第 4 篇《差序格局》吗？&lt;/Text&gt;&#13;&#10;    &lt;Box style={{ marginTop: 24, flexDirection: 'column' }}&gt;&#13;&#10;      &lt;Text style={{ fontSize: 28, color: '#1F3A34', lineHeight: 2.1, background: 'rgba(31,58,52,0.06)', padding: 14 }}&gt;试过的人：断在哪一段？&lt;/Text&gt;&#13;&#10;      &lt;Text style={{ fontSize: 28, color: '#B4552D', lineHeight: 2.1, background: 'rgba(31,58,52,0.06)', padding: 14, marginTop: 10 }}&gt;接不起来不是你的问题——它本来就不是在推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02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4657725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上周的账：第</a:t>
            </a:r>
            <a:r>
              <a:rPr lang="en-US" sz="3000" b="1">
                <a:solidFill>
                  <a:srgbClr val="1F3A34"/>
                </a:solidFill>
                <a:latin typeface="宋体"/>
                <a:ea typeface="宋体"/>
              </a:rPr>
              <a:t xml:space="preserve"> 4 </a:t>
            </a: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篇接不起来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导入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1752600"/>
            <a:ext cx="109728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上节课我们把第</a:t>
            </a:r>
            <a:r>
              <a:rPr lang="en-US" sz="2100">
                <a:solidFill>
                  <a:srgbClr val="1F3A34"/>
                </a:solidFill>
                <a:latin typeface="宋体"/>
                <a:ea typeface="宋体"/>
              </a:rPr>
              <a:t xml:space="preserve"> 1 </a:t>
            </a: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篇接成了一条链。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109728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有人试过第</a:t>
            </a:r>
            <a:r>
              <a:rPr lang="en-US" sz="2100">
                <a:solidFill>
                  <a:srgbClr val="1F3A34"/>
                </a:solidFill>
                <a:latin typeface="宋体"/>
                <a:ea typeface="宋体"/>
              </a:rPr>
              <a:t xml:space="preserve"> 4 </a:t>
            </a: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篇《差序格局》吗？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09600" y="3276600"/>
            <a:ext cx="10972800" cy="94297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9600" y="3276600"/>
            <a:ext cx="10972800" cy="942975"/>
          </a:xfrm>
          <a:prstGeom prst="rect"/>
        </p:spPr>
        <p:txBody>
          <a:bodyPr wrap="none" lIns="100013" tIns="100013" rIns="100013" bIns="100013"/>
          <a:p>
            <a:pPr>
              <a:lnSpc>
                <a:spcPct val="210000"/>
              </a:lnSpc>
            </a:pPr>
            <a:r>
              <a:rPr lang="zh-CN" sz="2100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试过的人：断在哪一段？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4314825"/>
            <a:ext cx="10972800" cy="94297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9600" y="4314825"/>
            <a:ext cx="10972800" cy="942975"/>
          </a:xfrm>
          <a:prstGeom prst="rect"/>
        </p:spPr>
        <p:txBody>
          <a:bodyPr wrap="none" lIns="100013" tIns="100013" rIns="100013" bIns="100013"/>
          <a:p>
            <a:pPr>
              <a:lnSpc>
                <a:spcPct val="210000"/>
              </a:lnSpc>
            </a:pPr>
            <a:r>
              <a:rPr lang="zh-CN" sz="2100">
                <a:solidFill>
                  <a:srgbClr val="B4552D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接不起来不是你的问题——它本来就不是在推。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02/18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59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主问题&lt;/Text&gt;&#13;&#10;    &lt;Text style={{ fontSize: 24, color: '#6B6B6B' }}&gt;&lt;/Text&gt;&#13;&#10;  &lt;/Box&gt;&#13;&#10;  &lt;Box style={{ height: 472, marginTop: 20, flexDirection: 'column', position: 'relative', zIndex: 5 }}&gt;&#13;&#10;  &lt;Box style={{ height: 472, justifyContent: 'center', flexDirection: 'column' }}&gt;&#13;&#10;    &lt;Text style={{ fontSize: 52, fontWeight: 'bold', color: '#1F3A34', lineHeight: 1.55 }}&gt;“私”是道德问题，&lt;/Text&gt;&#13;&#10;    &lt;Text style={{ fontSize: 52, fontWeight: 'bold', color: '#1F3A34', lineHeight: 1.55 }}&gt;还是格局问题？&lt;/Text&gt;&#13;&#10;    &lt;Box style={{ marginTop: 36, borderLeft: '4px solid #B4552D', paddingLeft: 24 }}&gt;&#13;&#10;      &lt;Text style={{ fontSize: 28, color: '#1F3A34' }}&gt;这个问题，接龙接不出来，得画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03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143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主问题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582400" y="1066800"/>
            <a:ext cx="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2247900"/>
            <a:ext cx="1097280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3900" b="1">
                <a:solidFill>
                  <a:srgbClr val="1F3A34"/>
                </a:solidFill>
                <a:latin typeface="宋体"/>
                <a:ea typeface="宋体"/>
              </a:rPr>
              <a:t>“私”是道德问题，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1097280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3900" b="1">
                <a:solidFill>
                  <a:srgbClr val="1F3A34"/>
                </a:solidFill>
                <a:latin typeface="宋体"/>
                <a:ea typeface="宋体"/>
              </a:rPr>
              <a:t>还是格局问题？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9600" y="4438650"/>
            <a:ext cx="11010900" cy="323850"/>
          </a:xfrm>
          <a:custGeom>
            <a:pathLst>
              <a:path w="1156" h="34">
                <a:moveTo>
                  <a:pt x="0" y="0"/>
                </a:moveTo>
                <a:lnTo>
                  <a:pt x="4" y="0"/>
                </a:lnTo>
                <a:lnTo>
                  <a:pt x="4" y="34"/>
                </a:lnTo>
                <a:lnTo>
                  <a:pt x="0" y="3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76300" y="4438650"/>
            <a:ext cx="10706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这个问题，接龙接不出来，得画。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03/18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70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今天做三件事&lt;/Text&gt;&#13;&#10;    &lt;Text style={{ fontSize: 24, color: '#6B6B6B' }}&gt;任务总览&lt;/Text&gt;&#13;&#10;  &lt;/Box&gt;&#13;&#10;  &lt;Box style={{ height: 472, marginTop: 20, flexDirection: 'column', position: 'relative', zIndex: 5 }}&gt;&#13;&#10;  &lt;Box style={{ flexDirection: 'row', height: 472, alignItems: 'center' }}&gt;&#13;&#10;    &lt;Box style={{ flex: 1, marginRight: 18, padding: 26, background: 'rgba(31,58,52,0.06)', height: 310, flexDirection: 'column' }}&gt;&#13;&#10;      &lt;Text style={{ fontSize: 25, color: '#B4552D' }}&gt;任务一 · 16 分钟&lt;/Text&gt;&#13;&#10;      &lt;Text style={{ fontSize: 32, fontWeight: 'bold', color: '#1F3A34', marginTop: 14 }}&gt;画圈&lt;/Text&gt;&#13;&#10;      &lt;Text style={{ fontSize: 25, color: '#1F3A34', lineHeight: 1.8, marginTop: 14 }}&gt;以“己”为中心画出来，箭头必须有字&lt;/Text&gt;&#13;&#10;    &lt;/Box&gt;&#13;&#10;    &lt;Box style={{ flex: 1, marginRight: 18, padding: 26, background: 'rgba(31,58,52,0.06)', height: 310, flexDirection: 'column' }}&gt;&#13;&#10;      &lt;Text style={{ fontSize: 25, color: '#B4552D' }}&gt;任务二 · 15 分钟&lt;/Text&gt;&#13;&#10;      &lt;Text style={{ fontSize: 32, fontWeight: 'bold', color: '#1F3A34', marginTop: 14 }}&gt;分维两篇&lt;/Text&gt;&#13;&#10;      &lt;Text style={{ fontSize: 25, color: '#1F3A34', lineHeight: 1.8, marginTop: 14 }}&gt;团体 vs 差序；西洋的家 vs 小家族&lt;/Text&gt;&#13;&#10;    &lt;/Box&gt;&#13;&#10;    &lt;Box style={{ flex: 1, padding: 26, background: 'rgba(31,58,52,0.06)', height: 310, flexDirection: 'column' }}&gt;&#13;&#10;      &lt;Text style={{ fontSize: 25, color: '#B4552D' }}&gt;任务三 · 6 分钟&lt;/Text&gt;&#13;&#10;      &lt;Text style={{ fontSize: 32, fontWeight: 'bold', color: '#1F3A34', marginTop: 14 }}&gt;接龙第 7 篇&lt;/Text&gt;&#13;&#10;      &lt;Text style={{ fontSize: 25, color: '#1F3A34', lineHeight: 1.8, marginTop: 14 }}&gt;稳定 → 效率 → 排斥私情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04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今天做三件事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0668000" y="7905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任务总览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09600" y="2028825"/>
            <a:ext cx="3543300" cy="2952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57250" y="227647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任务一</a:t>
            </a:r>
            <a:r>
              <a:rPr lang="en-US" sz="1875">
                <a:solidFill>
                  <a:srgbClr val="B4552D"/>
                </a:solidFill>
                <a:latin typeface="宋体"/>
                <a:ea typeface="宋体"/>
              </a:rPr>
              <a:t xml:space="preserve"> · 16 </a:t>
            </a: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57250" y="269557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画圈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57250" y="3200400"/>
            <a:ext cx="30480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以“己”为中心画出来，箭头必须有字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4324350" y="2028825"/>
            <a:ext cx="3543300" cy="2952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572000" y="227647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任务二</a:t>
            </a:r>
            <a:r>
              <a:rPr lang="en-US" sz="1875">
                <a:solidFill>
                  <a:srgbClr val="B4552D"/>
                </a:solidFill>
                <a:latin typeface="宋体"/>
                <a:ea typeface="宋体"/>
              </a:rPr>
              <a:t xml:space="preserve"> · 15 </a:t>
            </a: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572000" y="269557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分维两篇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572000" y="3200400"/>
            <a:ext cx="30480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团体</a:t>
            </a:r>
            <a:r>
              <a:rPr lang="en-US" sz="1875">
                <a:solidFill>
                  <a:srgbClr val="1F3A34"/>
                </a:solidFill>
                <a:latin typeface="宋体"/>
                <a:ea typeface="宋体"/>
              </a:rPr>
              <a:t xml:space="preserve"> vs </a:t>
            </a: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差序；西洋的家</a:t>
            </a:r>
            <a:r>
              <a:rPr lang="en-US" sz="1875">
                <a:solidFill>
                  <a:srgbClr val="1F3A34"/>
                </a:solidFill>
                <a:latin typeface="宋体"/>
                <a:ea typeface="宋体"/>
              </a:rPr>
              <a:t xml:space="preserve"> vs </a:t>
            </a: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小家族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8039100" y="2028825"/>
            <a:ext cx="3543300" cy="2952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286750" y="227647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任务三</a:t>
            </a:r>
            <a:r>
              <a:rPr lang="en-US" sz="1875">
                <a:solidFill>
                  <a:srgbClr val="B4552D"/>
                </a:solidFill>
                <a:latin typeface="宋体"/>
                <a:ea typeface="宋体"/>
              </a:rPr>
              <a:t xml:space="preserve"> · 6 </a:t>
            </a: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286750" y="269557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接龙第</a:t>
            </a:r>
            <a:r>
              <a:rPr lang="en-US" sz="2400" b="1">
                <a:solidFill>
                  <a:srgbClr val="1F3A34"/>
                </a:solidFill>
                <a:latin typeface="宋体"/>
                <a:ea typeface="宋体"/>
              </a:rPr>
              <a:t xml:space="preserve"> 7 </a:t>
            </a: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篇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286750" y="3200400"/>
            <a:ext cx="3048000" cy="5143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稳定</a:t>
            </a:r>
            <a:r>
              <a:rPr lang="en-US" sz="1875">
                <a:solidFill>
                  <a:srgbClr val="1F3A34"/>
                </a:solidFill>
                <a:latin typeface="宋体"/>
                <a:ea typeface="宋体"/>
              </a:rPr>
              <a:t xml:space="preserve"> → </a:t>
            </a: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效率</a:t>
            </a:r>
            <a:r>
              <a:rPr lang="en-US" sz="1875">
                <a:solidFill>
                  <a:srgbClr val="1F3A34"/>
                </a:solidFill>
                <a:latin typeface="宋体"/>
                <a:ea typeface="宋体"/>
              </a:rPr>
              <a:t xml:space="preserve"> → </a:t>
            </a: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排斥私情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04/18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89" name="" descr="&lt;Slide style={{ background: '#F5F1E6', padding: '40px 64px', fontFamily: '宋体' }}&gt;&#13;&#10;  &lt;Image src=&quot;../课件/assets/bg_pages.jpg&quot; style={{ position: 'absolute', top: 0, left: 0, width: 1280, height: 720, objectFit: 'cover' }} /&gt;&#13;&#10;  &lt;Box style={{ height: 640, flexDirection: 'column', justifyContent: 'center', alignItems: 'flex-end', position: 'relative', zIndex: 5 }}&gt;&#13;&#10;    &lt;Box style={{ flexDirection: 'column', alignItems: 'flex-end', background: 'rgba(245,241,230,0.84)', padding: '32px 28px' }}&gt;&#13;&#10;      &lt;Text style={{ fontSize: 26, color: '#B4552D', letterSpacing: 4 }}&gt;任 务 一&lt;/Text&gt;&#13;&#10;      &lt;Text style={{ fontSize: 60, fontWeight: 'bold', color: '#1F3A34', marginTop: 12 }}&gt;接不起来，就画&lt;/Text&gt;&#13;&#10;      &lt;Text style={{ fontSize: 30, color: '#1F3A34', marginTop: 20 }}&gt;它不是在往前推，是在摆位置&lt;/Text&gt;&#13;&#10;    &lt;/Box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pic>
        <p:nvPicPr>
          <p:cNvPr id="191" name=""/>
          <p:cNvPicPr>
            <a:picLocks noChangeAspect="1"/>
          </p:cNvPicPr>
          <p:nvPr/>
        </p:nvPicPr>
        <p:blipFill>
          <a:blip r:embed="rId1"/>
          <a:srcRect l="0" t="5808" r="0" b="580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92" name=""/>
          <p:cNvSpPr/>
          <p:nvPr/>
        </p:nvSpPr>
        <p:spPr>
          <a:xfrm rot="0" flipH="0" flipV="0">
            <a:off x="7048500" y="2305050"/>
            <a:ext cx="4533900" cy="2247900"/>
          </a:xfrm>
          <a:prstGeom prst="rect">
            <a:avLst/>
          </a:prstGeom>
          <a:solidFill>
            <a:srgbClr val="F5F1E6">
              <a:alpha val="84000"/>
            </a:srgbClr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0220325" y="2609850"/>
            <a:ext cx="1095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任</a:t>
            </a:r>
            <a:r>
              <a:rPr lang="en-US" sz="1950" spc="3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务</a:t>
            </a:r>
            <a:r>
              <a:rPr lang="en-US" sz="1950" spc="3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一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315200" y="3028950"/>
            <a:ext cx="40005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1F3A34"/>
                </a:solidFill>
                <a:latin typeface="宋体"/>
                <a:ea typeface="宋体"/>
              </a:rPr>
              <a:t>接不起来，就画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600950" y="3905250"/>
            <a:ext cx="3714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它不是在往前推，是在摆位置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9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原文：一块石头丢在水面上&lt;/Text&gt;&#13;&#10;    &lt;Text style={{ fontSize: 24, color: '#6B6B6B' }}&gt;第 4 篇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2, color: '#1F3A34', lineHeight: 2.1 }}&gt;「我们的格局……好像把一块石头丢在水面上&lt;/Text&gt;&#13;&#10;    &lt;Text style={{ fontSize: 32, color: '#1F3A34', lineHeight: 2.1 }}&gt;所发生的一圈圈推出去的波纹。」&lt;/Text&gt;&#13;&#10;    &lt;Text style={{ fontSize: 24, color: '#6B6B6B', marginTop: 18 }}&gt;——《差序格局》，第 4 篇&lt;/Text&gt;&#13;&#10;    &lt;Text style={{ fontSize: 28, color: '#B4552D', marginTop: 26 }}&gt;波纹是什么关系？圈和圈之间是包含，还是并列？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06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4572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原文：一块石头丢在水面上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0848975" y="790575"/>
            <a:ext cx="7334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篇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10972800" cy="7715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400">
                <a:solidFill>
                  <a:srgbClr val="1F3A34"/>
                </a:solidFill>
                <a:latin typeface="宋体"/>
                <a:ea typeface="宋体"/>
              </a:rPr>
              <a:t>「我们的格局……好像把一块石头丢在水面上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3000375"/>
            <a:ext cx="10972800" cy="7715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400">
                <a:solidFill>
                  <a:srgbClr val="1F3A34"/>
                </a:solidFill>
                <a:latin typeface="宋体"/>
                <a:ea typeface="宋体"/>
              </a:rPr>
              <a:t>所发生的一圈圈推出去的波纹。」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394335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——《差序格局》，第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篇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446722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波纹是什么关系？圈和圈之间是包含，还是并列？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06/18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07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从内到外五层&lt;/Text&gt;&#13;&#10;    &lt;Text style={{ fontSize: 24, color: '#6B6B6B' }}&gt;任务一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fontWeight: 'bold', color: '#1F3A34' }}&gt;从内到外，这几层必须标出来：&lt;/Text&gt;&#13;&#10;    &lt;Box style={{ marginTop: 24, flexDirection: 'column' }}&gt;&#13;&#10;      &lt;Text style={{ fontSize: 29, color: '#1F3A34', lineHeight: 1.85 }}&gt;己 —— 圈的中心，永远是“自己”&lt;/Text&gt;&#13;&#10;      &lt;Text style={{ fontSize: 29, color: '#1F3A34', lineHeight: 1.85 }}&gt;家 —— 沿着父系推出去&lt;/Text&gt;&#13;&#10;      &lt;Text style={{ fontSize: 29, color: '#1F3A34', lineHeight: 1.85 }}&gt;族 —— 功能复杂，是个事业组织&lt;/Text&gt;&#13;&#10;      &lt;Text style={{ fontSize: 29, color: '#1F3A34', lineHeight: 1.85 }}&gt;乡 —— 聚村而居&lt;/Text&gt;&#13;&#10;      &lt;Text style={{ fontSize: 29, color: '#1F3A34', lineHeight: 1.85 }}&gt;天下 —— 推己及人推到最外&lt;/Text&gt;&#13;&#10;    &lt;/Box&gt;&#13;&#10;    &lt;Text style={{ fontSize: 26, color: '#B4552D', marginTop: 20 }}&gt;每一层与上一层之间的箭头，写清是什么关系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07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从内到外五层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任务一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09600" y="1428750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从内到外，这几层必须标出来：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09600" y="2000250"/>
            <a:ext cx="10972800" cy="619125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2175">
                <a:solidFill>
                  <a:srgbClr val="1F3A34"/>
                </a:solidFill>
                <a:latin typeface="宋体"/>
                <a:ea typeface="宋体"/>
              </a:rPr>
              <a:t>己</a:t>
            </a:r>
            <a:r>
              <a:rPr lang="en-US" sz="2175">
                <a:solidFill>
                  <a:srgbClr val="1F3A34"/>
                </a:solidFill>
                <a:latin typeface="宋体"/>
                <a:ea typeface="宋体"/>
              </a:rPr>
              <a:t xml:space="preserve"> —— </a:t>
            </a:r>
            <a:r>
              <a:rPr lang="zh-CN" sz="2175">
                <a:solidFill>
                  <a:srgbClr val="1F3A34"/>
                </a:solidFill>
                <a:latin typeface="宋体"/>
                <a:ea typeface="宋体"/>
              </a:rPr>
              <a:t>圈的中心，永远是“自己”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2619375"/>
            <a:ext cx="10972800" cy="619125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2175">
                <a:solidFill>
                  <a:srgbClr val="1F3A34"/>
                </a:solidFill>
                <a:latin typeface="宋体"/>
                <a:ea typeface="宋体"/>
              </a:rPr>
              <a:t>家</a:t>
            </a:r>
            <a:r>
              <a:rPr lang="en-US" sz="2175">
                <a:solidFill>
                  <a:srgbClr val="1F3A34"/>
                </a:solidFill>
                <a:latin typeface="宋体"/>
                <a:ea typeface="宋体"/>
              </a:rPr>
              <a:t xml:space="preserve"> —— </a:t>
            </a:r>
            <a:r>
              <a:rPr lang="zh-CN" sz="2175">
                <a:solidFill>
                  <a:srgbClr val="1F3A34"/>
                </a:solidFill>
                <a:latin typeface="宋体"/>
                <a:ea typeface="宋体"/>
              </a:rPr>
              <a:t>沿着父系推出去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09600" y="3238500"/>
            <a:ext cx="10972800" cy="619125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2175">
                <a:solidFill>
                  <a:srgbClr val="1F3A34"/>
                </a:solidFill>
                <a:latin typeface="宋体"/>
                <a:ea typeface="宋体"/>
              </a:rPr>
              <a:t>族</a:t>
            </a:r>
            <a:r>
              <a:rPr lang="en-US" sz="2175">
                <a:solidFill>
                  <a:srgbClr val="1F3A34"/>
                </a:solidFill>
                <a:latin typeface="宋体"/>
                <a:ea typeface="宋体"/>
              </a:rPr>
              <a:t xml:space="preserve"> —— </a:t>
            </a:r>
            <a:r>
              <a:rPr lang="zh-CN" sz="2175">
                <a:solidFill>
                  <a:srgbClr val="1F3A34"/>
                </a:solidFill>
                <a:latin typeface="宋体"/>
                <a:ea typeface="宋体"/>
              </a:rPr>
              <a:t>功能复杂，是个事业组织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3857625"/>
            <a:ext cx="10972800" cy="619125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2175">
                <a:solidFill>
                  <a:srgbClr val="1F3A34"/>
                </a:solidFill>
                <a:latin typeface="宋体"/>
                <a:ea typeface="宋体"/>
              </a:rPr>
              <a:t>乡</a:t>
            </a:r>
            <a:r>
              <a:rPr lang="en-US" sz="2175">
                <a:solidFill>
                  <a:srgbClr val="1F3A34"/>
                </a:solidFill>
                <a:latin typeface="宋体"/>
                <a:ea typeface="宋体"/>
              </a:rPr>
              <a:t xml:space="preserve"> —— </a:t>
            </a:r>
            <a:r>
              <a:rPr lang="zh-CN" sz="2175">
                <a:solidFill>
                  <a:srgbClr val="1F3A34"/>
                </a:solidFill>
                <a:latin typeface="宋体"/>
                <a:ea typeface="宋体"/>
              </a:rPr>
              <a:t>聚村而居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09600" y="4476750"/>
            <a:ext cx="10972800" cy="619125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2175">
                <a:solidFill>
                  <a:srgbClr val="1F3A34"/>
                </a:solidFill>
                <a:latin typeface="宋体"/>
                <a:ea typeface="宋体"/>
              </a:rPr>
              <a:t>天下</a:t>
            </a:r>
            <a:r>
              <a:rPr lang="en-US" sz="2175">
                <a:solidFill>
                  <a:srgbClr val="1F3A34"/>
                </a:solidFill>
                <a:latin typeface="宋体"/>
                <a:ea typeface="宋体"/>
              </a:rPr>
              <a:t xml:space="preserve"> —— </a:t>
            </a:r>
            <a:r>
              <a:rPr lang="zh-CN" sz="2175">
                <a:solidFill>
                  <a:srgbClr val="1F3A34"/>
                </a:solidFill>
                <a:latin typeface="宋体"/>
                <a:ea typeface="宋体"/>
              </a:rPr>
              <a:t>推己及人推到最外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09600" y="5286375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每一层与上一层之间的箭头，写清是什么关系。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07/18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21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判据：箭头必须有字&lt;/Text&gt;&#13;&#10;    &lt;Text style={{ fontSize: 24, color: '#6B6B6B' }}&gt;读法三&lt;/Text&gt;&#13;&#10;  &lt;/Box&gt;&#13;&#10;  &lt;Box style={{ height: 472, marginTop: 20, flexDirection: 'column', position: 'relative', zIndex: 5 }}&gt;&#13;&#10;  &lt;Box style={{ flexDirection: 'row', height: 472, alignItems: 'center' }}&gt;&#13;&#10;    &lt;Box style={{ width: 430, marginRight: 30, flexDirection: 'column' }}&gt;&#13;&#10;      &lt;Image src=&quot;../课件/assets/img_waves.jpg&quot; style={{ width: 430, height: 290, objectFit: 'cover' }} /&gt;&#13;&#10;      &lt;Text style={{ fontSize: 24, color: '#6B6B6B', marginTop: 10 }}&gt;水波纹 · 对应原文“一圈圈推出去的波纹”&lt;/Text&gt;&#13;&#10;    &lt;/Box&gt;&#13;&#10;    &lt;Box style={{ flex: 1, flexDirection: 'column' }}&gt;&#13;&#10;      &lt;Text style={{ fontSize: 30, fontWeight: 'bold', color: '#1F3A34' }}&gt;判据：箭头必须有字&lt;/Text&gt;&#13;&#10;      &lt;Text style={{ fontSize: 27, color: '#1F3A34', lineHeight: 2.0, marginTop: 16 }}&gt;己 → 家：是“生在其中”&lt;/Text&gt;&#13;&#10;      &lt;Text style={{ fontSize: 27, color: '#1F3A34', lineHeight: 2.0 }}&gt;家 → 族：是“沿父系扩大”&lt;/Text&gt;&#13;&#10;      &lt;Text style={{ fontSize: 27, color: '#1F3A34', lineHeight: 2.0 }}&gt;族 → 乡：是“聚村而居”&lt;/Text&gt;&#13;&#10;      &lt;Text style={{ fontSize: 27, color: '#B4552D', lineHeight: 2.0, marginTop: 10 }}&gt;没字的箭头等于没画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08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3429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判据：箭头必须有字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读法三</a:t>
            </a:r>
            <a:endParaRPr/>
          </a:p>
        </p:txBody>
      </p:sp>
      <p:pic>
        <p:nvPicPr>
          <p:cNvPr id="225" name=""/>
          <p:cNvPicPr>
            <a:picLocks noChangeAspect="1"/>
          </p:cNvPicPr>
          <p:nvPr/>
        </p:nvPicPr>
        <p:blipFill>
          <a:blip r:embed="rId1"/>
          <a:srcRect l="2816" t="0" r="2816" b="0"/>
          <a:stretch>
            <a:fillRect/>
          </a:stretch>
        </p:blipFill>
        <p:spPr>
          <a:xfrm rot="0" flipH="0" flipV="0">
            <a:off x="609600" y="1943100"/>
            <a:ext cx="4095750" cy="2762250"/>
          </a:xfrm>
          <a:prstGeom prst="rect">
            <a:avLst/>
          </a:prstGeom>
          <a:ln/>
        </p:spPr>
      </p:pic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09600" y="4800600"/>
            <a:ext cx="409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水波纹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对应原文“一圈圈推出去的波纹”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991100" y="1971675"/>
            <a:ext cx="6591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判据：箭头必须有字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991100" y="2466975"/>
            <a:ext cx="6591300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己</a:t>
            </a:r>
            <a:r>
              <a:rPr lang="en-US" sz="2025">
                <a:solidFill>
                  <a:srgbClr val="1F3A34"/>
                </a:solidFill>
                <a:latin typeface="宋体"/>
                <a:ea typeface="宋体"/>
              </a:rPr>
              <a:t xml:space="preserve"> → </a:t>
            </a: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家：是“生在其中”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991100" y="3086100"/>
            <a:ext cx="6591300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家</a:t>
            </a:r>
            <a:r>
              <a:rPr lang="en-US" sz="2025">
                <a:solidFill>
                  <a:srgbClr val="1F3A34"/>
                </a:solidFill>
                <a:latin typeface="宋体"/>
                <a:ea typeface="宋体"/>
              </a:rPr>
              <a:t xml:space="preserve"> → </a:t>
            </a: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族：是“沿父系扩大”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991100" y="3705225"/>
            <a:ext cx="6591300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族</a:t>
            </a:r>
            <a:r>
              <a:rPr lang="en-US" sz="2025">
                <a:solidFill>
                  <a:srgbClr val="1F3A34"/>
                </a:solidFill>
                <a:latin typeface="宋体"/>
                <a:ea typeface="宋体"/>
              </a:rPr>
              <a:t xml:space="preserve"> → </a:t>
            </a: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乡：是“聚村而居”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991100" y="4419600"/>
            <a:ext cx="6591300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B4552D"/>
                </a:solidFill>
                <a:latin typeface="宋体"/>
                <a:ea typeface="宋体"/>
              </a:rPr>
              <a:t>没字的箭头等于没画。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08/18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35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两种画错&lt;/Text&gt;&#13;&#10;    &lt;Text style={{ fontSize: 24, color: '#6B6B6B' }}&gt;对照&lt;/Text&gt;&#13;&#10;  &lt;/Box&gt;&#13;&#10;  &lt;Box style={{ height: 472, marginTop: 20, flexDirection: 'column', position: 'relative', zIndex: 5 }}&gt;&#13;&#10;  &lt;Box style={{ flexDirection: 'row', height: 472, alignItems: 'center' }}&gt;&#13;&#10;    &lt;Box style={{ flex: 1, marginRight: 18, padding: 28, background: 'rgba(180,85,45,0.08)', height: 330, flexDirection: 'column' }}&gt;&#13;&#10;      &lt;Text style={{ fontSize: 30, fontWeight: 'bold', color: '#B4552D' }}&gt;画成关系网&lt;/Text&gt;&#13;&#10;      &lt;Text style={{ fontSize: 26, color: '#1F3A34', lineHeight: 2.0, marginTop: 16 }}&gt;谁认识谁、谁能帮谁——这是“谁认识谁”。&lt;/Text&gt;&#13;&#10;      &lt;Text style={{ fontSize: 26, color: '#1F3A34', lineHeight: 2.0, marginTop: 8 }}&gt;差序格局问的是：谁在谁里面。&lt;/Text&gt;&#13;&#10;    &lt;/Box&gt;&#13;&#10;    &lt;Box style={{ flex: 1, padding: 28, background: 'rgba(31,58,52,0.06)', height: 330, flexDirection: 'column' }}&gt;&#13;&#10;      &lt;Text style={{ fontSize: 30, fontWeight: 'bold', color: '#1F3A34' }}&gt;箭头空着&lt;/Text&gt;&#13;&#10;      &lt;Text style={{ fontSize: 26, color: '#1F3A34', lineHeight: 2.0, marginTop: 16 }}&gt;圈画得很圆，一个字没写。&lt;/Text&gt;&#13;&#10;      &lt;Text style={{ fontSize: 26, color: '#1F3A34', lineHeight: 2.0, marginTop: 8 }}&gt;位置关系说不出来，就等于没画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09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524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两种画错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对照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1933575"/>
            <a:ext cx="5400675" cy="3143250"/>
          </a:xfrm>
          <a:prstGeom prst="rect">
            <a:avLst/>
          </a:prstGeom>
          <a:solidFill>
            <a:srgbClr val="B4552D">
              <a:alpha val="8000"/>
            </a:srgbClr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76300" y="2200275"/>
            <a:ext cx="4867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B4552D"/>
                </a:solidFill>
                <a:latin typeface="宋体"/>
                <a:ea typeface="宋体"/>
              </a:rPr>
              <a:t>画成关系网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76300" y="2695575"/>
            <a:ext cx="4867275" cy="6000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谁认识谁、谁能帮谁——这是“谁认识谁”。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76300" y="3371850"/>
            <a:ext cx="4867275" cy="6000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差序格局问的是：谁在谁里面。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181725" y="1933575"/>
            <a:ext cx="5400675" cy="31432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448425" y="2200275"/>
            <a:ext cx="4867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箭头空着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448425" y="2695575"/>
            <a:ext cx="4867275" cy="6000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圈画得很圆，一个字没写。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448425" y="3371850"/>
            <a:ext cx="4867275" cy="6000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位置关系说不出来，就等于没画。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09/18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3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任务二：两栏表&lt;/Text&gt;&#13;&#10;    &lt;Text style={{ fontSize: 24, color: '#6B6B6B' }}&gt;先写比什么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fontWeight: 'bold', color: '#1F3A34' }}&gt;两栏表，两组对照：&lt;/Text&gt;&#13;&#10;    &lt;Box style={{ marginTop: 22, flexDirection: 'row' }}&gt;&#13;&#10;      &lt;Box style={{ flex: 1, marginRight: 14, padding: 22, background: 'rgba(31,58,52,0.06)', flexDirection: 'column' }}&gt;&#13;&#10;        &lt;Text style={{ fontSize: 27, fontWeight: 'bold', color: '#1F3A34' }}&gt;团体格局 / 西洋的“家”&lt;/Text&gt;&#13;&#10;        &lt;Text style={{ fontSize: 25, color: '#6B6B6B', marginTop: 10 }}&gt;第 4、5、6 篇&lt;/Text&gt;&#13;&#10;      &lt;/Box&gt;&#13;&#10;      &lt;Box style={{ flex: 1, padding: 22, background: 'rgba(31,58,52,0.06)', flexDirection: 'column' }}&gt;&#13;&#10;        &lt;Text style={{ fontSize: 27, fontWeight: 'bold', color: '#1F3A34' }}&gt;差序格局 / 中国“小家族”&lt;/Text&gt;&#13;&#10;        &lt;Text style={{ fontSize: 25, color: '#6B6B6B', marginTop: 10 }}&gt;第 4、6 篇&lt;/Text&gt;&#13;&#10;      &lt;/Box&gt;&#13;&#10;    &lt;/Box&gt;&#13;&#10;    &lt;Text style={{ fontSize: 28, color: '#B4552D', marginTop: 26 }}&gt;先写“比什么”，再填两边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10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667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任务二：两栏表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439400" y="79057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先写比什么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2390775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两栏表，两组对照：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09600" y="2943225"/>
            <a:ext cx="5419725" cy="11144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19150" y="3152775"/>
            <a:ext cx="50006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3A34"/>
                </a:solidFill>
                <a:latin typeface="宋体"/>
                <a:ea typeface="宋体"/>
              </a:rPr>
              <a:t>团体格局</a:t>
            </a:r>
            <a:r>
              <a:rPr lang="en-US" sz="2025" b="1">
                <a:solidFill>
                  <a:srgbClr val="1F3A34"/>
                </a:solidFill>
                <a:latin typeface="宋体"/>
                <a:ea typeface="宋体"/>
              </a:rPr>
              <a:t xml:space="preserve"> / </a:t>
            </a:r>
            <a:r>
              <a:rPr lang="zh-CN" sz="2025" b="1">
                <a:solidFill>
                  <a:srgbClr val="1F3A34"/>
                </a:solidFill>
                <a:latin typeface="宋体"/>
                <a:ea typeface="宋体"/>
              </a:rPr>
              <a:t>西洋的“家”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19150" y="3562350"/>
            <a:ext cx="50006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75">
                <a:solidFill>
                  <a:srgbClr val="6B6B6B"/>
                </a:solidFill>
                <a:latin typeface="宋体"/>
                <a:ea typeface="宋体"/>
              </a:rPr>
              <a:t xml:space="preserve"> 4</a:t>
            </a:r>
            <a:r>
              <a:rPr lang="zh-CN" sz="1875">
                <a:solidFill>
                  <a:srgbClr val="6B6B6B"/>
                </a:solidFill>
                <a:latin typeface="宋体"/>
                <a:ea typeface="宋体"/>
              </a:rPr>
              <a:t>、</a:t>
            </a:r>
            <a:r>
              <a:rPr lang="en-US" sz="1875">
                <a:solidFill>
                  <a:srgbClr val="6B6B6B"/>
                </a:solidFill>
                <a:latin typeface="宋体"/>
                <a:ea typeface="宋体"/>
              </a:rPr>
              <a:t>5</a:t>
            </a:r>
            <a:r>
              <a:rPr lang="zh-CN" sz="1875">
                <a:solidFill>
                  <a:srgbClr val="6B6B6B"/>
                </a:solidFill>
                <a:latin typeface="宋体"/>
                <a:ea typeface="宋体"/>
              </a:rPr>
              <a:t>、</a:t>
            </a:r>
            <a:r>
              <a:rPr lang="en-US" sz="1875">
                <a:solidFill>
                  <a:srgbClr val="6B6B6B"/>
                </a:solidFill>
                <a:latin typeface="宋体"/>
                <a:ea typeface="宋体"/>
              </a:rPr>
              <a:t xml:space="preserve">6 </a:t>
            </a:r>
            <a:r>
              <a:rPr lang="zh-CN" sz="1875">
                <a:solidFill>
                  <a:srgbClr val="6B6B6B"/>
                </a:solidFill>
                <a:latin typeface="宋体"/>
                <a:ea typeface="宋体"/>
              </a:rPr>
              <a:t>篇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162675" y="2943225"/>
            <a:ext cx="5419725" cy="11144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372225" y="3152775"/>
            <a:ext cx="50006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3A34"/>
                </a:solidFill>
                <a:latin typeface="宋体"/>
                <a:ea typeface="宋体"/>
              </a:rPr>
              <a:t>差序格局</a:t>
            </a:r>
            <a:r>
              <a:rPr lang="en-US" sz="2025" b="1">
                <a:solidFill>
                  <a:srgbClr val="1F3A34"/>
                </a:solidFill>
                <a:latin typeface="宋体"/>
                <a:ea typeface="宋体"/>
              </a:rPr>
              <a:t xml:space="preserve"> / </a:t>
            </a:r>
            <a:r>
              <a:rPr lang="zh-CN" sz="2025" b="1">
                <a:solidFill>
                  <a:srgbClr val="1F3A34"/>
                </a:solidFill>
                <a:latin typeface="宋体"/>
                <a:ea typeface="宋体"/>
              </a:rPr>
              <a:t>中国“小家族”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372225" y="3562350"/>
            <a:ext cx="50006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75">
                <a:solidFill>
                  <a:srgbClr val="6B6B6B"/>
                </a:solidFill>
                <a:latin typeface="宋体"/>
                <a:ea typeface="宋体"/>
              </a:rPr>
              <a:t xml:space="preserve"> 4</a:t>
            </a:r>
            <a:r>
              <a:rPr lang="zh-CN" sz="1875">
                <a:solidFill>
                  <a:srgbClr val="6B6B6B"/>
                </a:solidFill>
                <a:latin typeface="宋体"/>
                <a:ea typeface="宋体"/>
              </a:rPr>
              <a:t>、</a:t>
            </a:r>
            <a:r>
              <a:rPr lang="en-US" sz="1875">
                <a:solidFill>
                  <a:srgbClr val="6B6B6B"/>
                </a:solidFill>
                <a:latin typeface="宋体"/>
                <a:ea typeface="宋体"/>
              </a:rPr>
              <a:t xml:space="preserve">6 </a:t>
            </a:r>
            <a:r>
              <a:rPr lang="zh-CN" sz="1875">
                <a:solidFill>
                  <a:srgbClr val="6B6B6B"/>
                </a:solidFill>
                <a:latin typeface="宋体"/>
                <a:ea typeface="宋体"/>
              </a:rPr>
              <a:t>篇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先写“比什么”，再填两边。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10/18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8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判据：同一把尺子&lt;/Text&gt;&#13;&#10;    &lt;Text style={{ fontSize: 24, color: '#6B6B6B' }}&gt;读法二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4, fontWeight: 'bold', color: '#1F3A34' }}&gt;判据：同一把尺子量两边&lt;/Text&gt;&#13;&#10;    &lt;Box style={{ marginTop: 28, borderLeft: '4px solid #B4552D', paddingLeft: 24 }}&gt;&#13;&#10;      &lt;Text style={{ fontSize: 28, color: '#1F3A34', lineHeight: 2.0 }}&gt;这一维，团体格局那边填得出吗？&lt;/Text&gt;&#13;&#10;      &lt;Text style={{ fontSize: 28, color: '#1F3A34', lineHeight: 2.0 }}&gt;填不出，这一维就不能用——它不属于“家”的比较。&lt;/Text&gt;&#13;&#10;    &lt;/Box&gt;&#13;&#10;    &lt;Text style={{ fontSize: 27, color: '#6B6B6B', marginTop: 26 }}&gt;备用的四个维度：界限 / 单位 / 中心 / 道德依据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11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3048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判据：同一把尺子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读法二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9600" y="22479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判据：同一把尺子量两边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2905125"/>
            <a:ext cx="11010900" cy="1295400"/>
          </a:xfrm>
          <a:custGeom>
            <a:pathLst>
              <a:path w="1156" h="136">
                <a:moveTo>
                  <a:pt x="0" y="0"/>
                </a:moveTo>
                <a:lnTo>
                  <a:pt x="4" y="0"/>
                </a:lnTo>
                <a:lnTo>
                  <a:pt x="4" y="136"/>
                </a:lnTo>
                <a:lnTo>
                  <a:pt x="0" y="136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76300" y="290512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这一维，团体格局那边填得出吗？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76300" y="355282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填不出，这一维就不能用——它不属于“家”的比较。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444817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>
                <a:solidFill>
                  <a:srgbClr val="6B6B6B"/>
                </a:solidFill>
                <a:latin typeface="宋体"/>
                <a:ea typeface="宋体"/>
              </a:rPr>
              <a:t>备用的四个维度：界限</a:t>
            </a:r>
            <a:r>
              <a:rPr lang="en-US" sz="2025">
                <a:solidFill>
                  <a:srgbClr val="6B6B6B"/>
                </a:solidFill>
                <a:latin typeface="宋体"/>
                <a:ea typeface="宋体"/>
              </a:rPr>
              <a:t xml:space="preserve"> / </a:t>
            </a:r>
            <a:r>
              <a:rPr lang="zh-CN" sz="2025">
                <a:solidFill>
                  <a:srgbClr val="6B6B6B"/>
                </a:solidFill>
                <a:latin typeface="宋体"/>
                <a:ea typeface="宋体"/>
              </a:rPr>
              <a:t>单位</a:t>
            </a:r>
            <a:r>
              <a:rPr lang="en-US" sz="2025">
                <a:solidFill>
                  <a:srgbClr val="6B6B6B"/>
                </a:solidFill>
                <a:latin typeface="宋体"/>
                <a:ea typeface="宋体"/>
              </a:rPr>
              <a:t xml:space="preserve"> / </a:t>
            </a:r>
            <a:r>
              <a:rPr lang="zh-CN" sz="2025">
                <a:solidFill>
                  <a:srgbClr val="6B6B6B"/>
                </a:solidFill>
                <a:latin typeface="宋体"/>
                <a:ea typeface="宋体"/>
              </a:rPr>
              <a:t>中心</a:t>
            </a:r>
            <a:r>
              <a:rPr lang="en-US" sz="2025">
                <a:solidFill>
                  <a:srgbClr val="6B6B6B"/>
                </a:solidFill>
                <a:latin typeface="宋体"/>
                <a:ea typeface="宋体"/>
              </a:rPr>
              <a:t xml:space="preserve"> / </a:t>
            </a:r>
            <a:r>
              <a:rPr lang="zh-CN" sz="2025">
                <a:solidFill>
                  <a:srgbClr val="6B6B6B"/>
                </a:solidFill>
                <a:latin typeface="宋体"/>
                <a:ea typeface="宋体"/>
              </a:rPr>
              <a:t>道德依据。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11/18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40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《家族》：差在结构不在人数&lt;/Text&gt;&#13;&#10;    &lt;Text style={{ fontSize: 24, color: '#6B6B6B' }}&gt;第 6 篇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fontWeight: 'bold', color: '#1F3A34' }}&gt;《家族》最容易被读成一句话：&lt;/Text&gt;&#13;&#10;    &lt;Text style={{ fontSize: 34, color: '#B4552D', lineHeight: 1.9, marginTop: 18 }}&gt;“中国家庭人多。”&lt;/Text&gt;&#13;&#10;    &lt;Box style={{ marginTop: 28, borderLeft: '4px solid #B4552D', paddingLeft: 24 }}&gt;&#13;&#10;      &lt;Text style={{ fontSize: 28, color: '#1F3A34', lineHeight: 2.0 }}&gt;费孝通说：中西的“家”差的不在人数，在结构。&lt;/Text&gt;&#13;&#10;      &lt;Text style={{ fontSize: 28, color: '#1F3A34', lineHeight: 2.0, marginTop: 8 }}&gt;西洋的家是生育社群，界限分明、功能少；&lt;/Text&gt;&#13;&#10;      &lt;Text style={{ fontSize: 28, color: '#1F3A34', lineHeight: 2.0 }}&gt;中国的家沿父系扩大，是事业组织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12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4953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《家族》：差在结构不在人数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0848975" y="790575"/>
            <a:ext cx="7334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6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篇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09600" y="1733550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《家族》最容易被读成一句话：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22479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550">
                <a:solidFill>
                  <a:srgbClr val="B4552D"/>
                </a:solidFill>
                <a:latin typeface="宋体"/>
                <a:ea typeface="宋体"/>
              </a:rPr>
              <a:t>“中国家庭人多。”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09600" y="3257550"/>
            <a:ext cx="11010900" cy="2019300"/>
          </a:xfrm>
          <a:custGeom>
            <a:pathLst>
              <a:path w="1156" h="212">
                <a:moveTo>
                  <a:pt x="0" y="0"/>
                </a:moveTo>
                <a:lnTo>
                  <a:pt x="4" y="0"/>
                </a:lnTo>
                <a:lnTo>
                  <a:pt x="4" y="212"/>
                </a:lnTo>
                <a:lnTo>
                  <a:pt x="0" y="212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76300" y="3257550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费孝通说：中西的“家”差的不在人数，在结构。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76300" y="3981450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西洋的家是生育社群，界限分明、功能少；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76300" y="4629150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中国的家沿父系扩大，是事业组织。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12/18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53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示例表&lt;/Text&gt;&#13;&#10;    &lt;Text style={{ fontSize: 24, color: '#6B6B6B' }}&gt;课上现场填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28, fontWeight: 'bold', color: '#1F3A34' }}&gt;一张填好的示例（课上现场填，先不看）&lt;/Text&gt;&#13;&#10;    &lt;Box style={{ marginTop: 20, flexDirection: 'column' }}&gt;&#13;&#10;      &lt;Box style={{ flexDirection: 'row', height: 64, alignItems: 'center', borderBottom: '2px solid #B4552D' }}&gt;&#13;&#10;        &lt;Text style={{ width: 190, fontSize: 24, fontWeight: 'bold', color: '#1F3A34' }}&gt;比什么&lt;/Text&gt;&#13;&#10;        &lt;Text style={{ flex: 1, fontSize: 24, fontWeight: 'bold', color: '#1F3A34' }}&gt;西洋的家&lt;/Text&gt;&#13;&#10;        &lt;Text style={{ flex: 1, fontSize: 24, fontWeight: 'bold', color: '#1F3A34' }}&gt;小家族&lt;/Text&gt;&#13;&#10;      &lt;/Box&gt;&#13;&#10;      &lt;Box style={{ flexDirection: 'row', height: 72, alignItems: 'center', borderBottom: '1px solid rgba(31,58,52,0.15)' }}&gt;&#13;&#10;        &lt;Text style={{ width: 190, fontSize: 24, color: '#1F3A34' }}&gt;界限&lt;/Text&gt;&lt;Text style={{ flex: 1, fontSize: 24, color: '#1F3A34' }}&gt;分明&lt;/Text&gt;&lt;Text style={{ flex: 1, fontSize: 24, color: '#1F3A34' }}&gt;可伸缩&lt;/Text&gt;&#13;&#10;      &lt;/Box&gt;&#13;&#10;      &lt;Box style={{ flexDirection: 'row', height: 72, alignItems: 'center', borderBottom: '1px solid rgba(31,58,52,0.15)' }}&gt;&#13;&#10;        &lt;Text style={{ width: 190, fontSize: 24, color: '#1F3A34' }}&gt;功能&lt;/Text&gt;&lt;Text style={{ flex: 1, fontSize: 24, color: '#1F3A34' }}&gt;生育&lt;/Text&gt;&lt;Text style={{ flex: 1, fontSize: 24, color: '#1F3A34' }}&gt;事业组织&lt;/Text&gt;&#13;&#10;      &lt;/Box&gt;&#13;&#10;      &lt;Box style={{ flexDirection: 'row', height: 72, alignItems: 'center' }}&gt;&#13;&#10;        &lt;Text style={{ width: 190, fontSize: 24, color: '#1F3A34' }}&gt;主轴&lt;/Text&gt;&lt;Text style={{ flex: 1, fontSize: 24, color: '#1F3A34' }}&gt;横向夫妻&lt;/Text&gt;&lt;Text style={{ flex: 1, fontSize: 24, color: '#1F3A34' }}&gt;纵向父子婆媳&lt;/Text&gt;&#13;&#10;      &lt;/Box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13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143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示例表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0439400" y="79057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课上现场填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09600" y="191452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一张填好的示例（课上现场填，先不看）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09600" y="2428875"/>
            <a:ext cx="10972800" cy="609600"/>
          </a:xfrm>
          <a:custGeom>
            <a:pathLst>
              <a:path w="1152" h="64">
                <a:moveTo>
                  <a:pt x="0" y="62"/>
                </a:moveTo>
                <a:lnTo>
                  <a:pt x="1152" y="62"/>
                </a:lnTo>
                <a:lnTo>
                  <a:pt x="1152" y="64"/>
                </a:lnTo>
                <a:lnTo>
                  <a:pt x="0" y="6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1809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3A34"/>
                </a:solidFill>
                <a:latin typeface="宋体"/>
                <a:ea typeface="宋体"/>
              </a:rPr>
              <a:t>比什么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419350" y="2590800"/>
            <a:ext cx="458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3A34"/>
                </a:solidFill>
                <a:latin typeface="宋体"/>
                <a:ea typeface="宋体"/>
              </a:rPr>
              <a:t>西洋的家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000875" y="2590800"/>
            <a:ext cx="458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3A34"/>
                </a:solidFill>
                <a:latin typeface="宋体"/>
                <a:ea typeface="宋体"/>
              </a:rPr>
              <a:t>小家族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9600" y="3038475"/>
            <a:ext cx="10972800" cy="685800"/>
          </a:xfrm>
          <a:custGeom>
            <a:pathLst>
              <a:path w="1152" h="72">
                <a:moveTo>
                  <a:pt x="0" y="71"/>
                </a:moveTo>
                <a:lnTo>
                  <a:pt x="1152" y="71"/>
                </a:lnTo>
                <a:lnTo>
                  <a:pt x="1152" y="72"/>
                </a:lnTo>
                <a:lnTo>
                  <a:pt x="0" y="72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09600" y="3238500"/>
            <a:ext cx="1809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界限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2419350" y="3238500"/>
            <a:ext cx="458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分明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000875" y="3238500"/>
            <a:ext cx="458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可伸缩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09600" y="3724275"/>
            <a:ext cx="10972800" cy="685800"/>
          </a:xfrm>
          <a:custGeom>
            <a:pathLst>
              <a:path w="1152" h="72">
                <a:moveTo>
                  <a:pt x="0" y="71"/>
                </a:moveTo>
                <a:lnTo>
                  <a:pt x="1152" y="71"/>
                </a:lnTo>
                <a:lnTo>
                  <a:pt x="1152" y="72"/>
                </a:lnTo>
                <a:lnTo>
                  <a:pt x="0" y="72"/>
                </a:lnTo>
                <a:close/>
              </a:path>
            </a:pathLst>
          </a:custGeom>
          <a:solidFill>
            <a:srgbClr val="1F3A34">
              <a:alpha val="15000"/>
            </a:srgbClr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3924300"/>
            <a:ext cx="1809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功能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2419350" y="3924300"/>
            <a:ext cx="458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生育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000875" y="3924300"/>
            <a:ext cx="458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事业组织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4619625"/>
            <a:ext cx="1809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主轴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2419350" y="4619625"/>
            <a:ext cx="458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横向夫妻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000875" y="4619625"/>
            <a:ext cx="458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纵向父子婆媳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13/18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7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回到接龙：第 7 篇&lt;/Text&gt;&#13;&#10;    &lt;Text style={{ fontSize: 24, color: '#6B6B6B' }}&gt;任务三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color: '#1F3A34', lineHeight: 2.0 }}&gt;画完圈、分完维，第 7 篇《男女有别》换回接龙。&lt;/Text&gt;&#13;&#10;    &lt;Text style={{ fontSize: 30, color: '#B4552D', lineHeight: 2.0, marginTop: 10 }}&gt;为什么？因为它又在往前推了。&lt;/Text&gt;&#13;&#10;    &lt;Box style={{ marginTop: 26, borderLeft: '4px solid #B4552D', paddingLeft: 24 }}&gt;&#13;&#10;      &lt;Text style={{ fontSize: 28, color: '#1F3A34', lineHeight: 2.0 }}&gt;三个词：稳定 / 效率 / 排斥私情&lt;/Text&gt;&#13;&#10;      &lt;Text style={{ fontSize: 28, color: '#1F3A34', lineHeight: 2.0 }}&gt;接成一条链，箭头填因果词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14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3133725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回到接龙：第</a:t>
            </a:r>
            <a:r>
              <a:rPr lang="en-US" sz="3000" b="1">
                <a:solidFill>
                  <a:srgbClr val="1F3A34"/>
                </a:solidFill>
                <a:latin typeface="宋体"/>
                <a:ea typeface="宋体"/>
              </a:rPr>
              <a:t xml:space="preserve"> 7 </a:t>
            </a: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篇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任务三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09600" y="2000250"/>
            <a:ext cx="10972800" cy="6858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画完圈、分完维，第</a:t>
            </a:r>
            <a:r>
              <a:rPr lang="en-US" sz="2250">
                <a:solidFill>
                  <a:srgbClr val="1F3A34"/>
                </a:solidFill>
                <a:latin typeface="宋体"/>
                <a:ea typeface="宋体"/>
              </a:rPr>
              <a:t xml:space="preserve"> 7 </a:t>
            </a: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篇《男女有别》换回接龙。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10972800" cy="6858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250">
                <a:solidFill>
                  <a:srgbClr val="B4552D"/>
                </a:solidFill>
                <a:latin typeface="宋体"/>
                <a:ea typeface="宋体"/>
              </a:rPr>
              <a:t>为什么？因为它又在往前推了。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09600" y="3714750"/>
            <a:ext cx="11010900" cy="1295400"/>
          </a:xfrm>
          <a:custGeom>
            <a:pathLst>
              <a:path w="1156" h="136">
                <a:moveTo>
                  <a:pt x="0" y="0"/>
                </a:moveTo>
                <a:lnTo>
                  <a:pt x="4" y="0"/>
                </a:lnTo>
                <a:lnTo>
                  <a:pt x="4" y="136"/>
                </a:lnTo>
                <a:lnTo>
                  <a:pt x="0" y="136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76300" y="3714750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三个词：稳定</a:t>
            </a:r>
            <a:r>
              <a:rPr lang="en-US" sz="2100">
                <a:solidFill>
                  <a:srgbClr val="1F3A34"/>
                </a:solidFill>
                <a:latin typeface="宋体"/>
                <a:ea typeface="宋体"/>
              </a:rPr>
              <a:t xml:space="preserve"> / </a:t>
            </a: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效率</a:t>
            </a:r>
            <a:r>
              <a:rPr lang="en-US" sz="2100">
                <a:solidFill>
                  <a:srgbClr val="1F3A34"/>
                </a:solidFill>
                <a:latin typeface="宋体"/>
                <a:ea typeface="宋体"/>
              </a:rPr>
              <a:t xml:space="preserve"> / </a:t>
            </a: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排斥私情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76300" y="4362450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接成一条链，箭头填因果词。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14/18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88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稳定 → 效率 → 排斥私情&lt;/Text&gt;&#13;&#10;    &lt;Text style={{ fontSize: 24, color: '#6B6B6B' }}&gt;接龙&lt;/Text&gt;&#13;&#10;  &lt;/Box&gt;&#13;&#10;  &lt;Box style={{ height: 472, marginTop: 20, flexDirection: 'column', position: 'relative', zIndex: 5 }}&gt;&#13;&#10;  &lt;Box style={{ height: 472, flexDirection: 'column', justifyContent: 'center' }}&gt;&#13;&#10;    &lt;Box style={{ flexDirection: 'row', alignItems: 'center' }}&gt;&#13;&#10;      &lt;Text style={{ fontSize: 30, color: '#1F3A34' }}&gt;稳定&lt;/Text&gt;&#13;&#10;      &lt;Text style={{ fontSize: 24, color: '#B4552D', marginHorizontal: 16 }}&gt;↓ 因为要&lt;/Text&gt;&#13;&#10;      &lt;Text style={{ fontSize: 30, color: '#1F3A34' }}&gt;效率&lt;/Text&gt;&#13;&#10;      &lt;Text style={{ fontSize: 24, color: '#B4552D', marginHorizontal: 16 }}&gt;↓ 所以&lt;/Text&gt;&#13;&#10;      &lt;Text style={{ fontSize: 30, color: '#1F3A34' }}&gt;排斥私情&lt;/Text&gt;&#13;&#10;    &lt;/Box&gt;&#13;&#10;    &lt;Box style={{ marginTop: 30, borderLeft: '4px solid #B4552D', paddingLeft: 24 }}&gt;&#13;&#10;      &lt;Text style={{ fontSize: 27, color: '#1F3A34', lineHeight: 2.0 }}&gt;事业单位要讲效率，效率要求纪律，&lt;/Text&gt;&#13;&#10;      &lt;Text style={{ fontSize: 27, color: '#1F3A34', lineHeight: 2.0 }}&gt;纪律容不下私情——这是结构决定的，不是道德要求。&lt;/Text&gt;&#13;&#10;    &lt;/Box&gt;&#13;&#10;    &lt;Text style={{ fontSize: 26, color: '#6B6B6B', marginTop: 22 }}&gt;追问：这和“男女不平等”是一回事吗？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15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4257675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稳定</a:t>
            </a:r>
            <a:r>
              <a:rPr lang="en-US" sz="3000" b="1">
                <a:solidFill>
                  <a:srgbClr val="1F3A34"/>
                </a:solidFill>
                <a:latin typeface="宋体"/>
                <a:ea typeface="宋体"/>
              </a:rPr>
              <a:t xml:space="preserve"> → </a:t>
            </a: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效率</a:t>
            </a:r>
            <a:r>
              <a:rPr lang="en-US" sz="3000" b="1">
                <a:solidFill>
                  <a:srgbClr val="1F3A34"/>
                </a:solidFill>
                <a:latin typeface="宋体"/>
                <a:ea typeface="宋体"/>
              </a:rPr>
              <a:t xml:space="preserve"> → </a:t>
            </a: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排斥私情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接龙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09600" y="2314575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稳定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81100" y="2352675"/>
            <a:ext cx="876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↓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因为要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2057400" y="2314575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效率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2628900" y="2352675"/>
            <a:ext cx="647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↓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所以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276600" y="2314575"/>
            <a:ext cx="114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排斥私情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2943225"/>
            <a:ext cx="11010900" cy="1238250"/>
          </a:xfrm>
          <a:custGeom>
            <a:pathLst>
              <a:path w="1156" h="130">
                <a:moveTo>
                  <a:pt x="0" y="0"/>
                </a:moveTo>
                <a:lnTo>
                  <a:pt x="4" y="0"/>
                </a:lnTo>
                <a:lnTo>
                  <a:pt x="4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10706100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事业单位要讲效率，效率要求纪律，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76300" y="3562350"/>
            <a:ext cx="10706100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纪律容不下私情——这是结构决定的，不是道德要求。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4391025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追问：这和“男女不平等”是一回事吗？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15/18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04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小结&lt;/Text&gt;&#13;&#10;    &lt;Text style={{ fontSize: 24, color: '#6B6B6B' }}&gt;回扣主问题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6, fontWeight: 'bold', color: '#1F3A34', lineHeight: 1.8 }}&gt;私是格局的产物，&lt;/Text&gt;&#13;&#10;    &lt;Text style={{ fontSize: 36, fontWeight: 'bold', color: '#1F3A34', lineHeight: 1.8 }}&gt;不是品性的缺陷。&lt;/Text&gt;&#13;&#10;    &lt;Box style={{ marginTop: 30, borderLeft: '4px solid #B4552D', paddingLeft: 24 }}&gt;&#13;&#10;      &lt;Text style={{ fontSize: 28, color: '#1F3A34', lineHeight: 1.9 }}&gt;承认了这一点，道德还要不要讲？&lt;/Text&gt;&#13;&#10;      &lt;Text style={{ fontSize: 28, color: '#B4552D', lineHeight: 1.9, marginTop: 6 }}&gt;——这个问题留到读书报告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16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762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小结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0439400" y="79057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回扣主问题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2700" b="1">
                <a:solidFill>
                  <a:srgbClr val="1F3A34"/>
                </a:solidFill>
                <a:latin typeface="宋体"/>
                <a:ea typeface="宋体"/>
              </a:rPr>
              <a:t>私是格局的产物，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09600" y="27241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2700" b="1">
                <a:solidFill>
                  <a:srgbClr val="1F3A34"/>
                </a:solidFill>
                <a:latin typeface="宋体"/>
                <a:ea typeface="宋体"/>
              </a:rPr>
              <a:t>不是品性的缺陷。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09600" y="3752850"/>
            <a:ext cx="11010900" cy="1276350"/>
          </a:xfrm>
          <a:custGeom>
            <a:pathLst>
              <a:path w="1156" h="134">
                <a:moveTo>
                  <a:pt x="0" y="0"/>
                </a:moveTo>
                <a:lnTo>
                  <a:pt x="4" y="0"/>
                </a:lnTo>
                <a:lnTo>
                  <a:pt x="4" y="134"/>
                </a:lnTo>
                <a:lnTo>
                  <a:pt x="0" y="13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76300" y="3752850"/>
            <a:ext cx="107061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承认了这一点，道德还要不要讲？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76300" y="4419600"/>
            <a:ext cx="107061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——这个问题留到读书报告。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16/18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1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概念卡第五栏&lt;/Text&gt;&#13;&#10;    &lt;Text style={{ fontSize: 24, color: '#6B6B6B' }}&gt;反例怎么补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fontWeight: 'bold', color: '#1F3A34' }}&gt;概念卡第五栏：“一个反例”&lt;/Text&gt;&#13;&#10;    &lt;Box style={{ marginTop: 22, flexDirection: 'column' }}&gt;&#13;&#10;      &lt;Text style={{ fontSize: 27, color: '#1F3A34', lineHeight: 2.1, background: 'rgba(31,58,52,0.06)', padding: 14 }}&gt;不是“我没有例子”，是“这个概念在哪里不成立”。&lt;/Text&gt;&#13;&#10;      &lt;Text style={{ fontSize: 27, color: '#1F3A34', lineHeight: 2.1, background: 'rgba(31,58,52,0.06)', padding: 14, marginTop: 10 }}&gt;反例的价值在边界：说清“哪里不像”，概念才真的归你。&lt;/Text&gt;&#13;&#10;    &lt;/Box&gt;&#13;&#10;    &lt;Text style={{ fontSize: 26, color: '#B4552D', marginTop: 22 }}&gt;课上补一张：从你本周的卡里挑一张，当堂把第五栏写上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17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概念卡第五栏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0439400" y="79057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反例怎么补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2000250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概念卡第五栏：“一个反例”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09600" y="2552700"/>
            <a:ext cx="10972800" cy="9239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9600" y="2552700"/>
            <a:ext cx="10972800" cy="923925"/>
          </a:xfrm>
          <a:prstGeom prst="rect"/>
        </p:spPr>
        <p:txBody>
          <a:bodyPr wrap="none" lIns="100013" tIns="100013" rIns="100013" bIns="100013"/>
          <a:p>
            <a:pPr>
              <a:lnSpc>
                <a:spcPct val="210000"/>
              </a:lnSpc>
            </a:pPr>
            <a:r>
              <a:rPr lang="zh-CN" sz="2025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不是“我没有例子”，是“这个概念在哪里不成立”。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09600" y="3571875"/>
            <a:ext cx="10972800" cy="9239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9600" y="3571875"/>
            <a:ext cx="10972800" cy="923925"/>
          </a:xfrm>
          <a:prstGeom prst="rect"/>
        </p:spPr>
        <p:txBody>
          <a:bodyPr wrap="none" lIns="100013" tIns="100013" rIns="100013" bIns="100013"/>
          <a:p>
            <a:pPr>
              <a:lnSpc>
                <a:spcPct val="210000"/>
              </a:lnSpc>
            </a:pPr>
            <a:r>
              <a:rPr lang="zh-CN" sz="2025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反例的价值在边界：说清“哪里不像”，概念才真的归你。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09600" y="4705350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课上补一张：从你本周的卡里挑一张，当堂把第五栏写上。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17/18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29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作业&lt;/Text&gt;&#13;&#10;    &lt;Text style={{ fontSize: 24, color: '#6B6B6B' }}&gt;三层&lt;/Text&gt;&#13;&#10;  &lt;/Box&gt;&#13;&#10;  &lt;Box style={{ height: 472, marginTop: 20, flexDirection: 'column', position: 'relative', zIndex: 5 }}&gt;&#13;&#10;  &lt;Box style={{ height: 472, flexDirection: 'column', justifyContent: 'center' }}&gt;&#13;&#10;    &lt;Box style={{ padding: 15, background: 'rgba(31,58,52,0.06)', marginBottom: 10 }}&gt;&#13;&#10;      &lt;Text style={{ fontSize: 26, color: '#B4552D' }}&gt;基础 · 全员&lt;/Text&gt;&#13;&#10;      &lt;Text style={{ fontSize: 26, color: '#1F3A34', lineHeight: 1.8, marginTop: 6 }}&gt;读 8–9 篇，各做一张概念卡；结构图定稿（箭头必须有字）&lt;/Text&gt;&#13;&#10;    &lt;/Box&gt;&#13;&#10;    &lt;Box style={{ padding: 15, background: 'rgba(31,58,52,0.06)', marginBottom: 10 }}&gt;&#13;&#10;      &lt;Text style={{ fontSize: 26, color: '#B4552D' }}&gt;提高 · 自选&lt;/Text&gt;&#13;&#10;      &lt;Text style={{ fontSize: 26, color: '#1F3A34', lineHeight: 1.8, marginTop: 6 }}&gt;四维表每一维加一句“这一维今天还成立吗”&lt;/Text&gt;&#13;&#10;    &lt;/Box&gt;&#13;&#10;    &lt;Box style={{ padding: 15, background: 'rgba(31,58,52,0.06)' }}&gt;&#13;&#10;      &lt;Text style={{ fontSize: 26, color: '#B4552D' }}&gt;拓展 · 自选&lt;/Text&gt;&#13;&#10;      &lt;Text style={{ fontSize: 26, color: '#1F3A34', lineHeight: 1.8, marginTop: 6 }}&gt;找一个当代的“圈”（微信群、家族群），用差序格局解释，写出不符合的地方&lt;/Text&gt;&#13;&#10;    &lt;/Box&gt;&#13;&#10;    &lt;Text style={{ fontSize: 26, color: '#6B6B6B', marginTop: 20 }}&gt;下周：礼治为什么长在差序格局上——看这张图上那条线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3 课时&lt;/Text&gt;&#13;&#10;    &lt;Text style={{ fontSize: 24, color: '#B4552D' }}&gt;18/18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762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作业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三层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09600" y="1381125"/>
            <a:ext cx="10972800" cy="11906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52475" y="1524000"/>
            <a:ext cx="10687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基础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全员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52475" y="1885950"/>
            <a:ext cx="1068705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读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8–9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篇，各做一张概念卡；结构图定稿（箭头必须有字）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09600" y="2667000"/>
            <a:ext cx="10972800" cy="11906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52475" y="2809875"/>
            <a:ext cx="10687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提高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自选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52475" y="3171825"/>
            <a:ext cx="1068705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四维表每一维加一句“这一维今天还成立吗”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09600" y="3952875"/>
            <a:ext cx="10972800" cy="11906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52475" y="4095750"/>
            <a:ext cx="10687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拓展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自选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52475" y="4457700"/>
            <a:ext cx="1068705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找一个当代的“圈”（微信群、家族群），用差序格局解释，写出不符合的地方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5334000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下周：礼治为什么长在差序格局上——看这张图上那条线。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18/18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2026-10-26T21:08:02Z</dcterms:created>
  <dcterms:modified xsi:type="dcterms:W3CDTF">2026-10-26T21:08:02Z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{"AIGC":{"Label":"1","ContentProducer":"00119111010856365494821B355","ProduceID":"01a17819c8fa781eb2a174b2c3a85ac7","ReservedCode1":"","ContentPropagator":"00119111010856365494821B355","PropagateID":"01a17819c8fa781eb2a174b2c3a85ac7","ReservedCode2":""}}</vt:lpwstr>
  </property>
</Properties>
</file>