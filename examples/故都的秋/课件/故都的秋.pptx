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19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8" Type="http://schemas.openxmlformats.org/officeDocument/2006/relationships/slide" Target="slides/slide8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position: 'relative', background: '#F7F4EC', padding: '20px 64px' }}&gt;&#10;  &lt;Image src=&quot;assets/cover_north_autumn.png&quot; style={{ position: 'absolute', top: 0, left: 0, width: 1280, height: 720, objectFit: 'cover' }} /&gt;&#10;&#10;  &lt;Box style={{&#10;    position: 'absolute', top: 96, left: 64, width: 552, height: 496,&#10;    background: 'rgba(247,244,236,0.88)',&#10;    borderLeft: '4px solid #A8351A',&#10;    padding: '40px 36px',&#10;    flexDirection: 'column',&#10;    zIndex: 1,&#10;  }}&gt;&#10;    &lt;Box style={{ flexDirection: 'row', alignItems: 'center', gap: 14, marginBottom: 22 }}&gt;&#10;      &lt;Box style={{ width: 44, height: 44, background: '#A8351A', alignItems: 'center', justifyContent: 'center' }}&gt;&#10;        &lt;Text style={{ fontFamily: 'KaiTi', fontSize: 26, fontWeight: 'bold', color: '#F7F4EC' }}&gt;秋&lt;/Text&gt;&#10;      &lt;/Box&gt;&#10;      &lt;Text style={{ fontFamily: 'Microsoft YaHei', fontSize: 18, color: '#3F4A55', letterSpacing: 2 }}&gt;必修上 · 第七单元&lt;/Text&gt;&#10;    &lt;/Box&gt;&#10;&#10;    &lt;Text style={{ fontFamily: 'KaiTi', fontSize: 88, fontWeight: 'bold', color: '#1A1A1A', lineHeight: 1.15, letterSpacing: 4 }}&gt;故都的秋&lt;/Text&gt;&#10;&#10;    &lt;Box style={{ width: 64, height: 3, background: '#A8351A', marginTop: 24, marginBottom: 26 }} /&gt;&#10;&#10;    &lt;Text style={{ fontFamily: 'KaiTi', fontSize: 32, color: '#1A1A1A', lineHeight: 1.4 }}&gt;郁达夫&lt;/Text&gt;&#10;&#10;    &lt;Box style={{ marginTop: 'auto', borderLeft: '3px solid rgba(168,53,26,0.55)', paddingLeft: 18 }}&gt;&#10;      &lt;Text style={{ fontFamily: 'KaiTi', fontSize: 28, color: '#3F4A55', lineHeight: 1.7 }}&gt;&#10;        秋天，无论在什么地方的秋天，&lt;br /&gt;总是好的。&#10;      &lt;/Text&gt;&#10;    &lt;/Box&gt;&#10;  &lt;/Box&gt;&#10;&#10;  &lt;Text style={{ position: 'absolute', right: 64, bottom: 26, fontFamily: 'Microsoft YaHei', fontSize: 14, color: '#3F4A55', zIndex: 1 }}&gt;01 / 15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47700" y="914400"/>
            <a:ext cx="5219700" cy="4724400"/>
          </a:xfrm>
          <a:prstGeom prst="rect">
            <a:avLst/>
          </a:prstGeom>
          <a:solidFill>
            <a:srgbClr val="F7F4EC">
              <a:alpha val="88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914400"/>
            <a:ext cx="5257800" cy="4724400"/>
          </a:xfrm>
          <a:custGeom>
            <a:pathLst>
              <a:path w="552" h="496">
                <a:moveTo>
                  <a:pt x="0" y="0"/>
                </a:moveTo>
                <a:lnTo>
                  <a:pt x="4" y="0"/>
                </a:lnTo>
                <a:lnTo>
                  <a:pt x="4" y="496"/>
                </a:lnTo>
                <a:lnTo>
                  <a:pt x="0" y="496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990600" y="1295400"/>
            <a:ext cx="419100" cy="4191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76325" y="13525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543050" y="1400175"/>
            <a:ext cx="1533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3F4A55"/>
                </a:solidFill>
                <a:latin typeface="Microsoft YaHei"/>
                <a:ea typeface="Microsoft YaHei"/>
              </a:rPr>
              <a:t>必修上</a:t>
            </a:r>
            <a:r>
              <a:rPr lang="en-US" sz="1350" spc="1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350" spc="150">
                <a:solidFill>
                  <a:srgbClr val="3F4A55"/>
                </a:solidFill>
                <a:latin typeface="Microsoft YaHei"/>
                <a:ea typeface="Microsoft YaHei"/>
              </a:rPr>
              <a:t>第七单元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90600" y="1924050"/>
            <a:ext cx="45339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6600" b="1" spc="300">
                <a:solidFill>
                  <a:srgbClr val="1A1A1A"/>
                </a:solidFill>
                <a:latin typeface="KaiTi"/>
                <a:ea typeface="KaiTi"/>
              </a:rPr>
              <a:t>故都的秋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990600" y="3314700"/>
            <a:ext cx="60960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90600" y="3590925"/>
            <a:ext cx="45339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400">
                <a:solidFill>
                  <a:srgbClr val="1A1A1A"/>
                </a:solidFill>
                <a:latin typeface="KaiTi"/>
                <a:ea typeface="KaiTi"/>
              </a:rPr>
              <a:t>郁达夫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990600" y="4162425"/>
            <a:ext cx="4562475" cy="1095375"/>
          </a:xfrm>
          <a:custGeom>
            <a:pathLst>
              <a:path w="479" h="115">
                <a:moveTo>
                  <a:pt x="0" y="0"/>
                </a:moveTo>
                <a:lnTo>
                  <a:pt x="3" y="0"/>
                </a:lnTo>
                <a:lnTo>
                  <a:pt x="3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A8351A">
              <a:alpha val="55000"/>
            </a:srgbClr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90625" y="4162425"/>
            <a:ext cx="4333875" cy="1095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2100">
                <a:solidFill>
                  <a:srgbClr val="3F4A55"/>
                </a:solidFill>
                <a:latin typeface="KaiTi"/>
                <a:ea typeface="KaiTi"/>
              </a:rPr>
              <a:t>秋天，无论在什么地方的秋天，</a:t>
            </a:r>
            <a:endParaRPr/>
          </a:p>
          <a:p>
            <a:pPr>
              <a:lnSpc>
                <a:spcPct val="170000"/>
              </a:lnSpc>
            </a:pPr>
            <a:r>
              <a:rPr lang="zh-CN" sz="2100">
                <a:solidFill>
                  <a:srgbClr val="3F4A55"/>
                </a:solidFill>
                <a:latin typeface="KaiTi"/>
                <a:ea typeface="KaiTi"/>
              </a:rPr>
              <a:t>总是好的。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11252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01 / 15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56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情境任务&lt;/Text&gt;&#10;    &lt;/Box&gt;&#10;    &lt;Text style={{ fontFamily: 'Microsoft YaHei', fontSize: 18, color: '#3F4A55', letterSpacing: 1 }}&gt;写一则荐读导语&lt;/Text&gt;&#10;  &lt;/Box&gt;&#10;&#10;  &lt;Box style={{ height: 540, flexDirection: 'row', gap: 36, alignItems: 'center' }}&gt;&#10;    &lt;Image src=&quot;assets/reading_note.png&quot; style={{ width: 620, height: 460, objectFit: 'cover' }} /&gt;&#10;&#10;    &lt;Box style={{ flex: 1, height: 460, flexDirection: 'column', justifyContent: 'space-between' }}&gt;&#10;      &lt;Box style={{ flexDirection: 'row', alignItems: 'flex-start' }}&gt;&#10;        &lt;Text style={{ fontFamily: 'KaiTi', fontSize: 150, lineHeight: 0.8, color: '#A8351A', opacity: 0.22 }}&gt;“&lt;/Text&gt;&#10;      &lt;/Box&gt;&#10;&#10;      &lt;Text style={{ fontFamily: 'Microsoft YaHei', fontSize: 36, fontWeight: 'bold', color: '#1A1A1A', lineHeight: 1.5 }}&gt;&#10;        只写&lt;span style={{ color: '#3F4A55' }}&gt;「表达了眷恋」&lt;/span&gt;，&lt;br /&gt;&lt;span style={{ color: '#A8351A' }}&gt;为什么不够？&lt;/span&gt;&#10;      &lt;/Text&gt;&#10;&#10;      &lt;Box style={{ borderTop: '2px solid rgba(26,26,26,0.14)', paddingTop: 22 }}&gt;&#10;        &lt;Text style={{ fontFamily: 'Microsoft YaHei', fontSize: 26, color: '#3F4A55', lineHeight: 1.6 }}&gt;&#10;          导语要说清：好在哪。&#10;        &lt;/Text&gt;&#10;      &lt;/Box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情境任务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315575" y="561975"/>
            <a:ext cx="1266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3F4A55"/>
                </a:solidFill>
                <a:latin typeface="Microsoft YaHei"/>
                <a:ea typeface="Microsoft YaHei"/>
              </a:rPr>
              <a:t>写一则荐读导语</a:t>
            </a:r>
            <a:endParaRPr/>
          </a:p>
        </p:txBody>
      </p:sp>
      <p:pic>
        <p:nvPicPr>
          <p:cNvPr id="16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09600" y="1524000"/>
            <a:ext cx="5905500" cy="4381500"/>
          </a:xfrm>
          <a:prstGeom prst="rect">
            <a:avLst/>
          </a:prstGeom>
          <a:ln/>
        </p:spPr>
      </p:pic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0" y="3429000"/>
            <a:ext cx="4724400" cy="12382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只写</a:t>
            </a:r>
            <a:r>
              <a:rPr lang="zh-CN" sz="2700" b="1">
                <a:solidFill>
                  <a:srgbClr val="3F4A55"/>
                </a:solidFill>
                <a:latin typeface="Microsoft YaHei"/>
                <a:ea typeface="Microsoft YaHei"/>
              </a:rPr>
              <a:t>「表达了眷恋」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50000"/>
              </a:lnSpc>
            </a:pPr>
            <a:r>
              <a:rPr lang="zh-CN" sz="2700" b="1">
                <a:solidFill>
                  <a:srgbClr val="A8351A"/>
                </a:solidFill>
                <a:latin typeface="Microsoft YaHei"/>
                <a:ea typeface="Microsoft YaHei"/>
              </a:rPr>
              <a:t>为什么不够？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858000" y="5200650"/>
            <a:ext cx="4724400" cy="723900"/>
          </a:xfrm>
          <a:custGeom>
            <a:pathLst>
              <a:path w="496" h="76">
                <a:moveTo>
                  <a:pt x="0" y="0"/>
                </a:moveTo>
                <a:lnTo>
                  <a:pt x="496" y="0"/>
                </a:lnTo>
                <a:lnTo>
                  <a:pt x="496" y="2"/>
                </a:lnTo>
                <a:lnTo>
                  <a:pt x="0" y="2"/>
                </a:lnTo>
                <a:close/>
              </a:path>
            </a:pathLst>
          </a:custGeom>
          <a:solidFill>
            <a:srgbClr val="1A1A1A">
              <a:alpha val="14000"/>
            </a:srgbClr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0" y="5429250"/>
            <a:ext cx="47244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950">
                <a:solidFill>
                  <a:srgbClr val="3F4A55"/>
                </a:solidFill>
                <a:latin typeface="Microsoft YaHei"/>
                <a:ea typeface="Microsoft YaHei"/>
              </a:rPr>
              <a:t>导语要说清：好在哪。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0" y="1524000"/>
            <a:ext cx="1428750" cy="1371600"/>
          </a:xfrm>
          <a:prstGeom prst="rect"/>
        </p:spPr>
        <p:txBody>
          <a:bodyPr wrap="none" lIns="0" tIns="0" rIns="0" bIns="0"/>
          <a:p>
            <a:pPr>
              <a:lnSpc>
                <a:spcPct val="80000"/>
              </a:lnSpc>
            </a:pPr>
            <a:r>
              <a:rPr sz="11250">
                <a:solidFill>
                  <a:srgbClr val="A8351A">
                    <a:alpha val="22000"/>
                  </a:srgbClr>
                </a:solidFill>
                <a:latin typeface="KaiTi"/>
                <a:ea typeface="KaiTi"/>
              </a:rPr>
              <a:t>“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0" name="" descr="&lt;Slide style={{ width: 1280, height: 720, padding: '20px 64px', background: '#F7F4EC', flexDirection: 'column' }}&gt;&#10;  &lt;Box style={{ height: 100, flexDirection: 'row', alignItems: 'center' }}&gt;&#10;    &lt;Box style={{ flexDirection: 'row', alignItems: 'center', gap: 14 }}&gt;&#10;      &lt;Box style={{ width: 6, height: 34, background: '#A8351A' }} /&gt;&#10;      &lt;Text style={{ fontFamily: 'KaiTi', fontSize: 34, fontWeight: 'bold', color: '#1A1A1A' }}&gt;核心问题&lt;/Text&gt;&#10;    &lt;/Box&gt;&#10;  &lt;/Box&gt;&#10;&#10;  &lt;Box style={{ height: 540, flexDirection: 'column', alignItems: 'center', justifyContent: 'center' }}&gt;&#10;    &lt;Text style={{ fontFamily: 'KaiTi', fontSize: 140, fontWeight: 'bold', color: '#A8351A', lineHeight: 1.0, letterSpacing: 10 }}&gt;悲凉&lt;/Text&gt;&#10;&#10;    &lt;Box style={{ width: 84, height: 3, background: '#1A1A1A', opacity: 0.8, marginTop: 26, marginBottom: 34 }} /&gt;&#10;&#10;    &lt;Text style={{ fontFamily: 'Microsoft YaHei', fontSize: 40, fontWeight: 'bold', color: '#1A1A1A', lineHeight: 1.6, textAlign: 'center' }}&gt;&#10;      本是让人难受的，他为什么说——&lt;br /&gt;愿意用寿命的三分之二去换？&#10;    &lt;/Text&gt;&#10;&#10;    &lt;Box style={{ flexDirection: 'row', alignItems: 'center', marginTop: 40 }}&gt;&#10;      &lt;Box style={{ width: 3, height: 44, background: 'rgba(168,53,26,0.55)', marginRight: 16 }} /&gt;&#10;      &lt;Text style={{ fontFamily: 'KaiTi', fontSize: 24, color: '#3F4A55', lineHeight: 1.6 }}&gt;这北国的秋天，若留得住的话……&lt;/Text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0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核心问题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667250" y="1466850"/>
            <a:ext cx="2857500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0" b="1" spc="750">
                <a:solidFill>
                  <a:srgbClr val="A8351A"/>
                </a:solidFill>
                <a:latin typeface="KaiTi"/>
                <a:ea typeface="KaiTi"/>
              </a:rPr>
              <a:t>悲凉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209925" y="3667125"/>
            <a:ext cx="5781675" cy="14668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本是让人难受的，他为什么说——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愿意用寿命的三分之二去换？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295775" y="5534025"/>
            <a:ext cx="28575" cy="419100"/>
          </a:xfrm>
          <a:prstGeom prst="rect">
            <a:avLst/>
          </a:prstGeom>
          <a:solidFill>
            <a:srgbClr val="A8351A">
              <a:alpha val="55000"/>
            </a:srgbClr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476750" y="5514975"/>
            <a:ext cx="34290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3F4A55"/>
                </a:solidFill>
                <a:latin typeface="KaiTi"/>
                <a:ea typeface="KaiTi"/>
              </a:rPr>
              <a:t>这北国的秋天，若留得住的话……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03 / 15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695950" y="3314700"/>
            <a:ext cx="800100" cy="28575"/>
          </a:xfrm>
          <a:prstGeom prst="rect">
            <a:avLst/>
          </a:prstGeom>
          <a:solidFill>
            <a:srgbClr val="1A1A1A">
              <a:alpha val="80000"/>
            </a:srgbClr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83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任务链&lt;/Text&gt;&#10;    &lt;/Box&gt;&#10;    &lt;Text style={{ fontFamily: 'Microsoft YaHei', fontSize: 18, color: '#3F4A55', letterSpacing: 1 }}&gt;一步一步，走到答案&lt;/Text&gt;&#10;  &lt;/Box&gt;&#10;&#10;  &lt;Box style={{ height: 540, flexDirection: 'row', gap: 32 }}&gt;&#10;    &lt;Box style={{&#10;      width: 340, height: 540, background: 'rgba(63,74,85,0.06)',&#10;      borderLeft: '4px solid #A8351A', padding: '40px 32px',&#10;      flexDirection: 'column', justifyContent: 'space-between',&#10;    }}&gt;&#10;      &lt;Text style={{ fontFamily: 'KaiTi', fontSize: 56, fontWeight: 'bold', color: '#1A1A1A', lineHeight: 1.3 }}&gt;四步&lt;/Text&gt;&#10;      &lt;Text style={{ fontFamily: 'Microsoft YaHei', fontSize: 26, color: '#3F4A55', lineHeight: 1.7 }}&gt;&#10;        从反常处出发，&lt;br /&gt;走到结论。&#10;      &lt;/Text&gt;&#10;      &lt;Box style={{ width: 48, height: 3, background: '#A8351A' }} /&gt;&#10;    &lt;/Box&gt;&#10;&#10;    &lt;Box style={{ flex: 1, height: 540, flexDirection: 'column', justifyContent: 'space-between' }}&gt;&#10;      &lt;Box style={{ flexDirection: 'row', alignItems: 'center', height: 110, background: 'rgba(63,74,85,0.06)', padding: '0 28px', gap: 22 }}&gt;&#10;        &lt;Box style={{ width: 56, height: 56, background: '#3F4A55', alignItems: 'center', justifyContent: 'center' }}&gt;&#10;          &lt;Text style={{ fontFamily: 'Microsoft YaHei', fontSize: 24, fontWeight: 'bold', color: '#F7F4EC' }}&gt;01&lt;/Text&gt;&#10;        &lt;/Box&gt;&#10;        &lt;Box&gt;&#10;          &lt;Text style={{ fontFamily: 'Microsoft YaHei', fontSize: 28, fontWeight: 'bold', color: '#1A1A1A' }}&gt;找反常&lt;/Text&gt;&#10;          &lt;Text style={{ fontFamily: 'Microsoft YaHei', fontSize: 20, color: '#3F4A55', marginTop: 6 }}&gt;三个「来得」&lt;/Text&gt;&#10;        &lt;/Box&gt;&#10;      &lt;/Box&gt;&#10;&#10;      &lt;Box style={{ flexDirection: 'row', alignItems: 'center', height: 110, background: 'rgba(63,74,85,0.06)', padding: '0 28px', gap: 22 }}&gt;&#10;        &lt;Box style={{ width: 56, height: 56, background: '#3F4A55', alignItems: 'center', justifyContent: 'center' }}&gt;&#10;          &lt;Text style={{ fontFamily: 'Microsoft YaHei', fontSize: 24, fontWeight: 'bold', color: '#F7F4EC' }}&gt;02&lt;/Text&gt;&#10;        &lt;/Box&gt;&#10;        &lt;Box&gt;&#10;          &lt;Text style={{ fontFamily: 'Microsoft YaHei', fontSize: 28, fontWeight: 'bold', color: '#1A1A1A' }}&gt;找减法&lt;/Text&gt;&#10;          &lt;Text style={{ fontFamily: 'Microsoft YaHei', fontSize: 20, color: '#3F4A55', marginTop: 6 }}&gt;色声味繁华，他减掉了什么&lt;/Text&gt;&#10;        &lt;/Box&gt;&#10;      &lt;/Box&gt;&#10;&#10;      &lt;Box style={{ flexDirection: 'row', alignItems: 'center', height: 110, background: 'rgba(63,74,85,0.06)', padding: '0 28px', gap: 22 }}&gt;&#10;        &lt;Box style={{ width: 56, height: 56, background: '#3F4A55', alignItems: 'center', justifyContent: 'center' }}&gt;&#10;          &lt;Text style={{ fontFamily: 'Microsoft YaHei', fontSize: 24, fontWeight: 'bold', color: '#F7F4EC' }}&gt;03&lt;/Text&gt;&#10;        &lt;/Box&gt;&#10;        &lt;Box&gt;&#10;          &lt;Text style={{ fontFamily: 'Microsoft YaHei', fontSize: 28, fontWeight: 'bold', color: '#1A1A1A' }}&gt;解释为什么&lt;/Text&gt;&#10;          &lt;Text style={{ fontFamily: 'Microsoft YaHei', fontSize: 20, color: '#3F4A55', marginTop: 6 }}&gt;最少，为什么最贵&lt;/Text&gt;&#10;        &lt;/Box&gt;&#10;      &lt;/Box&gt;&#10;&#10;      &lt;Box style={{ flexDirection: 'row', alignItems: 'center', height: 110, background: 'rgba(168,53,26,0.07)', padding: '0 28px', gap: 22 }}&gt;&#10;        &lt;Box style={{ width: 56, height: 56, background: '#A8351A', alignItems: 'center', justifyContent: 'center' }}&gt;&#10;          &lt;Text style={{ fontFamily: 'Microsoft YaHei', fontSize: 24, fontWeight: 'bold', color: '#F7F4EC' }}&gt;04&lt;/Text&gt;&#10;        &lt;/Box&gt;&#10;        &lt;Box&gt;&#10;          &lt;Text style={{ fontFamily: 'Microsoft YaHei', fontSize: 28, fontWeight: 'bold', color: '#A8351A' }}&gt;写导语&lt;/Text&gt;&#10;          &lt;Text style={{ fontFamily: 'Microsoft YaHei', fontSize: 20, color: '#3F4A55', marginTop: 6 }}&gt;把结论说给别人听&lt;/Text&gt;&#10;        &lt;/Box&gt;&#10;      &lt;/Box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971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任务链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953625" y="561975"/>
            <a:ext cx="1628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3F4A55"/>
                </a:solidFill>
                <a:latin typeface="Microsoft YaHei"/>
                <a:ea typeface="Microsoft YaHei"/>
              </a:rPr>
              <a:t>一步一步，走到答案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47700" y="1143000"/>
            <a:ext cx="3200400" cy="51435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09600" y="1143000"/>
            <a:ext cx="3238500" cy="5143500"/>
          </a:xfrm>
          <a:custGeom>
            <a:pathLst>
              <a:path w="340" h="540">
                <a:moveTo>
                  <a:pt x="0" y="0"/>
                </a:moveTo>
                <a:lnTo>
                  <a:pt x="4" y="0"/>
                </a:lnTo>
                <a:lnTo>
                  <a:pt x="4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52500" y="1524000"/>
            <a:ext cx="2590800" cy="8382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1A1A1A"/>
                </a:solidFill>
                <a:latin typeface="KaiTi"/>
                <a:ea typeface="KaiTi"/>
              </a:rPr>
              <a:t>四步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52500" y="3609975"/>
            <a:ext cx="25908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3F4A55"/>
                </a:solidFill>
                <a:latin typeface="Microsoft YaHei"/>
                <a:ea typeface="Microsoft YaHei"/>
              </a:rPr>
              <a:t>从反常处出发，</a:t>
            </a:r>
            <a:endParaRPr/>
          </a:p>
          <a:p>
            <a:pPr>
              <a:lnSpc>
                <a:spcPct val="170000"/>
              </a:lnSpc>
            </a:pPr>
            <a:r>
              <a:rPr lang="zh-CN" sz="1950">
                <a:solidFill>
                  <a:srgbClr val="3F4A55"/>
                </a:solidFill>
                <a:latin typeface="Microsoft YaHei"/>
                <a:ea typeface="Microsoft YaHei"/>
              </a:rPr>
              <a:t>走到结论。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952500" y="5876925"/>
            <a:ext cx="45720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152900" y="1143000"/>
            <a:ext cx="7429500" cy="104775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4419600" y="1400175"/>
            <a:ext cx="533400" cy="53340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543425" y="15335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7F4E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162550" y="1362075"/>
            <a:ext cx="1143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找反常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162550" y="174307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3F4A55"/>
                </a:solidFill>
                <a:latin typeface="Microsoft YaHei"/>
                <a:ea typeface="Microsoft YaHei"/>
              </a:rPr>
              <a:t>三个「来得」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152900" y="2505075"/>
            <a:ext cx="7429500" cy="104775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4419600" y="2762250"/>
            <a:ext cx="533400" cy="53340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543425" y="28956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7F4E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162550" y="2724150"/>
            <a:ext cx="2286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找减法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162550" y="310515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3F4A55"/>
                </a:solidFill>
                <a:latin typeface="Microsoft YaHei"/>
                <a:ea typeface="Microsoft YaHei"/>
              </a:rPr>
              <a:t>色声味繁华，他减掉了什么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152900" y="3876675"/>
            <a:ext cx="7429500" cy="104775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4419600" y="4133850"/>
            <a:ext cx="533400" cy="53340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543425" y="42672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7F4E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162550" y="4095750"/>
            <a:ext cx="1524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解释为什么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162550" y="447675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3F4A55"/>
                </a:solidFill>
                <a:latin typeface="Microsoft YaHei"/>
                <a:ea typeface="Microsoft YaHei"/>
              </a:rPr>
              <a:t>最少，为什么最贵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152900" y="5238750"/>
            <a:ext cx="7429500" cy="1047750"/>
          </a:xfrm>
          <a:prstGeom prst="rect">
            <a:avLst/>
          </a:prstGeom>
          <a:solidFill>
            <a:srgbClr val="A8351A">
              <a:alpha val="7000"/>
            </a:srgbClr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4419600" y="5495925"/>
            <a:ext cx="533400" cy="5334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543425" y="56292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7F4EC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162550" y="5457825"/>
            <a:ext cx="1524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A8351A"/>
                </a:solidFill>
                <a:latin typeface="Microsoft YaHei"/>
                <a:ea typeface="Microsoft YaHei"/>
              </a:rPr>
              <a:t>写导语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162550" y="58388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3F4A55"/>
                </a:solidFill>
                <a:latin typeface="Microsoft YaHei"/>
                <a:ea typeface="Microsoft YaHei"/>
              </a:rPr>
              <a:t>把结论说给别人听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7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任务一 · 他「赶」的是什么&lt;/Text&gt;&#10;    &lt;/Box&gt;&#10;    &lt;Text style={{ fontFamily: 'Microsoft YaHei', fontSize: 18, color: '#3F4A55', letterSpacing: 1 }}&gt;01&lt;/Text&gt;&#10;  &lt;/Box&gt;&#10;&#10;  &lt;Box style={{ height: 540, flexDirection: 'column', gap: 24 }}&gt;&#10;    &lt;Image src=&quot;assets/train_north.png&quot; style={{ width: 1152, height: 300, objectFit: 'cover' }} /&gt;&#10;&#10;    &lt;Box style={{&#10;      height: 216, background: 'rgba(63,74,85,0.06)', borderLeft: '4px solid #A8351A',&#10;      padding: '28px 32px', flexDirection: 'column', justifyContent: 'space-between',&#10;    }}&gt;&#10;      &lt;Text style={{ fontFamily: 'KaiTi', fontSize: 30, color: '#1A1A1A', lineHeight: 1.6 }}&gt;&#10;        可是啊，北国的秋，却特别地来得&lt;span style={{ fontWeight: 'bold' }}&gt;清&lt;/span&gt;，来得&lt;span style={{ fontWeight: 'bold' }}&gt;静&lt;/span&gt;，来得&lt;span style={{ color: '#A8351A', fontWeight: 'bold' }}&gt;悲凉&lt;/span&gt;。&#10;      &lt;/Text&gt;&#10;      &lt;Text style={{ fontFamily: 'Microsoft YaHei', fontSize: 36, fontWeight: 'bold', color: '#1A1A1A', lineHeight: 1.5 }}&gt;&#10;        杭州有秋，青岛有秋，他为什么还要「赶」？&#10;      &lt;/Text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任务一</a:t>
            </a:r>
            <a:r>
              <a:rPr lang="en-US" sz="2550" b="1">
                <a:solidFill>
                  <a:srgbClr val="1A1A1A"/>
                </a:solidFill>
                <a:latin typeface="KaiTi"/>
                <a:ea typeface="KaiT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他「赶」的是什么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353800" y="5619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3F4A55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2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09600" y="1143000"/>
            <a:ext cx="10972800" cy="2857500"/>
          </a:xfrm>
          <a:prstGeom prst="rect">
            <a:avLst/>
          </a:prstGeom>
          <a:ln/>
        </p:spPr>
      </p:pic>
      <p:sp>
        <p:nvSpPr>
          <p:cNvPr id="223" name=""/>
          <p:cNvSpPr/>
          <p:nvPr/>
        </p:nvSpPr>
        <p:spPr>
          <a:xfrm rot="0" flipH="0" flipV="0">
            <a:off x="647700" y="4229100"/>
            <a:ext cx="10972800" cy="20574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609600" y="4229100"/>
            <a:ext cx="11010900" cy="2057400"/>
          </a:xfrm>
          <a:custGeom>
            <a:pathLst>
              <a:path w="1156" h="216">
                <a:moveTo>
                  <a:pt x="0" y="0"/>
                </a:moveTo>
                <a:lnTo>
                  <a:pt x="4" y="0"/>
                </a:lnTo>
                <a:lnTo>
                  <a:pt x="4" y="216"/>
                </a:lnTo>
                <a:lnTo>
                  <a:pt x="0" y="216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952500" y="4495800"/>
            <a:ext cx="103251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可是啊，北国的秋，却特别地来得</a:t>
            </a:r>
            <a:r>
              <a:rPr lang="zh-CN" sz="2250" b="1">
                <a:solidFill>
                  <a:srgbClr val="1A1A1A"/>
                </a:solidFill>
                <a:latin typeface="KaiTi"/>
                <a:ea typeface="KaiTi"/>
              </a:rPr>
              <a:t>清</a:t>
            </a: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，来得</a:t>
            </a:r>
            <a:r>
              <a:rPr lang="zh-CN" sz="2250" b="1">
                <a:solidFill>
                  <a:srgbClr val="1A1A1A"/>
                </a:solidFill>
                <a:latin typeface="KaiTi"/>
                <a:ea typeface="KaiTi"/>
              </a:rPr>
              <a:t>静</a:t>
            </a: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，来得</a:t>
            </a:r>
            <a:r>
              <a:rPr lang="zh-CN" sz="2250" b="1">
                <a:solidFill>
                  <a:srgbClr val="A8351A"/>
                </a:solidFill>
                <a:latin typeface="KaiTi"/>
                <a:ea typeface="KaiTi"/>
              </a:rPr>
              <a:t>悲凉</a:t>
            </a: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52500" y="5400675"/>
            <a:ext cx="10325100" cy="619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杭州有秋，青岛有秋，他为什么还要「赶」？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31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任务一 · 追问&lt;/Text&gt;&#10;    &lt;/Box&gt;&#10;    &lt;Text style={{ fontFamily: 'Microsoft YaHei', fontSize: 18, color: '#3F4A55', letterSpacing: 1 }}&gt;01&lt;/Text&gt;&#10;  &lt;/Box&gt;&#10;&#10;  &lt;Box style={{ height: 540, flexDirection: 'row', gap: 32 }}&gt;&#10;    &lt;Box style={{ width: 728, height: 540, position: 'relative', justifyContent: 'center', paddingLeft: 8 }}&gt;&#10;      &lt;Text style={{&#10;        position: 'absolute', right: 0, bottom: 0,&#10;        fontFamily: 'KaiTi', fontSize: 300, fontWeight: 'bold',&#10;        color: 'rgba(63,74,85,0.07)', lineHeight: 1.0,&#10;      }}&gt;味&lt;/Text&gt;&#10;&#10;      &lt;Box style={{ position: 'relative', zIndex: 1 }}&gt;&#10;        &lt;Box style={{ flexDirection: 'row', alignItems: 'center', gap: 12, marginBottom: 26 }}&gt;&#10;          &lt;Box style={{ width: 26, height: 3, background: '#A8351A' }} /&gt;&#10;          &lt;Text style={{ fontFamily: 'Microsoft YaHei', fontSize: 20, color: '#3F4A55', letterSpacing: 2 }}&gt;原文&lt;/Text&gt;&#10;        &lt;/Box&gt;&#10;&#10;        &lt;Text style={{ fontFamily: 'KaiTi', fontSize: 40, color: '#1A1A1A', lineHeight: 1.6 }}&gt;&#10;          秋的味，秋的色，秋的意境与姿态，&lt;br /&gt;&#10;          总&lt;span style={{ color: '#A8351A', fontWeight: 'bold' }}&gt;看不饱&lt;/span&gt;，&lt;span style={{ color: '#A8351A', fontWeight: 'bold' }}&gt;尝不透&lt;/span&gt;，&lt;br /&gt;&#10;          赏玩不到十足。&#10;        &lt;/Text&gt;&#10;      &lt;/Box&gt;&#10;    &lt;/Box&gt;&#10;&#10;    &lt;Box style={{&#10;      width: 392, height: 540, background: 'rgba(63,74,85,0.06)',&#10;      padding: '44px 36px', flexDirection: 'column', justifyContent: 'space-between',&#10;    }}&gt;&#10;      &lt;Box style={{ flexDirection: 'row', alignItems: 'center', gap: 12 }}&gt;&#10;        &lt;Box style={{ width: 26, height: 3, background: '#A8351A' }} /&gt;&#10;        &lt;Text style={{ fontFamily: 'Microsoft YaHei', fontSize: 20, color: '#3F4A55', letterSpacing: 2 }}&gt;追问&lt;/Text&gt;&#10;      &lt;/Box&gt;&#10;&#10;      &lt;Text style={{ fontFamily: 'Microsoft YaHei', fontSize: 36, fontWeight: 'bold', color: '#1A1A1A', lineHeight: 1.6 }}&gt;&#10;        味是&lt;span style={{ color: '#A8351A' }}&gt;尝&lt;/span&gt;出来的——&lt;br /&gt;秋天，怎么「尝」？&#10;      &lt;/Text&gt;&#10;&#10;      &lt;Box style={{ width: 48, height: 3, background: 'rgba(26,26,26,0.18)' }} /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任务一</a:t>
            </a:r>
            <a:r>
              <a:rPr lang="en-US" sz="2550" b="1">
                <a:solidFill>
                  <a:srgbClr val="1A1A1A"/>
                </a:solidFill>
                <a:latin typeface="KaiTi"/>
                <a:ea typeface="KaiT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追问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353800" y="5619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3F4A55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7848600" y="1143000"/>
            <a:ext cx="3733800" cy="51435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8191500" y="1666875"/>
            <a:ext cx="24765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553450" y="1562100"/>
            <a:ext cx="41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追问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91500" y="2828925"/>
            <a:ext cx="3048000" cy="1981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味是</a:t>
            </a:r>
            <a:r>
              <a:rPr lang="zh-CN" sz="2700" b="1">
                <a:solidFill>
                  <a:srgbClr val="A8351A"/>
                </a:solidFill>
                <a:latin typeface="Microsoft YaHei"/>
                <a:ea typeface="Microsoft YaHei"/>
              </a:rPr>
              <a:t>尝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出来的——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秋天，怎么「尝」？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8191500" y="5838825"/>
            <a:ext cx="457200" cy="28575"/>
          </a:xfrm>
          <a:prstGeom prst="rect">
            <a:avLst/>
          </a:prstGeom>
          <a:solidFill>
            <a:srgbClr val="1A1A1A">
              <a:alpha val="18000"/>
            </a:srgbClr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686300" y="2857500"/>
            <a:ext cx="285750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0" b="1">
                <a:solidFill>
                  <a:srgbClr val="3F4A55">
                    <a:alpha val="7000"/>
                  </a:srgbClr>
                </a:solidFill>
                <a:latin typeface="KaiTi"/>
                <a:ea typeface="KaiTi"/>
              </a:rPr>
              <a:t>味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85800" y="2486025"/>
            <a:ext cx="24765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047750" y="2381250"/>
            <a:ext cx="41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原文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85800" y="2857500"/>
            <a:ext cx="6858000" cy="2200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3000">
                <a:solidFill>
                  <a:srgbClr val="1A1A1A"/>
                </a:solidFill>
                <a:latin typeface="KaiTi"/>
                <a:ea typeface="KaiTi"/>
              </a:rPr>
              <a:t>秋的味，秋的色，秋的意境与姿态，</a:t>
            </a:r>
            <a:endParaRPr/>
          </a:p>
          <a:p>
            <a:pPr>
              <a:lnSpc>
                <a:spcPct val="160000"/>
              </a:lnSpc>
            </a:pPr>
            <a:r>
              <a:rPr lang="zh-CN" sz="3000">
                <a:solidFill>
                  <a:srgbClr val="1A1A1A"/>
                </a:solidFill>
                <a:latin typeface="KaiTi"/>
                <a:ea typeface="KaiTi"/>
              </a:rPr>
              <a:t>总</a:t>
            </a:r>
            <a:r>
              <a:rPr lang="zh-CN" sz="3000" b="1">
                <a:solidFill>
                  <a:srgbClr val="A8351A"/>
                </a:solidFill>
                <a:latin typeface="KaiTi"/>
                <a:ea typeface="KaiTi"/>
              </a:rPr>
              <a:t>看不饱</a:t>
            </a:r>
            <a:r>
              <a:rPr lang="zh-CN" sz="3000">
                <a:solidFill>
                  <a:srgbClr val="1A1A1A"/>
                </a:solidFill>
                <a:latin typeface="KaiTi"/>
                <a:ea typeface="KaiTi"/>
              </a:rPr>
              <a:t>，</a:t>
            </a:r>
            <a:r>
              <a:rPr lang="zh-CN" sz="3000" b="1">
                <a:solidFill>
                  <a:srgbClr val="A8351A"/>
                </a:solidFill>
                <a:latin typeface="KaiTi"/>
                <a:ea typeface="KaiTi"/>
              </a:rPr>
              <a:t>尝不透</a:t>
            </a:r>
            <a:r>
              <a:rPr lang="zh-CN" sz="3000">
                <a:solidFill>
                  <a:srgbClr val="1A1A1A"/>
                </a:solidFill>
                <a:latin typeface="KaiTi"/>
                <a:ea typeface="KaiTi"/>
              </a:rPr>
              <a:t>，</a:t>
            </a:r>
            <a:endParaRPr/>
          </a:p>
          <a:p>
            <a:pPr>
              <a:lnSpc>
                <a:spcPct val="160000"/>
              </a:lnSpc>
            </a:pPr>
            <a:r>
              <a:rPr lang="zh-CN" sz="3000">
                <a:solidFill>
                  <a:srgbClr val="1A1A1A"/>
                </a:solidFill>
                <a:latin typeface="KaiTi"/>
                <a:ea typeface="KaiTi"/>
              </a:rPr>
              <a:t>赏玩不到十足。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49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任务二 · 减法之「色」&lt;/Text&gt;&#10;    &lt;/Box&gt;&#10;    &lt;Text style={{ fontFamily: 'Microsoft YaHei', fontSize: 18, color: '#3F4A55', letterSpacing: 1 }}&gt;02&lt;/Text&gt;&#10;  &lt;/Box&gt;&#10;&#10;  &lt;Box style={{ height: 540, flexDirection: 'row', gap: 32, alignItems: 'center' }}&gt;&#10;    &lt;Image src=&quot;assets/morning_glory.png&quot; style={{ width: 680, height: 500, objectFit: 'cover' }} /&gt;&#10;&#10;    &lt;Box style={{ width: 440, height: 500, flexDirection: 'column', justifyContent: 'space-between' }}&gt;&#10;      &lt;Box style={{ flexDirection: 'row', alignItems: 'center', gap: 12 }}&gt;&#10;        &lt;Box style={{ width: 26, height: 3, background: '#A8351A' }} /&gt;&#10;        &lt;Text style={{ fontFamily: 'Microsoft YaHei', fontSize: 20, color: '#3F4A55', letterSpacing: 2 }}&gt;原文&lt;/Text&gt;&#10;      &lt;/Box&gt;&#10;&#10;      &lt;Text style={{ fontFamily: 'KaiTi', fontSize: 30, color: '#1A1A1A', lineHeight: 1.7 }}&gt;&#10;        牵牛花以&lt;span style={{ color: '#A8351A', fontWeight: 'bold' }}&gt;蓝色或白色&lt;/span&gt;者为佳，&lt;br /&gt;&#10;        紫黑色次之，&lt;br /&gt;&#10;        &lt;span style={{ color: '#A8351A', fontWeight: 'bold' }}&gt;淡红者最下&lt;/span&gt;。&#10;      &lt;/Text&gt;&#10;&#10;      &lt;Box style={{ borderTop: '2px solid rgba(26,26,26,0.14)', paddingTop: 26 }}&gt;&#10;        &lt;Text style={{ fontFamily: 'Microsoft YaHei', fontSize: 36, fontWeight: 'bold', color: '#1A1A1A', lineHeight: 1.5 }}&gt;&#10;          他凭什么，&lt;br /&gt;给颜色排序？&#10;        &lt;/Text&gt;&#10;      &lt;/Box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07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任务二</a:t>
            </a:r>
            <a:r>
              <a:rPr lang="en-US" sz="2550" b="1">
                <a:solidFill>
                  <a:srgbClr val="1A1A1A"/>
                </a:solidFill>
                <a:latin typeface="KaiTi"/>
                <a:ea typeface="KaiT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减法之「色」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353800" y="5619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3F4A5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25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09600" y="1333500"/>
            <a:ext cx="6477000" cy="4762500"/>
          </a:xfrm>
          <a:prstGeom prst="rect">
            <a:avLst/>
          </a:prstGeom>
          <a:ln/>
        </p:spPr>
      </p:pic>
      <p:sp>
        <p:nvSpPr>
          <p:cNvPr id="255" name=""/>
          <p:cNvSpPr/>
          <p:nvPr/>
        </p:nvSpPr>
        <p:spPr>
          <a:xfrm rot="0" flipH="0" flipV="0">
            <a:off x="7391400" y="1438275"/>
            <a:ext cx="24765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753350" y="1333500"/>
            <a:ext cx="41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原文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391400" y="2200275"/>
            <a:ext cx="4191000" cy="1752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牵牛花以</a:t>
            </a:r>
            <a:r>
              <a:rPr lang="zh-CN" sz="2250" b="1">
                <a:solidFill>
                  <a:srgbClr val="A8351A"/>
                </a:solidFill>
                <a:latin typeface="KaiTi"/>
                <a:ea typeface="KaiTi"/>
              </a:rPr>
              <a:t>蓝色或白色</a:t>
            </a: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者为佳，</a:t>
            </a:r>
            <a:endParaRPr/>
          </a:p>
          <a:p>
            <a:pPr>
              <a:lnSpc>
                <a:spcPct val="170000"/>
              </a:lnSpc>
            </a:pP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紫黑色次之，</a:t>
            </a:r>
            <a:endParaRPr/>
          </a:p>
          <a:p>
            <a:pPr>
              <a:lnSpc>
                <a:spcPct val="170000"/>
              </a:lnSpc>
            </a:pPr>
            <a:r>
              <a:rPr lang="zh-CN" sz="2250" b="1">
                <a:solidFill>
                  <a:srgbClr val="A8351A"/>
                </a:solidFill>
                <a:latin typeface="KaiTi"/>
                <a:ea typeface="KaiTi"/>
              </a:rPr>
              <a:t>淡红者最下</a:t>
            </a: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391400" y="4591050"/>
            <a:ext cx="4191000" cy="1524000"/>
          </a:xfrm>
          <a:custGeom>
            <a:pathLst>
              <a:path w="440" h="160">
                <a:moveTo>
                  <a:pt x="0" y="0"/>
                </a:moveTo>
                <a:lnTo>
                  <a:pt x="440" y="0"/>
                </a:lnTo>
                <a:lnTo>
                  <a:pt x="440" y="2"/>
                </a:lnTo>
                <a:lnTo>
                  <a:pt x="0" y="2"/>
                </a:lnTo>
                <a:close/>
              </a:path>
            </a:pathLst>
          </a:custGeom>
          <a:solidFill>
            <a:srgbClr val="1A1A1A">
              <a:alpha val="14000"/>
            </a:srgbClr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391400" y="4857750"/>
            <a:ext cx="4191000" cy="12382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他凭什么，</a:t>
            </a:r>
            <a:endParaRPr/>
          </a:p>
          <a:p>
            <a:pPr>
              <a:lnSpc>
                <a:spcPct val="15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给颜色排序？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64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任务二 · 减法之「声」与「味」&lt;/Text&gt;&#10;    &lt;/Box&gt;&#10;    &lt;Text style={{ fontFamily: 'Microsoft YaHei', fontSize: 18, color: '#3F4A55', letterSpacing: 1 }}&gt;02&lt;/Text&gt;&#10;  &lt;/Box&gt;&#10;&#10;  &lt;Box style={{ height: 540, flexDirection: 'row', gap: 32 }}&gt;&#10;    &lt;Box style={{&#10;      width: 360, height: 540, background: 'rgba(63,74,85,0.06)', borderLeft: '4px solid #A8351A',&#10;      padding: '48px 36px', flexDirection: 'column', justifyContent: 'space-between',&#10;    }}&gt;&#10;      &lt;Text style={{ fontFamily: 'Microsoft YaHei', fontSize: 20, color: '#3F4A55', letterSpacing: 2 }}&gt;他删掉了&lt;/Text&gt;&#10;&#10;      &lt;Text style={{ fontFamily: 'KaiTi', fontSize: 76, fontWeight: 'bold', color: '#1A1A1A', lineHeight: 1.25, textDecoration: 'line-through' }}&gt;声&lt;/Text&gt;&#10;      &lt;Text style={{ fontFamily: 'KaiTi', fontSize: 76, fontWeight: 'bold', color: '#1A1A1A', lineHeight: 1.25, textDecoration: 'line-through' }}&gt;味&lt;/Text&gt;&#10;&#10;      &lt;Box style={{ width: 48, height: 3, background: '#A8351A' }} /&gt;&#10;    &lt;/Box&gt;&#10;&#10;    &lt;Box style={{ width: 760, height: 540, flexDirection: 'column', justifyContent: 'space-between' }}&gt;&#10;      &lt;Box style={{ flexDirection: 'row', alignItems: 'center', gap: 12 }}&gt;&#10;        &lt;Box style={{ width: 26, height: 3, background: '#A8351A' }} /&gt;&#10;        &lt;Text style={{ fontFamily: 'Microsoft YaHei', fontSize: 20, color: '#3F4A55', letterSpacing: 2 }}&gt;原文&lt;/Text&gt;&#10;      &lt;/Box&gt;&#10;&#10;      &lt;Box&gt;&#10;        &lt;Text style={{ fontFamily: 'KaiTi', fontSize: 24, color: '#3F4A55', lineHeight: 1.7 }}&gt;像花而又不是花的那一种落蕊，早晨起来，会铺得满地。&lt;/Text&gt;&#10;&#10;        &lt;Box style={{ width: '100%', height: 2, background: 'rgba(26,26,26,0.12)', marginTop: 22, marginBottom: 26 }} /&gt;&#10;&#10;        &lt;Text style={{ fontFamily: 'KaiTi', fontSize: 34, color: '#1A1A1A', lineHeight: 1.7 }}&gt;&#10;          脚踏上去，&lt;span style={{ color: '#A8351A', fontWeight: 'bold' }}&gt;声音也没有&lt;/span&gt;，&lt;span style={{ color: '#A8351A', fontWeight: 'bold' }}&gt;气味也没有&lt;/span&gt;，&lt;br /&gt;&#10;          只能感出&lt;span style={{ fontWeight: 'bold' }}&gt;一点点极微细极柔软的触觉&lt;/span&gt;。&#10;        &lt;/Text&gt;&#10;      &lt;/Box&gt;&#10;&#10;      &lt;Box style={{ background: 'rgba(168,53,26,0.07)', padding: '22px 28px' }}&gt;&#10;        &lt;Text style={{ fontFamily: 'Microsoft YaHei', fontSize: 36, fontWeight: 'bold', color: '#1A1A1A', lineHeight: 1.5 }}&gt;&#10;          这两个「没有」，删掉了什么？&#10;        &lt;/Text&gt;&#10;      &lt;/Box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任务二</a:t>
            </a:r>
            <a:r>
              <a:rPr lang="en-US" sz="2550" b="1">
                <a:solidFill>
                  <a:srgbClr val="1A1A1A"/>
                </a:solidFill>
                <a:latin typeface="KaiTi"/>
                <a:ea typeface="KaiT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减法之「声」与「味」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353800" y="5619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3F4A5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47700" y="1143000"/>
            <a:ext cx="3390900" cy="51435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09600" y="1143000"/>
            <a:ext cx="3429000" cy="5143500"/>
          </a:xfrm>
          <a:custGeom>
            <a:pathLst>
              <a:path w="360" h="540">
                <a:moveTo>
                  <a:pt x="0" y="0"/>
                </a:moveTo>
                <a:lnTo>
                  <a:pt x="4" y="0"/>
                </a:lnTo>
                <a:lnTo>
                  <a:pt x="4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90600" y="1600200"/>
            <a:ext cx="2705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他删掉了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90600" y="2428875"/>
            <a:ext cx="2705100" cy="10858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5700" b="1" strike="sngStrike">
                <a:solidFill>
                  <a:srgbClr val="1A1A1A"/>
                </a:solidFill>
                <a:latin typeface="KaiTi"/>
                <a:ea typeface="KaiTi"/>
              </a:rPr>
              <a:t>声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90600" y="4114800"/>
            <a:ext cx="2705100" cy="10858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5700" b="1" strike="sngStrike">
                <a:solidFill>
                  <a:srgbClr val="1A1A1A"/>
                </a:solidFill>
                <a:latin typeface="KaiTi"/>
                <a:ea typeface="KaiTi"/>
              </a:rPr>
              <a:t>味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990600" y="5800725"/>
            <a:ext cx="45720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4343400" y="1247775"/>
            <a:ext cx="24765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705350" y="1143000"/>
            <a:ext cx="41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原文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343400" y="2181225"/>
            <a:ext cx="72390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3F4A55"/>
                </a:solidFill>
                <a:latin typeface="KaiTi"/>
                <a:ea typeface="KaiTi"/>
              </a:rPr>
              <a:t>像花而又不是花的那一种落蕊，早晨起来，会铺得满地。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343400" y="2857500"/>
            <a:ext cx="7239000" cy="19050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343400" y="3124200"/>
            <a:ext cx="7239000" cy="13239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2550">
                <a:solidFill>
                  <a:srgbClr val="1A1A1A"/>
                </a:solidFill>
                <a:latin typeface="KaiTi"/>
                <a:ea typeface="KaiTi"/>
              </a:rPr>
              <a:t>脚踏上去，</a:t>
            </a:r>
            <a:r>
              <a:rPr lang="zh-CN" sz="2550" b="1">
                <a:solidFill>
                  <a:srgbClr val="A8351A"/>
                </a:solidFill>
                <a:latin typeface="KaiTi"/>
                <a:ea typeface="KaiTi"/>
              </a:rPr>
              <a:t>声音也没有</a:t>
            </a:r>
            <a:r>
              <a:rPr lang="zh-CN" sz="2550">
                <a:solidFill>
                  <a:srgbClr val="1A1A1A"/>
                </a:solidFill>
                <a:latin typeface="KaiTi"/>
                <a:ea typeface="KaiTi"/>
              </a:rPr>
              <a:t>，</a:t>
            </a:r>
            <a:r>
              <a:rPr lang="zh-CN" sz="2550" b="1">
                <a:solidFill>
                  <a:srgbClr val="A8351A"/>
                </a:solidFill>
                <a:latin typeface="KaiTi"/>
                <a:ea typeface="KaiTi"/>
              </a:rPr>
              <a:t>气味也没有</a:t>
            </a:r>
            <a:r>
              <a:rPr lang="zh-CN" sz="2550">
                <a:solidFill>
                  <a:srgbClr val="1A1A1A"/>
                </a:solidFill>
                <a:latin typeface="KaiTi"/>
                <a:ea typeface="KaiTi"/>
              </a:rPr>
              <a:t>，</a:t>
            </a:r>
            <a:endParaRPr/>
          </a:p>
          <a:p>
            <a:pPr>
              <a:lnSpc>
                <a:spcPct val="170000"/>
              </a:lnSpc>
            </a:pPr>
            <a:r>
              <a:rPr lang="zh-CN" sz="2550">
                <a:solidFill>
                  <a:srgbClr val="1A1A1A"/>
                </a:solidFill>
                <a:latin typeface="KaiTi"/>
                <a:ea typeface="KaiTi"/>
              </a:rPr>
              <a:t>只能感出</a:t>
            </a: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一点点极微细极柔软的触觉</a:t>
            </a:r>
            <a:r>
              <a:rPr lang="zh-CN" sz="2550">
                <a:solidFill>
                  <a:srgbClr val="1A1A1A"/>
                </a:solidFill>
                <a:latin typeface="KaiTi"/>
                <a:ea typeface="KaiTi"/>
              </a:rPr>
              <a:t>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4343400" y="5248275"/>
            <a:ext cx="7239000" cy="1038225"/>
          </a:xfrm>
          <a:prstGeom prst="rect">
            <a:avLst/>
          </a:prstGeom>
          <a:solidFill>
            <a:srgbClr val="A8351A">
              <a:alpha val="7000"/>
            </a:srgbClr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610100" y="5457825"/>
            <a:ext cx="6705600" cy="619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这两个「没有」，删掉了什么？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86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任务二 · 减法之「繁华」&lt;/Text&gt;&#10;    &lt;/Box&gt;&#10;    &lt;Text style={{ fontFamily: 'Microsoft YaHei', fontSize: 18, color: '#3F4A55', letterSpacing: 1 }}&gt;02&lt;/Text&gt;&#10;  &lt;/Box&gt;&#10;&#10;  &lt;Box style={{ height: 540, flexDirection: 'row', gap: 32 }}&gt;&#10;    &lt;Box style={{ width: 672, height: 540, flexDirection: 'column', justifyContent: 'space-between' }}&gt;&#10;      &lt;Box style={{ flexDirection: 'row', alignItems: 'center', gap: 12 }}&gt;&#10;        &lt;Box style={{ width: 26, height: 3, background: '#A8351A' }} /&gt;&#10;        &lt;Text style={{ fontFamily: 'Microsoft YaHei', fontSize: 20, color: '#3F4A55', letterSpacing: 2 }}&gt;原文 · 南国之秋「正像是」&lt;/Text&gt;&#10;      &lt;/Box&gt;&#10;&#10;      &lt;Box style={{ flexDirection: 'column', gap: 14 }}&gt;&#10;        &lt;Box style={{ flexDirection: 'row', alignItems: 'center', gap: 16 }}&gt;&#10;          &lt;Text style={{ fontFamily: 'KaiTi', fontSize: 28, color: '#3F4A55', width: 110 }}&gt;黄酒&lt;/Text&gt;&#10;          &lt;Text style={{ fontFamily: 'Microsoft YaHei', fontSize: 22, color: 'rgba(26,26,26,0.35)' }}&gt;之与&lt;/Text&gt;&#10;          &lt;Text style={{ fontFamily: 'KaiTi', fontSize: 34, fontWeight: 'bold', color: '#1A1A1A' }}&gt;白干&lt;/Text&gt;&#10;        &lt;/Box&gt;&#10;        &lt;Box style={{ flexDirection: 'row', alignItems: 'center', gap: 16 }}&gt;&#10;          &lt;Text style={{ fontFamily: 'KaiTi', fontSize: 28, color: '#3F4A55', width: 110 }}&gt;稀饭&lt;/Text&gt;&#10;          &lt;Text style={{ fontFamily: 'Microsoft YaHei', fontSize: 22, color: 'rgba(26,26,26,0.35)' }}&gt;之与&lt;/Text&gt;&#10;          &lt;Text style={{ fontFamily: 'KaiTi', fontSize: 34, fontWeight: 'bold', color: '#1A1A1A' }}&gt;馍馍&lt;/Text&gt;&#10;        &lt;/Box&gt;&#10;        &lt;Box style={{ flexDirection: 'row', alignItems: 'center', gap: 16 }}&gt;&#10;          &lt;Text style={{ fontFamily: 'KaiTi', fontSize: 28, color: '#3F4A55', width: 110 }}&gt;鲈鱼&lt;/Text&gt;&#10;          &lt;Text style={{ fontFamily: 'Microsoft YaHei', fontSize: 22, color: 'rgba(26,26,26,0.35)' }}&gt;之与&lt;/Text&gt;&#10;          &lt;Text style={{ fontFamily: 'KaiTi', fontSize: 34, fontWeight: 'bold', color: '#1A1A1A' }}&gt;大蟹&lt;/Text&gt;&#10;        &lt;/Box&gt;&#10;        &lt;Box style={{ flexDirection: 'row', alignItems: 'center', gap: 16 }}&gt;&#10;          &lt;Text style={{ fontFamily: 'KaiTi', fontSize: 28, color: '#3F4A55', width: 110 }}&gt;黄犬&lt;/Text&gt;&#10;          &lt;Text style={{ fontFamily: 'Microsoft YaHei', fontSize: 22, color: 'rgba(26,26,26,0.35)' }}&gt;之与&lt;/Text&gt;&#10;          &lt;Text style={{ fontFamily: 'KaiTi', fontSize: 34, fontWeight: 'bold', color: '#1A1A1A' }}&gt;骆驼&lt;/Text&gt;&#10;        &lt;/Box&gt;&#10;      &lt;/Box&gt;&#10;&#10;      &lt;Text style={{ fontFamily: 'KaiTi', fontSize: 30, color: '#1A1A1A', lineHeight: 1.6 }}&gt;&#10;        色彩不浓，回味不永。&#10;      &lt;/Text&gt;&#10;    &lt;/Box&gt;&#10;&#10;    &lt;Box style={{&#10;      width: 448, height: 540, background: 'rgba(63,74,85,0.06)',&#10;      padding: '48px 36px', flexDirection: 'column', justifyContent: 'space-between',&#10;    }}&gt;&#10;      &lt;Box style={{ flexDirection: 'row', alignItems: 'center', gap: 12 }}&gt;&#10;        &lt;Box style={{ width: 26, height: 3, background: '#A8351A' }} /&gt;&#10;        &lt;Text style={{ fontFamily: 'Microsoft YaHei', fontSize: 20, color: '#3F4A55', letterSpacing: 2 }}&gt;追问&lt;/Text&gt;&#10;      &lt;/Box&gt;&#10;&#10;      &lt;Text style={{ fontFamily: 'Microsoft YaHei', fontSize: 40, fontWeight: 'bold', color: '#1A1A1A', lineHeight: 1.55 }}&gt;&#10;        他嫌南国的秋&lt;br /&gt;&lt;span style={{ color: '#3F4A55' }}&gt;「不好」&lt;/span&gt;，&lt;br /&gt;还是&lt;span style={{ color: '#A8351A', fontSize: 48 }}&gt;「不够」&lt;/span&gt;？&#10;      &lt;/Text&gt;&#10;&#10;      &lt;Box style={{ width: 48, height: 3, background: 'rgba(26,26,26,0.18)' }} /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任务二</a:t>
            </a:r>
            <a:r>
              <a:rPr lang="en-US" sz="2550" b="1">
                <a:solidFill>
                  <a:srgbClr val="1A1A1A"/>
                </a:solidFill>
                <a:latin typeface="KaiTi"/>
                <a:ea typeface="KaiT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减法之「繁华」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353800" y="5619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3F4A5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09600" y="1247775"/>
            <a:ext cx="24765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971550" y="1143000"/>
            <a:ext cx="2524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原文</a:t>
            </a:r>
            <a:r>
              <a:rPr lang="en-US" sz="1500" spc="1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南国之秋「正像是」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1047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3F4A55"/>
                </a:solidFill>
                <a:latin typeface="KaiTi"/>
                <a:ea typeface="KaiTi"/>
              </a:rPr>
              <a:t>黄酒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809750" y="26384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1A1A">
                    <a:alpha val="35000"/>
                  </a:srgbClr>
                </a:solidFill>
                <a:latin typeface="Microsoft YaHei"/>
                <a:ea typeface="Microsoft YaHei"/>
              </a:rPr>
              <a:t>之与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2381250" y="2571750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白干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3133725"/>
            <a:ext cx="1047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3F4A55"/>
                </a:solidFill>
                <a:latin typeface="KaiTi"/>
                <a:ea typeface="KaiTi"/>
              </a:rPr>
              <a:t>稀饭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809750" y="31623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1A1A">
                    <a:alpha val="35000"/>
                  </a:srgbClr>
                </a:solidFill>
                <a:latin typeface="Microsoft YaHei"/>
                <a:ea typeface="Microsoft YaHei"/>
              </a:rPr>
              <a:t>之与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2381250" y="3095625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馍馍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9600" y="3657600"/>
            <a:ext cx="1047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3F4A55"/>
                </a:solidFill>
                <a:latin typeface="KaiTi"/>
                <a:ea typeface="KaiTi"/>
              </a:rPr>
              <a:t>鲈鱼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809750" y="36861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1A1A">
                    <a:alpha val="35000"/>
                  </a:srgbClr>
                </a:solidFill>
                <a:latin typeface="Microsoft YaHei"/>
                <a:ea typeface="Microsoft YaHei"/>
              </a:rPr>
              <a:t>之与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2381250" y="3619500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大蟹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4181475"/>
            <a:ext cx="1047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3F4A55"/>
                </a:solidFill>
                <a:latin typeface="KaiTi"/>
                <a:ea typeface="KaiTi"/>
              </a:rPr>
              <a:t>黄犬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809750" y="42100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1A1A">
                    <a:alpha val="35000"/>
                  </a:srgbClr>
                </a:solidFill>
                <a:latin typeface="Microsoft YaHei"/>
                <a:ea typeface="Microsoft YaHei"/>
              </a:rPr>
              <a:t>之与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2381250" y="4143375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骆驼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09600" y="5734050"/>
            <a:ext cx="64008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色彩不浓，回味不永。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7315200" y="1143000"/>
            <a:ext cx="4267200" cy="51435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7658100" y="1704975"/>
            <a:ext cx="24765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020050" y="1600200"/>
            <a:ext cx="41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追问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658100" y="2676525"/>
            <a:ext cx="3581400" cy="2276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他嫌南国的秋</a:t>
            </a:r>
            <a:endParaRPr/>
          </a:p>
          <a:p>
            <a:pPr>
              <a:lnSpc>
                <a:spcPct val="155000"/>
              </a:lnSpc>
            </a:pPr>
            <a:r>
              <a:rPr lang="zh-CN" sz="3000" b="1">
                <a:solidFill>
                  <a:srgbClr val="3F4A55"/>
                </a:solidFill>
                <a:latin typeface="Microsoft YaHei"/>
                <a:ea typeface="Microsoft YaHei"/>
              </a:rPr>
              <a:t>「不好」</a:t>
            </a: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55000"/>
              </a:lnSpc>
            </a:pP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还是</a:t>
            </a:r>
            <a:r>
              <a:rPr lang="zh-CN" sz="3600" b="1">
                <a:solidFill>
                  <a:srgbClr val="A8351A"/>
                </a:solidFill>
                <a:latin typeface="Microsoft YaHei"/>
                <a:ea typeface="Microsoft YaHei"/>
              </a:rPr>
              <a:t>「不够」</a:t>
            </a: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7658100" y="5800725"/>
            <a:ext cx="457200" cy="28575"/>
          </a:xfrm>
          <a:prstGeom prst="rect">
            <a:avLst/>
          </a:prstGeom>
          <a:solidFill>
            <a:srgbClr val="1A1A1A">
              <a:alpha val="18000"/>
            </a:srgbClr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5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任务二 · 归纳&lt;/Text&gt;&#10;    &lt;/Box&gt;&#10;    &lt;Text style={{ fontFamily: 'Microsoft YaHei', fontSize: 18, color: '#3F4A55', letterSpacing: 1 }}&gt;02&lt;/Text&gt;&#10;  &lt;/Box&gt;&#10;&#10;  &lt;Box style={{ height: 540, flexDirection: 'row', gap: 44 }}&gt;&#10;    &lt;Box style={{ width: 360, height: 540, flexDirection: 'column', justifyContent: 'center' }}&gt;&#10;      &lt;Text style={{ fontFamily: 'KaiTi', fontSize: 190, fontWeight: 'bold', color: '#A8351A', lineHeight: 1.0 }}&gt;四&lt;/Text&gt;&#10;      &lt;Text style={{ fontFamily: 'Microsoft YaHei', fontSize: 36, fontWeight: 'bold', color: '#1A1A1A', marginTop: 8 }}&gt;处减法&lt;/Text&gt;&#10;      &lt;Box style={{ width: 56, height: 3, background: '#1A1A1A', opacity: 0.8, marginTop: 24, marginBottom: 22 }} /&gt;&#10;      &lt;Text style={{ fontFamily: 'Microsoft YaHei', fontSize: 24, color: '#3F4A55', lineHeight: 1.6 }}&gt;他删掉的四样东西&lt;/Text&gt;&#10;    &lt;/Box&gt;&#10;&#10;    &lt;Box style={{ width: 748, height: 540, flexDirection: 'column', justifyContent: 'space-between' }}&gt;&#10;      &lt;Box style={{ flexDirection: 'column', gap: 16 }}&gt;&#10;        &lt;Box style={{ flexDirection: 'row', alignItems: 'center', gap: 20 }}&gt;&#10;          &lt;Text style={{ fontFamily: 'KaiTi', fontSize: 28, color: '#1A1A1A', width: 108 }}&gt;减色&lt;/Text&gt;&#10;          &lt;Box style={{ flex: 1, flexDirection: 'row' }}&gt;&#10;            &lt;Box style={{ width: '100%', height: 8, background: '#3F4A55' }} /&gt;&#10;          &lt;/Box&gt;&#10;          &lt;Text style={{ fontFamily: 'Microsoft YaHei', fontSize: 19, color: '#3F4A55', width: 120, textAlign: 'right' }}&gt;四色排序&lt;/Text&gt;&#10;        &lt;/Box&gt;&#10;&#10;        &lt;Box style={{ flexDirection: 'row', alignItems: 'center', gap: 20 }}&gt;&#10;          &lt;Text style={{ fontFamily: 'KaiTi', fontSize: 28, color: '#1A1A1A', width: 108 }}&gt;减声&lt;/Text&gt;&#10;          &lt;Box style={{ flex: 1, flexDirection: 'row' }}&gt;&#10;            &lt;Box style={{ width: '78%', height: 8, background: '#3F4A55' }} /&gt;&#10;          &lt;/Box&gt;&#10;          &lt;Text style={{ fontFamily: 'Microsoft YaHei', fontSize: 19, color: '#3F4A55', width: 120, textAlign: 'right' }}&gt;声音也没有&lt;/Text&gt;&#10;        &lt;/Box&gt;&#10;&#10;        &lt;Box style={{ flexDirection: 'row', alignItems: 'center', gap: 20 }}&gt;&#10;          &lt;Text style={{ fontFamily: 'KaiTi', fontSize: 28, color: '#1A1A1A', width: 108 }}&gt;减味&lt;/Text&gt;&#10;          &lt;Box style={{ flex: 1, flexDirection: 'row' }}&gt;&#10;            &lt;Box style={{ width: '56%', height: 8, background: '#3F4A55' }} /&gt;&#10;          &lt;/Box&gt;&#10;          &lt;Text style={{ fontFamily: 'Microsoft YaHei', fontSize: 19, color: '#3F4A55', width: 120, textAlign: 'right' }}&gt;气味也没有&lt;/Text&gt;&#10;        &lt;/Box&gt;&#10;&#10;        &lt;Box style={{ flexDirection: 'row', alignItems: 'center', gap: 20 }}&gt;&#10;          &lt;Text style={{ fontFamily: 'KaiTi', fontSize: 28, color: '#1A1A1A', width: 108 }}&gt;减繁华&lt;/Text&gt;&#10;          &lt;Box style={{ flex: 1, flexDirection: 'row' }}&gt;&#10;            &lt;Box style={{ width: '34%', height: 8, background: '#3F4A55' }} /&gt;&#10;          &lt;/Box&gt;&#10;          &lt;Text style={{ fontFamily: 'Microsoft YaHei', fontSize: 19, color: '#3F4A55', width: 120, textAlign: 'right' }}&gt;色彩不浓&lt;/Text&gt;&#10;        &lt;/Box&gt;&#10;      &lt;/Box&gt;&#10;&#10;      &lt;Box style={{ flexDirection: 'row', alignItems: 'center', background: 'rgba(168,53,26,0.07)', padding: '24px 28px' }}&gt;&#10;        &lt;Box style={{ width: 4, height: 62, background: '#A8351A', marginRight: 20 }} /&gt;&#10;        &lt;Text style={{ fontFamily: 'KaiTi', fontSize: 30, color: '#1A1A1A', lineHeight: 1.6 }}&gt;&#10;          减到只剩 —— &lt;span style={{ fontWeight: 'bold', color: '#A8351A' }}&gt;一点点极微细极柔软的触觉&lt;/span&gt;&#10;        &lt;/Text&gt;&#10;      &lt;/Box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任务二</a:t>
            </a:r>
            <a:r>
              <a:rPr lang="en-US" sz="2550" b="1">
                <a:solidFill>
                  <a:srgbClr val="1A1A1A"/>
                </a:solidFill>
                <a:latin typeface="KaiTi"/>
                <a:ea typeface="KaiT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归纳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353800" y="5619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3F4A5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342900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0" b="1">
                <a:solidFill>
                  <a:srgbClr val="A8351A"/>
                </a:solidFill>
                <a:latin typeface="KaiTi"/>
                <a:ea typeface="KaiTi"/>
              </a:rPr>
              <a:t>四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417195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处减法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5057775"/>
            <a:ext cx="34290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3F4A55"/>
                </a:solidFill>
                <a:latin typeface="Microsoft YaHei"/>
                <a:ea typeface="Microsoft YaHei"/>
              </a:rPr>
              <a:t>他删掉的四样东西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1028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A1A1A"/>
                </a:solidFill>
                <a:latin typeface="KaiTi"/>
                <a:ea typeface="KaiTi"/>
              </a:rPr>
              <a:t>减色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5676900" y="1266825"/>
            <a:ext cx="4572000" cy="7620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439400" y="1200150"/>
            <a:ext cx="114300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425">
                <a:solidFill>
                  <a:srgbClr val="3F4A55"/>
                </a:solidFill>
                <a:latin typeface="Microsoft YaHei"/>
                <a:ea typeface="Microsoft YaHei"/>
              </a:rPr>
              <a:t>四色排序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457700" y="1619250"/>
            <a:ext cx="1028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A1A1A"/>
                </a:solidFill>
                <a:latin typeface="KaiTi"/>
                <a:ea typeface="KaiTi"/>
              </a:rPr>
              <a:t>减声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676900" y="1743075"/>
            <a:ext cx="3562350" cy="7620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439400" y="1676400"/>
            <a:ext cx="114300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425">
                <a:solidFill>
                  <a:srgbClr val="3F4A55"/>
                </a:solidFill>
                <a:latin typeface="Microsoft YaHei"/>
                <a:ea typeface="Microsoft YaHei"/>
              </a:rPr>
              <a:t>声音也没有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457700" y="2095500"/>
            <a:ext cx="1028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A1A1A"/>
                </a:solidFill>
                <a:latin typeface="KaiTi"/>
                <a:ea typeface="KaiTi"/>
              </a:rPr>
              <a:t>减味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676900" y="2219325"/>
            <a:ext cx="2562225" cy="7620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439400" y="2152650"/>
            <a:ext cx="114300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425">
                <a:solidFill>
                  <a:srgbClr val="3F4A55"/>
                </a:solidFill>
                <a:latin typeface="Microsoft YaHei"/>
                <a:ea typeface="Microsoft YaHei"/>
              </a:rPr>
              <a:t>气味也没有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457700" y="2571750"/>
            <a:ext cx="1028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A1A1A"/>
                </a:solidFill>
                <a:latin typeface="KaiTi"/>
                <a:ea typeface="KaiTi"/>
              </a:rPr>
              <a:t>减繁华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676900" y="2695575"/>
            <a:ext cx="1552575" cy="7620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439400" y="2628900"/>
            <a:ext cx="114300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425">
                <a:solidFill>
                  <a:srgbClr val="3F4A55"/>
                </a:solidFill>
                <a:latin typeface="Microsoft YaHei"/>
                <a:ea typeface="Microsoft YaHei"/>
              </a:rPr>
              <a:t>色彩不浓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457700" y="5238750"/>
            <a:ext cx="7124700" cy="1047750"/>
          </a:xfrm>
          <a:prstGeom prst="rect">
            <a:avLst/>
          </a:prstGeom>
          <a:solidFill>
            <a:srgbClr val="A8351A">
              <a:alpha val="7000"/>
            </a:srgbClr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4724400" y="5467350"/>
            <a:ext cx="38100" cy="590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953000" y="5486400"/>
            <a:ext cx="542925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250">
                <a:solidFill>
                  <a:srgbClr val="1A1A1A"/>
                </a:solidFill>
                <a:latin typeface="KaiTi"/>
                <a:ea typeface="KaiTi"/>
              </a:rPr>
              <a:t>减到只剩</a:t>
            </a:r>
            <a:r>
              <a:rPr lang="en-US" sz="2250">
                <a:solidFill>
                  <a:srgbClr val="1A1A1A"/>
                </a:solidFill>
                <a:latin typeface="KaiTi"/>
                <a:ea typeface="KaiTi"/>
              </a:rPr>
              <a:t> —— </a:t>
            </a:r>
            <a:r>
              <a:rPr lang="zh-CN" sz="2250" b="1">
                <a:solidFill>
                  <a:srgbClr val="A8351A"/>
                </a:solidFill>
                <a:latin typeface="KaiTi"/>
                <a:ea typeface="KaiTi"/>
              </a:rPr>
              <a:t>一点点极微细极柔软的触觉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4819650"/>
            <a:ext cx="533400" cy="28575"/>
          </a:xfrm>
          <a:prstGeom prst="rect">
            <a:avLst/>
          </a:prstGeom>
          <a:solidFill>
            <a:srgbClr val="1A1A1A">
              <a:alpha val="80000"/>
            </a:srgbClr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3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任务三 · 「故都」与「秋」&lt;/Text&gt;&#10;    &lt;/Box&gt;&#10;    &lt;Text style={{ fontFamily: 'Microsoft YaHei', fontSize: 18, color: '#3F4A55', letterSpacing: 1 }}&gt;03&lt;/Text&gt;&#10;  &lt;/Box&gt;&#10;&#10;  &lt;Box style={{ height: 540, flexDirection: 'row', gap: 32 }}&gt;&#10;    &lt;Box style={{&#10;      width: 360, height: 540, background: 'rgba(63,74,85,0.06)', borderLeft: '4px solid #A8351A',&#10;      padding: '48px 36px', flexDirection: 'column', justifyContent: 'space-between',&#10;    }}&gt;&#10;      &lt;Box style={{ flexDirection: 'row', alignItems: 'center', gap: 12 }}&gt;&#10;        &lt;Box style={{ width: 26, height: 3, background: '#A8351A' }} /&gt;&#10;        &lt;Text style={{ fontFamily: 'Microsoft YaHei', fontSize: 20, color: '#3F4A55', letterSpacing: 2 }}&gt;任务三&lt;/Text&gt;&#10;      &lt;/Box&gt;&#10;&#10;      &lt;Text style={{ fontFamily: 'Microsoft YaHei', fontSize: 36, fontWeight: 'bold', color: '#1A1A1A', lineHeight: 1.55 }}&gt;&#10;        两个词，&lt;br /&gt;各指什么？&#10;      &lt;/Text&gt;&#10;&#10;      &lt;Box style={{ width: 48, height: 3, background: 'rgba(26,26,26,0.18)' }} /&gt;&#10;    &lt;/Box&gt;&#10;&#10;    &lt;Box style={{ width: 760, height: 540, flexDirection: 'column', justifyContent: 'space-between' }}&gt;&#10;      &lt;Box style={{ flexDirection: 'row', alignItems: 'center' }}&gt;&#10;        &lt;Text style={{ fontFamily: 'KaiTi', fontSize: 52, fontWeight: 'bold', color: '#1A1A1A', width: 160 }}&gt;故都&lt;/Text&gt;&#10;        &lt;Box style={{ width: 3, height: 72, background: '#A8351A', marginRight: 26 }} /&gt;&#10;        &lt;Text style={{ fontFamily: 'Microsoft YaHei', fontSize: 28, color: '#3F4A55', lineHeight: 1.6 }}&gt;&#10;          曾是都城，&lt;span style={{ color: '#1A1A1A', fontWeight: 'bold' }}&gt;今已不是&lt;/span&gt;&#10;        &lt;/Text&gt;&#10;      &lt;/Box&gt;&#10;&#10;      &lt;Box style={{ height: 2, background: 'rgba(26,26,26,0.12)', width: '100%' }} /&gt;&#10;&#10;      &lt;Box style={{ flexDirection: 'row', alignItems: 'center' }}&gt;&#10;        &lt;Text style={{ fontFamily: 'KaiTi', fontSize: 52, fontWeight: 'bold', color: '#1A1A1A', width: 160 }}&gt;秋&lt;/Text&gt;&#10;        &lt;Box style={{ width: 3, height: 72, background: '#A8351A', marginRight: 26 }} /&gt;&#10;        &lt;Text style={{ fontFamily: 'Microsoft YaHei', fontSize: 28, color: '#3F4A55', lineHeight: 1.6 }}&gt;&#10;          一年盛时，&lt;span style={{ color: '#1A1A1A', fontWeight: 'bold' }}&gt;行将结束&lt;/span&gt;&#10;        &lt;/Text&gt;&#10;      &lt;/Box&gt;&#10;&#10;      &lt;Box style={{ background: 'rgba(168,53,26,0.07)', padding: '24px 28px' }}&gt;&#10;        &lt;Text style={{ fontFamily: 'Microsoft YaHei', fontSize: 36, fontWeight: 'bold', color: '#1A1A1A' }}&gt;&#10;          这两处，像在哪一点上？&#10;        &lt;/Text&gt;&#10;      &lt;/Box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11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任务三</a:t>
            </a:r>
            <a:r>
              <a:rPr lang="en-US" sz="2550" b="1">
                <a:solidFill>
                  <a:srgbClr val="1A1A1A"/>
                </a:solidFill>
                <a:latin typeface="KaiTi"/>
                <a:ea typeface="KaiT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「故都」与「秋」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353800" y="5619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3F4A55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47700" y="1143000"/>
            <a:ext cx="3390900" cy="51435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609600" y="1143000"/>
            <a:ext cx="3429000" cy="5143500"/>
          </a:xfrm>
          <a:custGeom>
            <a:pathLst>
              <a:path w="360" h="540">
                <a:moveTo>
                  <a:pt x="0" y="0"/>
                </a:moveTo>
                <a:lnTo>
                  <a:pt x="4" y="0"/>
                </a:lnTo>
                <a:lnTo>
                  <a:pt x="4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990600" y="1704975"/>
            <a:ext cx="24765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352550" y="1600200"/>
            <a:ext cx="628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3F4A55"/>
                </a:solidFill>
                <a:latin typeface="Microsoft YaHei"/>
                <a:ea typeface="Microsoft YaHei"/>
              </a:rPr>
              <a:t>任务三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90600" y="3181350"/>
            <a:ext cx="2705100" cy="12763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两个词，</a:t>
            </a:r>
            <a:endParaRPr/>
          </a:p>
          <a:p>
            <a:pPr>
              <a:lnSpc>
                <a:spcPct val="155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各指什么？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990600" y="5800725"/>
            <a:ext cx="457200" cy="28575"/>
          </a:xfrm>
          <a:prstGeom prst="rect">
            <a:avLst/>
          </a:prstGeom>
          <a:solidFill>
            <a:srgbClr val="1A1A1A">
              <a:alpha val="18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343400" y="1190625"/>
            <a:ext cx="1524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A1A1A"/>
                </a:solidFill>
                <a:latin typeface="KaiTi"/>
                <a:ea typeface="KaiTi"/>
              </a:rPr>
              <a:t>故都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867400" y="1143000"/>
            <a:ext cx="28575" cy="6858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143625" y="1228725"/>
            <a:ext cx="2400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100">
                <a:solidFill>
                  <a:srgbClr val="3F4A55"/>
                </a:solidFill>
                <a:latin typeface="Microsoft YaHei"/>
                <a:ea typeface="Microsoft YaHei"/>
              </a:rPr>
              <a:t>曾是都城，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今已不是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343400" y="2790825"/>
            <a:ext cx="7239000" cy="19050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343400" y="3810000"/>
            <a:ext cx="1524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A1A1A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867400" y="3762375"/>
            <a:ext cx="28575" cy="6858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143625" y="3848100"/>
            <a:ext cx="2400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100">
                <a:solidFill>
                  <a:srgbClr val="3F4A55"/>
                </a:solidFill>
                <a:latin typeface="Microsoft YaHei"/>
                <a:ea typeface="Microsoft YaHei"/>
              </a:rPr>
              <a:t>一年盛时，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行将结束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343400" y="5410200"/>
            <a:ext cx="7239000" cy="876300"/>
          </a:xfrm>
          <a:prstGeom prst="rect">
            <a:avLst/>
          </a:prstGeom>
          <a:solidFill>
            <a:srgbClr val="A8351A">
              <a:alpha val="7000"/>
            </a:srgbClr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610100" y="5638800"/>
            <a:ext cx="6705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这两处，像在哪一点上？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width: 1280, height: 720, padding: '20px 64px', background: '#F7F4EC', flexDirection: 'column' }}&gt;&#10;  &lt;Box style={{ height: 100, flexDirection: 'row', alignItems: 'center' }}&gt;&#10;    &lt;Box style={{ flexDirection: 'row', alignItems: 'center', gap: 14 }}&gt;&#10;      &lt;Box style={{ width: 6, height: 34, background: '#A8351A' }} /&gt;&#10;      &lt;Text style={{ fontFamily: 'KaiTi', fontSize: 34, fontWeight: 'bold', color: '#1A1A1A' }}&gt;回到问题&lt;/Text&gt;&#10;    &lt;/Box&gt;&#10;  &lt;/Box&gt;&#10;&#10;  &lt;Box style={{ height: 540, flexDirection: 'column', alignItems: 'center', justifyContent: 'center' }}&gt;&#10;    &lt;Text style={{ fontFamily: 'KaiTi', fontSize: 68, fontWeight: 'bold', color: '#1A1A1A', lineHeight: 1.45, textAlign: 'center' }}&gt;&#10;      悲凉不是被承受的，&lt;br /&gt;是被&lt;span style={{ color: '#A8351A' }}&gt;「饱尝」&lt;/span&gt;的。&#10;    &lt;/Text&gt;&#10;&#10;    &lt;Box style={{ width: 96, height: 3, background: '#A8351A', marginTop: 36, marginBottom: 34 }} /&gt;&#10;&#10;    &lt;Text style={{ fontFamily: 'KaiTi', fontSize: 26, color: '#3F4A55', lineHeight: 1.7, textAlign: 'center' }}&gt;&#10;      这秋的深味，尤其是中国的秋的深味，&lt;br /&gt;非要在北方，才感受得到底。&#10;    &lt;/Text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回到问题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181350" y="1733550"/>
            <a:ext cx="5829300" cy="22574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5100" b="1">
                <a:solidFill>
                  <a:srgbClr val="1A1A1A"/>
                </a:solidFill>
                <a:latin typeface="KaiTi"/>
                <a:ea typeface="KaiTi"/>
              </a:rPr>
              <a:t>悲凉不是被承受的，</a:t>
            </a:r>
            <a:endParaRPr/>
          </a:p>
          <a:p>
            <a:pPr algn="ctr">
              <a:lnSpc>
                <a:spcPct val="145000"/>
              </a:lnSpc>
            </a:pPr>
            <a:r>
              <a:rPr lang="zh-CN" sz="5100" b="1">
                <a:solidFill>
                  <a:srgbClr val="1A1A1A"/>
                </a:solidFill>
                <a:latin typeface="KaiTi"/>
                <a:ea typeface="KaiTi"/>
              </a:rPr>
              <a:t>是被</a:t>
            </a:r>
            <a:r>
              <a:rPr lang="zh-CN" sz="5100" b="1">
                <a:solidFill>
                  <a:srgbClr val="A8351A"/>
                </a:solidFill>
                <a:latin typeface="KaiTi"/>
                <a:ea typeface="KaiTi"/>
              </a:rPr>
              <a:t>「饱尝」</a:t>
            </a:r>
            <a:r>
              <a:rPr lang="zh-CN" sz="5100" b="1">
                <a:solidFill>
                  <a:srgbClr val="1A1A1A"/>
                </a:solidFill>
                <a:latin typeface="KaiTi"/>
                <a:ea typeface="KaiTi"/>
              </a:rPr>
              <a:t>的。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5638800" y="4333875"/>
            <a:ext cx="91440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990975" y="4686300"/>
            <a:ext cx="4210050" cy="10191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950">
                <a:solidFill>
                  <a:srgbClr val="3F4A55"/>
                </a:solidFill>
                <a:latin typeface="KaiTi"/>
                <a:ea typeface="KaiTi"/>
              </a:rPr>
              <a:t>这秋的深味，尤其是中国的秋的深味，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950">
                <a:solidFill>
                  <a:srgbClr val="3F4A55"/>
                </a:solidFill>
                <a:latin typeface="KaiTi"/>
                <a:ea typeface="KaiTi"/>
              </a:rPr>
              <a:t>非要在北方，才感受得到底。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板书&lt;/Text&gt;&#10;    &lt;/Box&gt;&#10;    &lt;Text style={{ fontFamily: 'Microsoft YaHei', fontSize: 18, color: '#3F4A55', letterSpacing: 1 }}&gt;全篇结构&lt;/Text&gt;&#10;  &lt;/Box&gt;&#10;&#10;  &lt;Box style={{ height: 540, flexDirection: 'row', gap: 32 }}&gt;&#10;    &lt;Box style={{ width: 694, height: 540, position: 'relative', justifyContent: 'center' }}&gt;&#10;      &lt;Box style={{ width: 694, height: 480, position: 'relative' }}&gt;&#10;        &lt;Text style={{ position: 'absolute', left: 0, top: 4, width: 694, textAlign: 'center', fontFamily: 'KaiTi', fontSize: 46, fontWeight: 'bold', color: '#A8351A' }}&gt;赶&lt;/Text&gt;&#10;&#10;        &lt;Box style={{ position: 'absolute', left: 346, top: 62, width: 2, height: 40, background: 'rgba(26,26,26,0.35)' }} /&gt;&#10;        &lt;Box style={{ position: 'absolute', left: 97, top: 100, width: 500, height: 2, background: 'rgba(26,26,26,0.35)' }} /&gt;&#10;&#10;        &lt;Box style={{ position: 'absolute', left: 158, top: 102, width: 2, height: 40, background: 'rgba(26,26,26,0.35)' }} /&gt;&#10;        &lt;Box style={{ position: 'absolute', left: 283, top: 102, width: 2, height: 40, background: 'rgba(26,26,26,0.35)' }} /&gt;&#10;        &lt;Box style={{ position: 'absolute', left: 408, top: 102, width: 2, height: 40, background: 'rgba(26,26,26,0.35)' }} /&gt;&#10;        &lt;Box style={{ position: 'absolute', left: 533, top: 102, width: 2, height: 40, background: 'rgba(26,26,26,0.35)' }} /&gt;&#10;&#10;        &lt;Box style={{ position: 'absolute', left: 102, top: 142, width: 115, height: 56, background: 'rgba(63,74,85,0.10)', alignItems: 'center', justifyContent: 'center' }}&gt;&#10;          &lt;Text style={{ fontFamily: 'Microsoft YaHei', fontSize: 24, fontWeight: 'bold', color: '#1A1A1A' }}&gt;减色&lt;/Text&gt;&#10;        &lt;/Box&gt;&#10;        &lt;Box style={{ position: 'absolute', left: 227, top: 142, width: 115, height: 56, background: 'rgba(63,74,85,0.10)', alignItems: 'center', justifyContent: 'center' }}&gt;&#10;          &lt;Text style={{ fontFamily: 'Microsoft YaHei', fontSize: 24, fontWeight: 'bold', color: '#1A1A1A' }}&gt;减声&lt;/Text&gt;&#10;        &lt;/Box&gt;&#10;        &lt;Box style={{ position: 'absolute', left: 352, top: 142, width: 115, height: 56, background: 'rgba(63,74,85,0.10)', alignItems: 'center', justifyContent: 'center' }}&gt;&#10;          &lt;Text style={{ fontFamily: 'Microsoft YaHei', fontSize: 24, fontWeight: 'bold', color: '#1A1A1A' }}&gt;减味&lt;/Text&gt;&#10;        &lt;/Box&gt;&#10;        &lt;Box style={{ position: 'absolute', left: 477, top: 142, width: 115, height: 56, background: 'rgba(63,74,85,0.10)', alignItems: 'center', justifyContent: 'center' }}&gt;&#10;          &lt;Text style={{ fontFamily: 'Microsoft YaHei', fontSize: 22, fontWeight: 'bold', color: '#1A1A1A' }}&gt;减繁华&lt;/Text&gt;&#10;        &lt;/Box&gt;&#10;&#10;        &lt;Box style={{ position: 'absolute', left: 158, top: 198, width: 2, height: 27, background: 'rgba(26,26,26,0.35)' }} /&gt;&#10;        &lt;Box style={{ position: 'absolute', left: 283, top: 198, width: 2, height: 27, background: 'rgba(26,26,26,0.35)' }} /&gt;&#10;        &lt;Box style={{ position: 'absolute', left: 408, top: 198, width: 2, height: 27, background: 'rgba(26,26,26,0.35)' }} /&gt;&#10;        &lt;Box style={{ position: 'absolute', left: 533, top: 198, width: 2, height: 27, background: 'rgba(26,26,26,0.35)' }} /&gt;&#10;        &lt;Box style={{ position: 'absolute', left: 97, top: 225, width: 500, height: 2, background: 'rgba(26,26,26,0.35)' }} /&gt;&#10;&#10;        &lt;Box style={{ position: 'absolute', left: 346, top: 227, width: 2, height: 38, background: 'rgba(26,26,26,0.35)' }} /&gt;&#10;&#10;        &lt;Box style={{ position: 'absolute', left: 197, top: 267, width: 300, height: 58, background: 'rgba(168,53,26,0.10)', borderLeft: '4px solid #A8351A', alignItems: 'center', justifyContent: 'center' }}&gt;&#10;          &lt;Text style={{ fontFamily: 'KaiTi', fontSize: 28, fontWeight: 'bold', color: '#A8351A' }}&gt;一点点极微细&lt;/Text&gt;&#10;        &lt;/Box&gt;&#10;&#10;        &lt;Box style={{ position: 'absolute', left: 346, top: 325, width: 2, height: 34, background: 'rgba(26,26,26,0.35)' }} /&gt;&#10;&#10;        &lt;Box style={{ position: 'absolute', left: 272, top: 359, width: 150, height: 62, background: '#1A1A1A', alignItems: 'center', justifyContent: 'center' }}&gt;&#10;          &lt;Text style={{ fontFamily: 'KaiTi', fontSize: 34, fontWeight: 'bold', color: '#F7F4EC', letterSpacing: 4 }}&gt;深味&lt;/Text&gt;&#10;        &lt;/Box&gt;&#10;      &lt;/Box&gt;&#10;    &lt;/Box&gt;&#10;&#10;    &lt;Box style={{ width: 426, height: 540, flexDirection: 'column', justifyContent: 'center', gap: 26 }}&gt;&#10;      &lt;Text style={{ fontFamily: 'Microsoft YaHei', fontSize: 36, fontWeight: 'bold', color: '#1A1A1A', lineHeight: 1.55 }}&gt;&#10;        从一处反常，&lt;br /&gt;走到一个词。&#10;      &lt;/Text&gt;&#10;      &lt;Box style={{ width: 56, height: 3, background: '#A8351A' }} /&gt;&#10;      &lt;Text style={{ fontFamily: 'Microsoft YaHei', fontSize: 24, color: '#3F4A55', lineHeight: 1.7 }}&gt;&#10;        他减掉的是多余，&lt;br /&gt;留下的是滋味。&#10;      &lt;/Text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板书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858500" y="561975"/>
            <a:ext cx="72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3F4A55"/>
                </a:solidFill>
                <a:latin typeface="Microsoft YaHei"/>
                <a:ea typeface="Microsoft YaHei"/>
              </a:rPr>
              <a:t>全篇结构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524750" y="2352675"/>
            <a:ext cx="4057650" cy="12763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从一处反常，</a:t>
            </a:r>
            <a:endParaRPr/>
          </a:p>
          <a:p>
            <a:pPr>
              <a:lnSpc>
                <a:spcPct val="155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走到一个词。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524750" y="3876675"/>
            <a:ext cx="533400" cy="2857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524750" y="4152900"/>
            <a:ext cx="4057650" cy="933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3F4A55"/>
                </a:solidFill>
                <a:latin typeface="Microsoft YaHei"/>
                <a:ea typeface="Microsoft YaHei"/>
              </a:rPr>
              <a:t>他减掉的是多余，</a:t>
            </a:r>
            <a:endParaRPr/>
          </a:p>
          <a:p>
            <a:pPr>
              <a:lnSpc>
                <a:spcPct val="170000"/>
              </a:lnSpc>
            </a:pPr>
            <a:r>
              <a:rPr lang="zh-CN" sz="1800">
                <a:solidFill>
                  <a:srgbClr val="3F4A55"/>
                </a:solidFill>
                <a:latin typeface="Microsoft YaHei"/>
                <a:ea typeface="Microsoft YaHei"/>
              </a:rPr>
              <a:t>留下的是滋味。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6610350" cy="533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450" b="1">
                <a:solidFill>
                  <a:srgbClr val="A8351A"/>
                </a:solidFill>
                <a:latin typeface="KaiTi"/>
                <a:ea typeface="KaiTi"/>
              </a:rPr>
              <a:t>赶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905250" y="2019300"/>
            <a:ext cx="19050" cy="38100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1533525" y="2381250"/>
            <a:ext cx="4762500" cy="1905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2114550" y="2400300"/>
            <a:ext cx="19050" cy="38100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3305175" y="2400300"/>
            <a:ext cx="19050" cy="38100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4495800" y="2400300"/>
            <a:ext cx="19050" cy="38100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5686425" y="2400300"/>
            <a:ext cx="19050" cy="38100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1581150" y="2781300"/>
            <a:ext cx="1095375" cy="533400"/>
          </a:xfrm>
          <a:prstGeom prst="rect">
            <a:avLst/>
          </a:prstGeom>
          <a:solidFill>
            <a:srgbClr val="3F4A55">
              <a:alpha val="10000"/>
            </a:srgbClr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905000" y="29146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减色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2771775" y="2781300"/>
            <a:ext cx="1095375" cy="533400"/>
          </a:xfrm>
          <a:prstGeom prst="rect">
            <a:avLst/>
          </a:prstGeom>
          <a:solidFill>
            <a:srgbClr val="3F4A55">
              <a:alpha val="10000"/>
            </a:srgbClr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095625" y="29146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减声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3962400" y="2781300"/>
            <a:ext cx="1095375" cy="533400"/>
          </a:xfrm>
          <a:prstGeom prst="rect">
            <a:avLst/>
          </a:prstGeom>
          <a:solidFill>
            <a:srgbClr val="3F4A55">
              <a:alpha val="10000"/>
            </a:srgbClr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286250" y="29146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减味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153025" y="2781300"/>
            <a:ext cx="1095375" cy="533400"/>
          </a:xfrm>
          <a:prstGeom prst="rect">
            <a:avLst/>
          </a:prstGeom>
          <a:solidFill>
            <a:srgbClr val="3F4A55">
              <a:alpha val="10000"/>
            </a:srgbClr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391150" y="2924175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减繁华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2114550" y="3314700"/>
            <a:ext cx="19050" cy="257175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3305175" y="3314700"/>
            <a:ext cx="19050" cy="257175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4495800" y="3314700"/>
            <a:ext cx="19050" cy="257175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5686425" y="3314700"/>
            <a:ext cx="19050" cy="257175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1533525" y="3571875"/>
            <a:ext cx="4762500" cy="1905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3905250" y="3590925"/>
            <a:ext cx="19050" cy="36195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2524125" y="3971925"/>
            <a:ext cx="2819400" cy="552450"/>
          </a:xfrm>
          <a:prstGeom prst="rect">
            <a:avLst/>
          </a:prstGeom>
          <a:solidFill>
            <a:srgbClr val="A8351A">
              <a:alpha val="10000"/>
            </a:srgbClr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2486025" y="3971925"/>
            <a:ext cx="2857500" cy="552450"/>
          </a:xfrm>
          <a:custGeom>
            <a:pathLst>
              <a:path w="300" h="58">
                <a:moveTo>
                  <a:pt x="0" y="0"/>
                </a:moveTo>
                <a:lnTo>
                  <a:pt x="4" y="0"/>
                </a:lnTo>
                <a:lnTo>
                  <a:pt x="4" y="58"/>
                </a:lnTo>
                <a:lnTo>
                  <a:pt x="0" y="58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133725" y="408622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A8351A"/>
                </a:solidFill>
                <a:latin typeface="KaiTi"/>
                <a:ea typeface="KaiTi"/>
              </a:rPr>
              <a:t>一点点极微细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905250" y="4524375"/>
            <a:ext cx="19050" cy="323850"/>
          </a:xfrm>
          <a:prstGeom prst="rect">
            <a:avLst/>
          </a:prstGeom>
          <a:solidFill>
            <a:srgbClr val="1A1A1A">
              <a:alpha val="35000"/>
            </a:srgbClr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3200400" y="4848225"/>
            <a:ext cx="1428750" cy="5905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552825" y="4953000"/>
            <a:ext cx="72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00">
                <a:solidFill>
                  <a:srgbClr val="F7F4EC"/>
                </a:solidFill>
                <a:latin typeface="KaiTi"/>
                <a:ea typeface="KaiTi"/>
              </a:rPr>
              <a:t>深味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7" name="" descr="&lt;Slide style={{ width: 1280, height: 720, padding: '20px 64px', background: '#F7F4EC', flexDirection: 'column' }}&gt;&#10;  &lt;Box style={{ height: 100, flexDirection: 'row', alignItems: 'center' }}&gt;&#10;    &lt;Box style={{ flexDirection: 'row', alignItems: 'center', gap: 14 }}&gt;&#10;      &lt;Box style={{ width: 6, height: 34, background: '#A8351A' }} /&gt;&#10;      &lt;Text style={{ fontFamily: 'KaiTi', fontSize: 34, fontWeight: 'bold', color: '#1A1A1A' }}&gt;小结&lt;/Text&gt;&#10;    &lt;/Box&gt;&#10;  &lt;/Box&gt;&#10;&#10;  &lt;Box style={{ height: 540, flexDirection: 'column', alignItems: 'center', justifyContent: 'center' }}&gt;&#10;    &lt;Text style={{ fontFamily: 'KaiTi', fontSize: 60, color: '#1A1A1A', lineHeight: 1.55, textAlign: 'center' }}&gt;&#10;      他写的不是秋景，是&lt;span style={{ fontWeight: 'bold', color: '#A8351A' }}&gt;秋味&lt;/span&gt;。&lt;br /&gt;&#10;      味不在多，在&lt;span style={{ fontWeight: 'bold' }}&gt;足&lt;/span&gt;。&lt;br /&gt;&#10;      够味，才值得拿寿命去换。&#10;    &lt;/Text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小结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667000" y="2124075"/>
            <a:ext cx="6858000" cy="31908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4500">
                <a:solidFill>
                  <a:srgbClr val="1A1A1A"/>
                </a:solidFill>
                <a:latin typeface="KaiTi"/>
                <a:ea typeface="KaiTi"/>
              </a:rPr>
              <a:t>他写的不是秋景，是</a:t>
            </a:r>
            <a:r>
              <a:rPr lang="zh-CN" sz="4500" b="1">
                <a:solidFill>
                  <a:srgbClr val="A8351A"/>
                </a:solidFill>
                <a:latin typeface="KaiTi"/>
                <a:ea typeface="KaiTi"/>
              </a:rPr>
              <a:t>秋味</a:t>
            </a:r>
            <a:r>
              <a:rPr lang="zh-CN" sz="4500">
                <a:solidFill>
                  <a:srgbClr val="1A1A1A"/>
                </a:solidFill>
                <a:latin typeface="KaiTi"/>
                <a:ea typeface="KaiTi"/>
              </a:rPr>
              <a:t>。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4500">
                <a:solidFill>
                  <a:srgbClr val="1A1A1A"/>
                </a:solidFill>
                <a:latin typeface="KaiTi"/>
                <a:ea typeface="KaiTi"/>
              </a:rPr>
              <a:t>味不在多，在</a:t>
            </a:r>
            <a:r>
              <a:rPr lang="zh-CN" sz="4500" b="1">
                <a:solidFill>
                  <a:srgbClr val="1A1A1A"/>
                </a:solidFill>
                <a:latin typeface="KaiTi"/>
                <a:ea typeface="KaiTi"/>
              </a:rPr>
              <a:t>足</a:t>
            </a:r>
            <a:r>
              <a:rPr lang="zh-CN" sz="4500">
                <a:solidFill>
                  <a:srgbClr val="1A1A1A"/>
                </a:solidFill>
                <a:latin typeface="KaiTi"/>
                <a:ea typeface="KaiTi"/>
              </a:rPr>
              <a:t>。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4500">
                <a:solidFill>
                  <a:srgbClr val="1A1A1A"/>
                </a:solidFill>
                <a:latin typeface="KaiTi"/>
                <a:ea typeface="KaiTi"/>
              </a:rPr>
              <a:t>够味，才值得拿寿命去换。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26" name="" descr="&lt;Slide style={{ width: 1280, height: 720, padding: '20px 64px', background: '#F7F4EC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34, background: '#A8351A' }} /&gt;&#10;      &lt;Text style={{ fontFamily: 'KaiTi', fontSize: 34, fontWeight: 'bold', color: '#1A1A1A' }}&gt;作业&lt;/Text&gt;&#10;    &lt;/Box&gt;&#10;    &lt;Text style={{ fontFamily: 'Microsoft YaHei', fontSize: 18, color: '#3F4A55', letterSpacing: 1 }}&gt;任选其一，或多做&lt;/Text&gt;&#10;  &lt;/Box&gt;&#10;&#10;  &lt;Box style={{ height: 540, flexDirection: 'row', gap: 24, alignItems: 'center' }}&gt;&#10;    &lt;Box style={{ width: 368, height: 340, background: 'rgba(63,74,85,0.06)', padding: '34px 30px', flexDirection: 'column', justifyContent: 'space-between' }}&gt;&#10;      &lt;Box style={{ flexDirection: 'row', alignItems: 'baseline', gap: 14 }}&gt;&#10;        &lt;Text style={{ fontFamily: 'KaiTi', fontSize: 56, fontWeight: 'bold', color: '#A8351A', lineHeight: 1.0 }}&gt;A&lt;/Text&gt;&#10;        &lt;Text style={{ fontFamily: 'Microsoft YaHei', fontSize: 26, fontWeight: 'bold', color: '#1A1A1A' }}&gt;巩固&lt;/Text&gt;&#10;      &lt;/Box&gt;&#10;&#10;      &lt;Box style={{ width: '100%', height: 2, background: 'rgba(26,26,26,0.14)' }} /&gt;&#10;&#10;      &lt;Text style={{ fontFamily: 'Microsoft YaHei', fontSize: 26, color: '#1A1A1A', lineHeight: 1.75, minHeight: 100 }}&gt;&#10;        摘一处减法，&lt;br /&gt;说清删掉了什么。&#10;      &lt;/Text&gt;&#10;&#10;      &lt;Box style={{ flexDirection: 'row' }}&gt;&#10;        &lt;Box style={{ border: '1px solid rgba(168,53,26,0.45)', padding: '6px 16px' }}&gt;&#10;          &lt;Text style={{ fontFamily: 'Microsoft YaHei', fontSize: 18, color: '#A8351A' }}&gt;必做&lt;/Text&gt;&#10;        &lt;/Box&gt;&#10;      &lt;/Box&gt;&#10;    &lt;/Box&gt;&#10;&#10;    &lt;Box style={{ width: 368, height: 340, background: 'rgba(63,74,85,0.06)', padding: '34px 30px', flexDirection: 'column', justifyContent: 'space-between' }}&gt;&#10;      &lt;Box style={{ flexDirection: 'row', alignItems: 'baseline', gap: 14 }}&gt;&#10;        &lt;Text style={{ fontFamily: 'KaiTi', fontSize: 56, fontWeight: 'bold', color: '#A8351A', lineHeight: 1.0 }}&gt;B&lt;/Text&gt;&#10;        &lt;Text style={{ fontFamily: 'Microsoft YaHei', fontSize: 26, fontWeight: 'bold', color: '#1A1A1A' }}&gt;进阶&lt;/Text&gt;&#10;      &lt;/Box&gt;&#10;&#10;      &lt;Box style={{ width: '100%', height: 2, background: 'rgba(26,26,26,0.14)' }} /&gt;&#10;&#10;      &lt;Text style={{ fontFamily: 'Microsoft YaHei', fontSize: 26, color: '#1A1A1A', lineHeight: 1.75, minHeight: 100 }}&gt;&#10;        改写首段，删去一处，&lt;br /&gt;说读感变化。&#10;      &lt;/Text&gt;&#10;&#10;      &lt;Box style={{ flexDirection: 'row' }}&gt;&#10;        &lt;Box style={{ border: '1px solid rgba(168,53,26,0.45)', padding: '6px 16px' }}&gt;&#10;          &lt;Text style={{ fontFamily: 'Microsoft YaHei', fontSize: 18, color: '#A8351A' }}&gt;选做&lt;/Text&gt;&#10;        &lt;/Box&gt;&#10;      &lt;/Box&gt;&#10;    &lt;/Box&gt;&#10;&#10;    &lt;Box style={{ width: 368, height: 340, background: 'rgba(63,74,85,0.06)', padding: '34px 30px', flexDirection: 'column', justifyContent: 'space-between' }}&gt;&#10;      &lt;Box style={{ flexDirection: 'row', alignItems: 'baseline', gap: 14 }}&gt;&#10;        &lt;Text style={{ fontFamily: 'KaiTi', fontSize: 56, fontWeight: 'bold', color: '#A8351A', lineHeight: 1.0 }}&gt;C&lt;/Text&gt;&#10;        &lt;Text style={{ fontFamily: 'Microsoft YaHei', fontSize: 26, fontWeight: 'bold', color: '#1A1A1A' }}&gt;拓展&lt;/Text&gt;&#10;      &lt;/Box&gt;&#10;&#10;      &lt;Box style={{ width: '100%', height: 2, background: 'rgba(26,26,26,0.14)' }} /&gt;&#10;&#10;      &lt;Text style={{ fontFamily: 'Microsoft YaHei', fontSize: 26, color: '#1A1A1A', lineHeight: 1.75, minHeight: 100 }}&gt;&#10;        与《荷塘月色》比&lt;br /&gt;「逃」与「赶」。&#10;      &lt;/Text&gt;&#10;&#10;      &lt;Box style={{ flexDirection: 'row' }}&gt;&#10;        &lt;Box style={{ border: '1px solid rgba(168,53,26,0.45)', padding: '6px 16px' }}&gt;&#10;          &lt;Text style={{ fontFamily: 'Microsoft YaHei', fontSize: 18, color: '#A8351A' }}&gt;挑战&lt;/Text&gt;&#10;        &lt;/Box&gt;&#10;      &lt;/Box&gt;&#10;    &lt;/Box&gt;&#10;  &lt;/Box&gt;&#10;&#10;  &lt;Box style={{ height: 40, flexDirection: 'row', alignItems: 'center', justifyContent: 'space-between' }}&gt;&#10;    &lt;Box style={{ flexDirection: 'row', alignItems: 'center', gap: 10 }}&gt;&#10;      &lt;Box style={{ width: 22, height: 22, background: '#A8351A', alignItems: 'center', justifyContent: 'center' }}&gt;&#10;        &lt;Text style={{ fontFamily: 'KaiTi', fontSize: 13, fontWeight: 'bold', color: '#F7F4EC' }}&gt;秋&lt;/Text&gt;&#10;      &lt;/Box&gt;&#10;      &lt;Text style={{ fontFamily: 'Microsoft YaHei', fontSize: 14, color: '#3F4A55' }}&gt;故都的秋 · 郁达夫&lt;/Text&gt;&#10;    &lt;/Box&gt;&#10;    &lt;Text style={{ fontFamily: 'Microsoft YaHei', fontSize: 14, color: '#3F4A55' }}&gt;1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09600" y="514350"/>
            <a:ext cx="5715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KaiTi"/>
                <a:ea typeface="KaiTi"/>
              </a:rPr>
              <a:t>作业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134600" y="561975"/>
            <a:ext cx="1447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3F4A55"/>
                </a:solidFill>
                <a:latin typeface="Microsoft YaHei"/>
                <a:ea typeface="Microsoft YaHei"/>
              </a:rPr>
              <a:t>任选其一，或多做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2095500"/>
            <a:ext cx="3505200" cy="32385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95350" y="2419350"/>
            <a:ext cx="266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351A"/>
                </a:solidFill>
                <a:latin typeface="KaiTi"/>
                <a:ea typeface="KaiTi"/>
              </a:rPr>
              <a:t>A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295400" y="2419350"/>
            <a:ext cx="4953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巩固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895350" y="3248025"/>
            <a:ext cx="2933700" cy="19050"/>
          </a:xfrm>
          <a:prstGeom prst="rect">
            <a:avLst/>
          </a:prstGeom>
          <a:solidFill>
            <a:srgbClr val="1A1A1A">
              <a:alpha val="14000"/>
            </a:srgbClr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95350" y="3457575"/>
            <a:ext cx="2933700" cy="10477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950">
                <a:solidFill>
                  <a:srgbClr val="1A1A1A"/>
                </a:solidFill>
                <a:latin typeface="Microsoft YaHei"/>
                <a:ea typeface="Microsoft YaHei"/>
              </a:rPr>
              <a:t>摘一处减法，</a:t>
            </a:r>
            <a:endParaRPr/>
          </a:p>
          <a:p>
            <a:pPr>
              <a:lnSpc>
                <a:spcPct val="175000"/>
              </a:lnSpc>
            </a:pPr>
            <a:r>
              <a:rPr lang="zh-CN" sz="1950">
                <a:solidFill>
                  <a:srgbClr val="1A1A1A"/>
                </a:solidFill>
                <a:latin typeface="Microsoft YaHei"/>
                <a:ea typeface="Microsoft YaHei"/>
              </a:rPr>
              <a:t>说清删掉了什么。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895350" y="4686300"/>
            <a:ext cx="647700" cy="323850"/>
          </a:xfrm>
          <a:prstGeom prst="rect">
            <a:avLst/>
          </a:prstGeom>
          <a:ln w="12700">
            <a:solidFill>
              <a:srgbClr val="A8351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47750" y="47434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8351A"/>
                </a:solidFill>
                <a:latin typeface="Microsoft YaHei"/>
                <a:ea typeface="Microsoft YaHei"/>
              </a:rPr>
              <a:t>必做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343400" y="2095500"/>
            <a:ext cx="3505200" cy="32385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629150" y="2419350"/>
            <a:ext cx="266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351A"/>
                </a:solidFill>
                <a:latin typeface="KaiTi"/>
                <a:ea typeface="KaiTi"/>
              </a:rPr>
              <a:t>B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029200" y="2419350"/>
            <a:ext cx="4953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629150" y="3248025"/>
            <a:ext cx="2933700" cy="19050"/>
          </a:xfrm>
          <a:prstGeom prst="rect">
            <a:avLst/>
          </a:prstGeom>
          <a:solidFill>
            <a:srgbClr val="1A1A1A">
              <a:alpha val="14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629150" y="3457575"/>
            <a:ext cx="2933700" cy="10477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950">
                <a:solidFill>
                  <a:srgbClr val="1A1A1A"/>
                </a:solidFill>
                <a:latin typeface="Microsoft YaHei"/>
                <a:ea typeface="Microsoft YaHei"/>
              </a:rPr>
              <a:t>改写首段，删去一处，</a:t>
            </a:r>
            <a:endParaRPr/>
          </a:p>
          <a:p>
            <a:pPr>
              <a:lnSpc>
                <a:spcPct val="175000"/>
              </a:lnSpc>
            </a:pPr>
            <a:r>
              <a:rPr lang="zh-CN" sz="1950">
                <a:solidFill>
                  <a:srgbClr val="1A1A1A"/>
                </a:solidFill>
                <a:latin typeface="Microsoft YaHei"/>
                <a:ea typeface="Microsoft YaHei"/>
              </a:rPr>
              <a:t>说读感变化。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629150" y="4686300"/>
            <a:ext cx="647700" cy="323850"/>
          </a:xfrm>
          <a:prstGeom prst="rect">
            <a:avLst/>
          </a:prstGeom>
          <a:ln w="12700">
            <a:solidFill>
              <a:srgbClr val="A8351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781550" y="47434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8351A"/>
                </a:solidFill>
                <a:latin typeface="Microsoft YaHei"/>
                <a:ea typeface="Microsoft YaHei"/>
              </a:rPr>
              <a:t>选做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8077200" y="2095500"/>
            <a:ext cx="3505200" cy="3238500"/>
          </a:xfrm>
          <a:prstGeom prst="rect">
            <a:avLst/>
          </a:prstGeom>
          <a:solidFill>
            <a:srgbClr val="3F4A55">
              <a:alpha val="6000"/>
            </a:srgbClr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62950" y="2419350"/>
            <a:ext cx="266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351A"/>
                </a:solidFill>
                <a:latin typeface="KaiTi"/>
                <a:ea typeface="KaiTi"/>
              </a:rPr>
              <a:t>C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763000" y="2419350"/>
            <a:ext cx="4953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拓展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362950" y="3248025"/>
            <a:ext cx="2933700" cy="19050"/>
          </a:xfrm>
          <a:prstGeom prst="rect">
            <a:avLst/>
          </a:prstGeom>
          <a:solidFill>
            <a:srgbClr val="1A1A1A">
              <a:alpha val="14000"/>
            </a:srgbClr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362950" y="3457575"/>
            <a:ext cx="2933700" cy="10477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950">
                <a:solidFill>
                  <a:srgbClr val="1A1A1A"/>
                </a:solidFill>
                <a:latin typeface="Microsoft YaHei"/>
                <a:ea typeface="Microsoft YaHei"/>
              </a:rPr>
              <a:t>与《荷塘月色》比</a:t>
            </a:r>
            <a:endParaRPr/>
          </a:p>
          <a:p>
            <a:pPr>
              <a:lnSpc>
                <a:spcPct val="175000"/>
              </a:lnSpc>
            </a:pPr>
            <a:r>
              <a:rPr lang="zh-CN" sz="1950">
                <a:solidFill>
                  <a:srgbClr val="1A1A1A"/>
                </a:solidFill>
                <a:latin typeface="Microsoft YaHei"/>
                <a:ea typeface="Microsoft YaHei"/>
              </a:rPr>
              <a:t>「逃」与「赶」。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8362950" y="4686300"/>
            <a:ext cx="647700" cy="323850"/>
          </a:xfrm>
          <a:prstGeom prst="rect">
            <a:avLst/>
          </a:prstGeom>
          <a:ln w="12700">
            <a:solidFill>
              <a:srgbClr val="A8351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515350" y="47434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8351A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6372225"/>
            <a:ext cx="209550" cy="2095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57225" y="6400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KaiTi"/>
                <a:ea typeface="KaiTi"/>
              </a:rPr>
              <a:t>秋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14400" y="64008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故都的秋</a:t>
            </a: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4A55"/>
                </a:solidFill>
                <a:latin typeface="Microsoft YaHei"/>
                <a:ea typeface="Microsoft YaHei"/>
              </a:rPr>
              <a:t>郁达夫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F4A55"/>
                </a:solidFill>
                <a:latin typeface="Microsoft YaHei"/>
                <a:ea typeface="Microsoft YaHei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2026-09-13T22:22:44Z</dcterms:created>
  <dcterms:modified xsi:type="dcterms:W3CDTF">2026-09-13T22:22:44Z</dcterms:modified>
</cp:coreProperties>
</file>